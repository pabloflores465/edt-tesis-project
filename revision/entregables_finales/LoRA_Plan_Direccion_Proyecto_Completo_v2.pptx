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5"/>
    <p:sldId id="275" r:id="rId4"/>
    <p:sldId id="276" r:id="rId3"/>
    <p:sldId id="277" r:id="rId2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2.xml"/><Relationship Id="rId3" Type="http://schemas.openxmlformats.org/officeDocument/2006/relationships/slide" Target="slides/slide21.xml"/><Relationship Id="rId4" Type="http://schemas.openxmlformats.org/officeDocument/2006/relationships/slide" Target="slides/slide20.xml"/><Relationship Id="rId5" Type="http://schemas.openxmlformats.org/officeDocument/2006/relationships/slide" Target="slides/slide19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85F4"/>
                </a:solidFill>
                <a:latin typeface="Calibri"/>
              </a:defRPr>
            </a:pPr>
            <a:r>
              <a:t>UNIVERSIDAD DEL ISTMO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CF0"/>
                </a:solidFill>
                <a:latin typeface="Calibri"/>
              </a:defRPr>
            </a:pPr>
            <a:r>
              <a:t>Facultad de Ingeniería (FING)  |  Ingeniería en Sistemas y 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PLAN DE DIRECCIÓN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0"/>
                </a:solidFill>
                <a:latin typeface="Calibri"/>
              </a:defRPr>
            </a:pPr>
            <a:r>
              <a:t>PMBOK 8va Edición — todos los documentos de iniciación y planificación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Proyecto: LoRA-HDL-QA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0"/>
                </a:solidFill>
                <a:latin typeface="Calibri"/>
              </a:defRPr>
            </a:pPr>
            <a:r>
              <a:t>PM: Pablo Rodolfo Alexander Flores Mollinedo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CF0"/>
                </a:solidFill>
                <a:latin typeface="Calibri"/>
              </a:defRPr>
            </a:pPr>
            <a:r>
              <a:t>Febrero —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GOBERNANZA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  <a:latin typeface="Calibri"/>
              </a:defRPr>
            </a:pPr>
            <a:r>
              <a:t>PMBOK 8va Edición — Un modelo de gestión alineado con los objetivos institucionales. Define estructuras de autoridad, toma de decisiones, y mecanismos de control del proyecto.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ACTA DE CONSTITUCIÓN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Documento formal que autoriza el proyecto | PMBOK 8va, Gobernanza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Información General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Proyecto: LoRA-HDL-QA — Degradación Catastrófica en Fine-Tuning LoRA para HDL/QA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PM: Pablo R. A. Flores Mollinedo | Director: Ing. Estuardo Rodríguez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Asesor: Por asignar | Período: Feb — Oct 2026 (1,287 h planificadas)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Tipo: Proyecto de graduación FING/UNIS — trabajo individual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Caso de Negocio y Objetivos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Trabajo de graduación para cierre de pensum en Ingeniería en Sistemas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Investigar impacto de estrategias de preprocesamiento en fine-tuning LoRA para generación HDL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Contribuir al campo de ML aplicado a diseño de hardware con evidencia experimental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Objetivo: paper de investigación + repositorio reproducible + defensa oral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Entregables de Alto Nivel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Anteproyecto aprobado por comité evaluador FING (Mar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Paper de investigación comparativo (2 configuraciones LoRA evaluadas en VerilogEval v2)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Repositorio GitHub público con scripts, pesos .safetensors, y resultados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Informe final formato FING/IMRaD + defensa oral ante jurado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Hitos Clave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Inicio: Feb 02 | Inscripción + asesor: Feb 02-16 | Plan proyecto: Feb 17-26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Anteproyecto: Feb 26 — Mar 25 | Diseño metodológico: Mar 25 — Abr 08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Ejecución (entrenamiento + evaluación): Abr 08 — Ago 17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Cierre (correcciones + defensa): Ago 17 — Sep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Presupuesto Estimado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Mano de obra: 1,287h × Q 80/hr = Q 102,960 directos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Equipo MacBook M1: Q 6,000 | Materiales: Q 800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Reserva de contingencia: Q 20,846 | Reserva de gestión: Q 700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TOTAL: Q 131,306 (incluye reservas)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Interesados Clave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Director de Carrera: aprueba tema, supervisa defensa, resuelve conflictos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Asesor: orientación técnica, revisión de entregables, aprobación final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Comité evaluador: evalúa anteproyecto y defensa oral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Pablo Flores (PM/Tesista): ejecución total del proyecto, gestión y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0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Autoridad del PM: gestionar cronograma, presupuesto, y alcance. Escalar decisiones que afecten normativa UNIS al Director.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REGISTRO DE SUPUESTOS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Supuestos documentados durante la iniciación | PMBOK 8va, Gobernanza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0515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03120"/>
                <a:gridCol w="5029200"/>
                <a:gridCol w="914400"/>
                <a:gridCol w="1828800"/>
              </a:tblGrid>
              <a:tr h="44888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Supuesto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Certidumbre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Responsable de Validación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Disponibilidad de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 contará con un asesor asignado antes del 16 de febrero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 de Carrera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adecuado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Air M1 8GB es suficiente para fine-tuning LoRA con quantización 4-bit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públicos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Existen datasets HDL/QA públicos de calidad suficiente para fine-tuning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Normativa estable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reglamento de graduación FING no cambiará durante 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 de Carrera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Disponibilidad del 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tesista mantendrá disponibilidad 100% durante el período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Acceso a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Python, HuggingFace, MLX, y librerías asociadas estarán disponibles sin costo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Plazos institucionales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Los tiempos de respuesta institucional no excederán 10 días hábiles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FING/UNIS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 base accesible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Qwen3-4B (o equivalente) será accesible en HuggingFace y cargable en 8GB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VerilogEval funcional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benchmark VerilogEval v2 será ejecutable en entorno ARM/M1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 cambios mayores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habrá cambios en el alcance del proyecto una vez aprobado el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+ Asesor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00000"/>
            <a:ext cx="1155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Revisión: quincenal durante la iniciación, mensual durante la ejecución. Si un supuesto se invalida, activar proceso de gestión de cambios.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INTERESADOS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  <a:latin typeface="Calibri"/>
              </a:defRPr>
            </a:pPr>
            <a:r>
              <a:t>PMBOK 8va Edición — Identificación, análisis, involucramiento y comunicación efectiva con todas las partes interesadas del proyecto.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REGISTRO DE INTERESADOS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Identificar, clasificar y documentar a todos los interesados | PMBOK 8va, Interesados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97840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28800"/>
                <a:gridCol w="2103120"/>
                <a:gridCol w="1188720"/>
                <a:gridCol w="731520"/>
                <a:gridCol w="731520"/>
                <a:gridCol w="2560320"/>
              </a:tblGrid>
              <a:tr h="37982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Nombre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 en el Proyecto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Clasificación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Poder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Interés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Estrategia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Pablo Flores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/ 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de cerca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 (por asignar)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Orientador 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de cerca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 de Carrera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Autoridad académica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satisfecho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Comité Evaluador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satisfecho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Jurado de Defensa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final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satisfecho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Coordinador de Tesis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Procesos administrativos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de cerca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Biblioteca FING/UNIS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Recepción y archivo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Estudiantes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Audiencia académica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Comunidad ML/HW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Investigadores en 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HuggingFace /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Plataformas de publicación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informado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UNIS — Rectoría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Aval institucional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 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Apoyo logístico y moral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informado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DEL INVOLUCRAMIENTO DE LOS INTERESADOS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Estrategias por grupo para promover participación productiva | PMBOK 8va, Interesados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Pablo Flores (PM)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Líder, ejecutor, controlador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100% diario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Reportes de avance, reuniones semanales, actualización cronograma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Revisor técnico, mentor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Reunión semanal 1h + revisión hitos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Minutas de reunión, borradores para revisión, reportes de avance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Director de Carrera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Aprobador, escalamiento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Hitos: inicio, anteproyecto, defensa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Solicitudes formales, notificaciones de hitos, reportes de estado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Comité Evaluador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Evaluador de anteproyecto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Marzo 2026 (único)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Documento de anteproyecto impreso y digital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Jurado de Defensa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Evaluador final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Septiembre 2026 (único)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Informe final, presentación defensa, demo técnico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Coordinador de Tesis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Gestor de trámites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Según necesidad administrativa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Formularios, solicitudes, constancias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LAS 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Políticas para gestionar comunicaciones | PMBOK 8va, Interesados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5214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1828800"/>
                <a:gridCol w="2560320"/>
                <a:gridCol w="1645920"/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Comunicación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 → Para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Frecuencia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Medio / Canal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Receptor Final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Reunión semanal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Semanal (1h)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Presencial / Zoom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Minuta en 24h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Reporte de avance 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 +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+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EVM: SPI, SV, 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Director, Asesor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Notificación de hitos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 + Director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 completar hitos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formal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o documento del hito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Director,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de cambio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Según 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Formato 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en 5 días hábiles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Notificación de riesgos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 detectarse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/ WhatsApp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de riesgos actualizado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de 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 /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 completar versiones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PDF + impreso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Acuse de recibo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Director, Comité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oral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Jurado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 2026 (único)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Presencial 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Presentación + demo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Jurado, Director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Publicación en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Comunidad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Post-defensa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Repositorio público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+ instrucciones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Comunidad ML/HW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MATRIZ DE 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Detalle de flujos de información entre interesados | PMBOK 8va, Interesados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2435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645920"/>
                <a:gridCol w="2560320"/>
                <a:gridCol w="2743200"/>
                <a:gridCol w="1828800"/>
              </a:tblGrid>
              <a:tr h="5715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Medio/Canal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Frecuencia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Formato/Entregable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Audiencia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Reunión semanal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Presencial/Zoom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Semanal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Minuta de reunión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Avance 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+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de avance (EVM)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Asesor,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Alerta de riesgo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WhatsApp/Email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Inmediato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Notificación de riesgo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Cualquiera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de cambio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Formato +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Según 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RFC (Request for Change)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Convocatoria defensa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formal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Una vez (Sep 2026)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Carta de convocatoria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Director, Jurado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Publicación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GitHub / HuggingFace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Post-defensa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+ paper + pesos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Comunidad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Consulta normativa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Según necesidad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formal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Coordinador Tesis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  <a:latin typeface="Calibri"/>
              </a:defRPr>
            </a:pPr>
            <a:r>
              <a:t>PMBOK 8va Edición — Definición, validación y control del alcance del proyecto y del producto. Incluye requisitos, EDT, y trazabilidad.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DEL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Define cómo se planificará, gestionará y controlará el alcance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Proceso de Definición del Alcance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1. Recopilar requisitos: entrevistas con asesor, análisis de normativa FING, revisión de literatura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2. Elaborar Enunciado del Alcance: descripción, entregables, criterios de aceptación, exclusiones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3. Crear EDT/WBS: descomposición jerárquica hasta nivel 4 (paquetes de trabajo de 3-31h)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4. Validar alcance con asesor y Director de Carrera antes de congelar línea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Control del Alcance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Línea base congelada tras aprobación del anteproyecto (Mar 2026)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Cualquier cambio requiere Solicitud de Cambio formal → evaluación asesor → aprobación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Métricas: % de paquetes EDT completados vs planificados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Verificación: entregables validados contra criterios de aceptación documentados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Exclusiones del Alcance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desarrollo de hardware (FPGA/ASIC) ni pruebas en silicio real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entrenamiento en clusters GPU multi-nodo (limitado a hardware M1 8GB local)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implementación de un IDE o herramienta de software interactiva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cubre fine-tuning de modelos mayores a 4B parámetros (restricción de RAM)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publicación en revistas indexadas (solo repositorio público y defensa oral FING)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Define cómo se recopilarán, analizarán y gestionarán los requisitos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Recopilación de Requisitos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Fuentes: normativa FING, guía de tesis UNIS, reuniones con asesor, papers de referencia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Técnicas: entrevistas estructuradas con asesor, análisis documental, benchmark de proyectos similares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Clasificación: RF (Funcionales), RNF (No Funcionales), RP (Procedimentales)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Priorización: MoSCoW — Must have (M), Should have (S), Could have (C), Won't have (W)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Trazabilidad y Validación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Matriz de trazabilidad: cada requisito vinculado a EDT, entregable y criterio de aceptación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Validación: revisión con asesor en hitos de planificación y cierre de fase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Verificación: scripts de prueba automatizados para requisitos técnicos (RNF-01, RF-01)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Control de cambios: modificaciones a requisitos siguen proceso formal de gestión de cambios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Métricas y KPIs de Requisitos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Cobertura de trazabilidad: 100% de requisitos con EDT, entregable y criterio de aceptación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Tasa de aprobación: % de requisitos validados por asesor vs total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Estabilidad: número de cambios a requisitos post-aprobación del anteproyecto (meta: &lt;3)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Cumplimiento: % de criterios de aceptación satisfechos al cierre de cada fase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DOCUMENTACIÓN DE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Registro y clasificación de requerimientos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371600"/>
          <a:ext cx="119329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1645920"/>
                <a:gridCol w="548640"/>
                <a:gridCol w="1554480"/>
                <a:gridCol w="2377440"/>
                <a:gridCol w="3017520"/>
              </a:tblGrid>
              <a:tr h="38686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Propósito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Origen (NE)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Aceptación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configuraciones fine-tuning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Comparar chunking vs filtrado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NE-02: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E-05: Adaptadores .safetensors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archivos .safetensors de pesos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con VerilogEval v2 (156 prob.)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Benchmark estandarizado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NE-02: 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E-06: Resultados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 ejecutable + JSON 156 entradas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Cuantificar corrupción en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Reproducir hallazgo del paper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NE-02: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E-06: Scripts verific.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verify_paper_numbers.py ejecutable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verificación reproducción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Reproducibilidad científica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NE-02: 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E-04: Scripts refinados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sin errores en entorno limpio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real (M1 8GB)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Condición experimental real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NE-02: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E-05: Modelo final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Logs con ID hardware confirmado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formato FING + IMRaD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Requisito de grado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NE-03: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E-07, E-10: Informe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asesor + tribunal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Repositorio estructura clara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Divulgación científica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NE-02: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E-04: Repositorio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con instrucciones reproducción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Cronograma máximo 360h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Restricción institucional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NE-01: Académico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E-08: Cronograma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horas ≤ 360 (foco en ejecución)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+ asesor (Feb.)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NE-01: Académico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E-01: Inscripción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inscripción + carta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aprobado (Mar.)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NE-01: Académico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E-02: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Visto bueno Director + Asesor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Avances ejecución (Abr-Ago)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NE-01: Académico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E-03, E-07: Avances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Documentos entregados y revisados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+ entrega final (Sep.)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NE-01: Académico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E-09, E-10: 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defensa + constancia Biblioteca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6480000"/>
            <a:ext cx="1188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  <a:latin typeface="Calibri"/>
              </a:defRPr>
            </a:pPr>
            <a:r>
              <a:t>Prioridad: A=Alta, M=Media, B=Baja | Cobertura: 12 requisitos trazados a entregables y criterios de aceptación. Trazabilidad bidireccional 100%.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ENUNCIADO DEL ALCANCE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Descripción detallada del alcance, entregables, criterios de aceptación y exclusiones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Descripción del Alcance del Producto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Investigación científica documentada sobre el impacto del preprocesamiento de datos de entrenamiento en la degradación catastrófica de fine-tuning LoRA para generación de HDL.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Dos configuraciones experimentales: (a) filtrado de datasets por calidad, (b) chunking estratégico del corpus de entrenamiento.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Evaluación comparativa usando VerilogEval v2 (156 problemas) con métricas BLEU, exactitud sintáctica, y PASS@k.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48640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Entregables del 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E-01: Inscripción formal del tema (Feb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E-02: Anteproyecto aprobado (Mar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E-03: Avances de ejecución (Abr-Ago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E-04: Scripts y repositorio (Ago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E-05: Modelos LoRA fine-tuned (.safetensors)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E-06: Resultados de benchmark (JSON + gráficas)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E-07: Informe final formato FING/IMRaD (Ago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E-08: Cronograma y registro de horas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E-09: Defensa oral (Sep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E-10: Entrega final a Biblioteca FING (Sep 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50292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Criterios de Aceptación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Anteproyecto: aprobado por comité evaluador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Informe final: aprobado por asesor y tribunal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Repositorio: README + instrucciones de reproducción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Scripts: ejecutables sin errores en entorno limpio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31920"/>
            <a:ext cx="50292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Restricciones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Hardware: MacBook Air M1 8GB RAM (no GPU dedicada)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Tiempo: máximo 360 horas de esfuerzo efectivo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Presupuesto: Q 6,800 máximo en no-humanos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Alcance: 2 configuraciones LoRA comparativas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09728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Exclusiones Explícitas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incluye desarrollo de hardware (FPGA/ASIC) | No incluye implementación de herramienta de software | No cubre modelos &gt;4B parámetros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incluye publicación en revistas indexadas | No incluye entrenamiento multi-GPU | No cubre más de 2 configuraciones experimentales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EDT / WBS — ESTRUCTURA DE DESGLOSE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Descomposición jerárquica del alcance total en 16 paquetes de trabajo | PMBOK 8va,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744"/>
                </a:solidFill>
                <a:latin typeface="Calibri"/>
              </a:defRPr>
            </a:pPr>
            <a:r>
              <a:t>Diagrama EDT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2743200" cy="45720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Proyecto de Graduación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LoRA-HDL-QA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86000"/>
            <a:ext cx="2011680" cy="4572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286000"/>
            <a:ext cx="2011680" cy="4572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PLANIFICACIÓN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286000"/>
            <a:ext cx="2011680" cy="4572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EJECUCIÓN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286000"/>
            <a:ext cx="2011680" cy="4572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MONITOREO</a:t>
            </a:r>
          </a:p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Y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286000"/>
            <a:ext cx="2011680" cy="45720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CIERRE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280160" y="2011680"/>
            <a:ext cx="4663440" cy="27432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74720" y="2011680"/>
            <a:ext cx="2468880" cy="27432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669280" y="2011680"/>
            <a:ext cx="274320" cy="27432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2011680"/>
            <a:ext cx="1920240" cy="27432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3600" y="2011680"/>
            <a:ext cx="4114800" cy="27432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4320" y="2926080"/>
            <a:ext cx="835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Inscripción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del Tema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2926080"/>
            <a:ext cx="835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Asignación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de Asesor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06000" y="2926080"/>
            <a:ext cx="835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Plan del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Proyecto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2926080"/>
            <a:ext cx="835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Anteproyecto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2926080"/>
            <a:ext cx="835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Diseño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Metodológico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926080"/>
            <a:ext cx="810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Marco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Teórico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17600" y="2926080"/>
            <a:ext cx="810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Preproc.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de Datos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97440" y="2926080"/>
            <a:ext cx="810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Entrenam.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LoRA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3570480"/>
            <a:ext cx="810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Evaluación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Benchmark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17600" y="3570480"/>
            <a:ext cx="810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Análisis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97440" y="3570480"/>
            <a:ext cx="810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Redacción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Informe Final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38000" y="2926080"/>
            <a:ext cx="835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Seguimiento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54000" y="2926080"/>
            <a:ext cx="835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Control de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Cambios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50000" y="2926080"/>
            <a:ext cx="850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Correcciones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Finales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20000" y="2926080"/>
            <a:ext cx="850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Defensa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Pública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90000" y="2926080"/>
            <a:ext cx="850000" cy="5029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/>
          <a:lstStyle/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Entrega</a:t>
            </a:r>
          </a:p>
          <a:p>
            <a:pPr algn="ctr">
              <a:defRPr sz="700" b="1">
                <a:solidFill>
                  <a:srgbClr val="1A2744"/>
                </a:solidFill>
                <a:latin typeface="Calibri"/>
              </a:defRPr>
            </a:pPr>
            <a:r>
              <a:t>y Cierre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71820" y="2743200"/>
            <a:ext cx="50834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80160" y="2743200"/>
            <a:ext cx="41750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80160" y="2743200"/>
            <a:ext cx="134334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389300" y="2743200"/>
            <a:ext cx="8542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474720" y="2743200"/>
            <a:ext cx="78326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5355260" y="2743200"/>
            <a:ext cx="31402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69280" y="2743200"/>
            <a:ext cx="56582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669280" y="2743200"/>
            <a:ext cx="144566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355500" y="2743200"/>
            <a:ext cx="50834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863840" y="2743200"/>
            <a:ext cx="40766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567500" y="2743200"/>
            <a:ext cx="49090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058400" y="2743200"/>
            <a:ext cx="37910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058400" y="2743200"/>
            <a:ext cx="1249100" cy="1828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342760" y="2743200"/>
            <a:ext cx="326520" cy="8272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669280" y="2743200"/>
            <a:ext cx="553320" cy="8272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669280" y="2743200"/>
            <a:ext cx="1433160" cy="8272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57200" y="4200000"/>
            <a:ext cx="109728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Resumen EDT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Nivel 1: 1 proyecto (LoRA-HDL-QA) | Nivel 2: 5 fases | Nivel 3: 16 entregables | Nivel 4: 110 paquetes de trabajo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horas: 1,287h | Rango por paquete nivel 4: 3h — 31h | Método: Bottom-up desde cronograma XML (ProjectLibre 1.9.8)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Los 16 paquetes de trabajo del nivel 3 se desglosan en 110 actividades nivel 4. Diccionario EDT detalla cada una.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DICCIONARIO DE LA EDT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Detalle de cada paquete de trabajo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371600"/>
          <a:ext cx="11704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103120"/>
                <a:gridCol w="2743200"/>
                <a:gridCol w="640080"/>
                <a:gridCol w="2743200"/>
                <a:gridCol w="2743200"/>
              </a:tblGrid>
              <a:tr h="29583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EDT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Paquete de Trabajo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Supuestos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del Tema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Formalizar el tema de tesis ante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de inscripción firmada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Reglamento FING vigente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formalizar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Carta de 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Disponibilidad docente FING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plan de dirección completo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aprobado por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PMBOK 8va Edición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y presentar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aprobado por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Guía de anteproyecto FING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Diseñar experimentos y métricas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metodológico aprobado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Papers de referencia LoRA/HDL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Marco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Fundamentos LLM, LoRA, HDL,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Capítulo 2 del informe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Artículos científicos revisados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Preprocesamiento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Limpiar, tokenizar y validar datasets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136h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procesados y documentados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HDL/QA públicos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Fine-tuning con 2 configuraciones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adaptadores LoRA (.safetensors)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M1 8GB, quantización 4-bit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Benchmark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VerilogEval v2 y comparar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106h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Resultados benchmark (JSON + gráficas)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VerilogEval v2, scripts evaluación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Analizar y comparar métricas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Capítulo 4 del informe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Datos de benchmark recopilados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del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informe en formato IMRaD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completo revisado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Normativa UNIS, guía IMRaD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 avance y reuniones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Reportes de avance mensuales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Cronograma base, minutas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Control de Cambios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solicitudes de cambio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 de cambios aprobados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 gestión de cambios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Correcciones Finales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correcciones del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final aprobado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Retroalimentación del asesor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Pública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Preparar y realizar defensa oral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de defensa aprobatoria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Reglamento de defensa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y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Entregar a biblioteca y cerrar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de Biblioteca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Normas de entrega UNIS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MATRIZ DE TRAZABILIDAD DE REQUERIMIENTOS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Trazabilidad bidireccional requisitos → EDT → entregables → criterios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3716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286000"/>
                <a:gridCol w="365760"/>
                <a:gridCol w="914400"/>
                <a:gridCol w="1645920"/>
                <a:gridCol w="1645920"/>
                <a:gridCol w="3657600"/>
              </a:tblGrid>
              <a:tr h="3516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Origen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EDT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Aceptación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configuraciones fine-tuning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1.3.2, 1.3.3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adaptadores con pesos .safetensors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con VerilogEval v2 (156 prob.)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 benchmark; JSON 156 entradas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Cuantificar corrupción en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1.3.2, 1.3.5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verify_paper_numbers.py ejecutable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verificación reproducción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sin errores en entorno limpio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real (M1 8GB)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Logs con ID hardware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formato FING + IMRaD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1.3.6, 1.5.1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E-07,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asesor y tribunal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Repositorio estructura clara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+ instrucciones reproducción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Cronograma máximo 360h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horas ≤ 360 (foco ejecución)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+ asesor (Feb.)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1.1.1, 1.1.2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inscripción + carta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aprobado (Mar.)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Visto bueno Director + Asesor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Avances ejecución (Abr-Ago)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1.3.1, 1.3.6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E-03, E-07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Docs entregados y revisados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+ entrega final (Sep.)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1.5.2, 1.5.3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E-09,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defensa + constancia Biblioteca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6030000"/>
            <a:ext cx="1188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  <a:latin typeface="Calibri"/>
              </a:defRPr>
            </a:pPr>
            <a:r>
              <a:t>Cobertura: 12 requerimientos trazados a entregables y criterios de aceptación. Trazabilidad bidireccional 100%.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CAMBIOS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Proceso formal para solicitar, evaluar y aprobar cambios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Proceso de Control de Cambios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IDENTIFICAR: Cualquier interesado detecta necesidad de cambio en alcance, tiempo, costo o calidad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REGISTRAR: Completar formato de Solicitud de Cambio (RFC) con: descripción, justificación, impacto estimado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EVALUAR: PM analiza impacto en triple restricción (alcance/cronograma/costo) y riesgos asociados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REVISAR: Asesor revisa RFC en máximo 5 días hábiles, puede solicitar más información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DECIDIR: Aprobar (implementar), Rechazar (documentar razón), o Diferir (re-evaluar en próxima fase)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6. IMPLEMENTAR: Actualizar línea base, EDT, cronograma, y documentos afectados. Comunicar a interesados.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Autoridad de Aprobación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Cambios ≤5% desviación: PM puede aprobar directamente (informar al asesor)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Cambios 5-15% desviación: Requiere aprobación del asesor con revisión técnica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Cambios &gt;15% desviación o que afecten normativa: Escalar al Director de Carrera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Emergencias (riesgo crítico): PM implementa respuesta inmediata, documenta post-facto en 48h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109728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Herramientas y Registros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Formato RFC en Excel/Google Sheets vinculado al cronograma | Log de cambios con trazabilidad a EDT | Revisión en reuniones quincenales | Actualización de línea base solo tras aprobación formal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SOLICITUD DE CAMBIO (RFC) — FORMATO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Formato estándar para solicitudes de cambio | PMBOK 8va, Alcance (opcional según normativa)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RFC ID: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RFC-NNN (auto-incremental)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Fecha Solicitud: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DD/MM/YYYY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Solicitante: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Nombre y 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Prioridad: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Alta / Media / Baja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Descripción del Cambio: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Justificación: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¿Por qué es necesario el cambio?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Alcance: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Paquetes EDT afectados, entregables modificados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Cronograma: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Δ horas estimadas, nueva fecha de finalización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Costo: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Δ costo estimado en 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Riesgos: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31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Nuevos riesgos o modificación de existentes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Alternativas Consideradas: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Otras opciones evaluadas y razón de descarte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Decisión: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663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Aprobado / Rechazado / Diferido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Fecha Decisión: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DD/MM/YYYY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Firmas: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029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Solicitante: ______  |  PM: ______  |  Asesor: 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ESTRATEGIA DE ADQUISICIONES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Estrategia para adquirir recursos externos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 General de Adquisiciones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Contexto: Proyecto académico individual de graduación. La naturaleza del proyecto (investigación + desarrollo experimental) implica que la mayoría de los recursos son internos (esfuerzo del tesista, hardware propio, software open-source).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Adquisiciones requeridas: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Equipo: MacBook Air M1 2020 — ya adquirido (costo hundido Q 6,000). Alternativa: usar laboratorio FING si falla hardware.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Software: Python, HuggingFace, MLX, VerilogEval — todo open-source sin costo de licencia.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Datasets: Repositorios públicos (HuggingFace datasets, GitHub) — descarga gratuita.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Materiales: Impresión y empastado (3 copias × Q 150 = Q 450) — proveedor local, cotización simple.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Papelería y misceláneos: Q 350 — compra directa sin licitación.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Estrategia: Compra directa por bajo monto (&lt; Q 5,000). No se requiere proceso de licitación formal por ser proyecto académico. El PM tiene autoridad para adquirir materiales menores. Equipamiento se usa recurso propio existente.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ADQUISICIONES — DECISIONES DE INTERNALIZACIÓN O EXTERNALIZACIÓN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Análisis Make-or-Buy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2103120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Recurso/Actividad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Justificación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Conocimiento técnico del tesista; hardware propio; control total del proceso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propios; ejecución local; reproducibilidad científica requerida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de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Requisito de grado; debe ser trabajo original del estudiante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técnica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 (Asesor)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Honorarios institucionales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 designado por FING; costo cubierto por la universidad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Impresión y empastado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 (Proveedor)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Servicio especializado; bajo costo; 3 copias requeridas por normativa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Corrección de estilo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Cubierto en fase de correcciones finales (EDT 1.5.1); sin costo adicional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Software y herramientas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 (Open-source)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Gratuito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Python, HuggingFace, MLX: licencias libres; descarga directa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computacional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(Propio)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 (costo hundido)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M1 ya adquirido; si falla, alternativa: laboratorio FING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ADQUISICIONES — CRITERIOS DE SELECCIÓN DE FUENTES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Criterios para evaluar y seleccionar proveedores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1945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Criterios de Selección — Proveedores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Para servicios de impresión y empastado: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Calidad: muestras de trabajos previos (portadas, encuadernación)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Precio: cotización ≤ Q 200 por copia completa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Tiempo de entrega: ≤ 3 días hábiles por copia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Ubicación: cercanía a campus UNIS o zona 15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Referencias: recomendaciones de tesistas previos FING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Proveedores evaluados (ejemplo):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Copistería UNIS: Q 150/copia, 2 días, en campus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PrintCenter Z15: Q 180/copia, 1 día, a 2km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TesisExpress Online: Q 200/copia, 5 días, envío incluido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1945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Criterios de Selección — Recursos Digitales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Para datasets y modelos: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Licencia: open-source (MIT, Apache 2.0, CC-BY) verificable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Calidad: documentación, papers asociados, benchmarks conocidos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Comunidad: actividad en GitHub, issues, actualizaciones recientes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Compatibilidad: formato compatible con HuggingFace datasets/datasets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Tamaño: factible de procesar en M1 8GB (≤ 1GB por dataset)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Datasets seleccionados: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VerilogEval v2 (156 problemas, GitHub, MIT license)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HDL dataset de HuggingFace (código VHDL/Verilog etiquetado)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Dataset sintético generado con GPT-4 (como respaldo)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  <a:latin typeface="Calibri"/>
              </a:defRPr>
            </a:pPr>
            <a:r>
              <a:t>PMBOK 8va Edición — Planificación, desarrollo, monitoreo y control del cronograma. Incluye definición de actividades, secuenciación, estimación de duraciones y línea 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DEL 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Políticas, procedimientos y documentación para gestionar el cronograma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Metodología y Herramientas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Bottom-up estimating desde EDT nivel 4 (110 actividades)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Herramienta: ProjectLibre (CPM + baseline + exportación Gantt)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Calendario: Guatemala 2026 — lun-sáb 8h/día (08:00-12:00, 13:00-17:00)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Unidades: Horas de trabajo efectivas. Precisión ±10% en nivel 4 EDT.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4864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Umbrales de Control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Verde: &lt;5% de desviación — normal, sin acción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Amarillo: 5-15% desviación — plan de recuperación en 1 semana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Rojo: &gt;15% desviación — escalamiento al Director de Carrera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Formato de Reporte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S-curve mensual (PV, EV, AC) para seguimiento visual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EVM: SPI, SV para medir eficiencia del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Actualización: quincenal con asesor, registro de cambios en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50292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Revisión y Aprobación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Quincenal con asesor en reuniones de seguimiento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Registro de cambios en log de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Línea base congelada post-aprobación anteproyecto (Mar 2026)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LÍNEA BASE DEL 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Cronograma aprobado contra el cual se mide el desempeño | PMBOK 8va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887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914400"/>
                <a:gridCol w="36576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 (LB)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Alcance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 LB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 LB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02 → Feb 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Inscripción, asesor, plan de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02,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 → Abr 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Anteproyecto, diseño metodológico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08, 2026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08 → Ago 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Marco teórico, entrenamiento, evaluación,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08,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17,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MONITOREO 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 → Mar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86h*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Seguimiento y control de cambios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 13, 2026*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17 → Sep 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Correcciones, defensa, entrega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17,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 14,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97680"/>
            <a:ext cx="109728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Notas sobre la Línea Base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La línea base del cronograma es la versión aprobada del cronograma que se utiliza para comparar el desempeño real.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Fecha de congelamiento: posterior a la aprobación del anteproyecto por el comité evaluador (~Mar 25, 2026).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La línea base solo se modifica mediante solicitudes de cambio aprobadas formalmente.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* M&amp;C tiene actividades distribuidas a lo largo del proyecto; el bloque principal está en Feb-Mar.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Duración total del proyecto: 225 días calendario (Feb 02 → Sep 14, 2026). Horas efectivas: 1,287h.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Se utiliza calendario Guatemala 2026 (lun-sáb 8h/día). Domingos y feriados no laborables.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CRONOGRAMA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Resumen gráfico de fases y duraciones | Feb — Sep 2026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INICIO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Feb 02 → Feb 26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156h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PLANIFICACIÓN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Feb 27 → Abr 08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248h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EJECUCIÓN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Abr 08 → Ago 17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784h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71600"/>
            <a:ext cx="2103120" cy="25603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MONITOREO Y CONTROL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Feb 27 → Mar 13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88h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CIERRE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Ago 17 → Sep 14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160h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89120"/>
            <a:ext cx="10972800" cy="91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09728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Resumen de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Inicio del proyecto: 2 de febrero de 2026 | Fin del proyecto: 14 de septiembre de 2026 | Duración total: 225 días calendario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Horas efectivas planificadas: 1,287h de trabajo (incluye períodos de espera institucionales: ~155h)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El cronograma detallado está desarrollado en ProjectLibre con 150 tareas (110 de nivel 4 + 40 de resumen/hitos).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Las fechas y duraciones provienen del archivo XML LoRA-HDL-QA_Proyecto_2026.xml, validado y cargable en ProjectLibre 1.9.8.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DATOS DEL 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Métricas clave y datos de soporte del modelo de cronograma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Estadísticas del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 de actividades en el modelo: 150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Actividades de trabajo (nivel 4): 110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Actividades de resumen (niveles 1-3): 27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Hitos (duración 0): 13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Duración total: 1,287 horas efectivas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Período: 2026-02-02 al 2026-09-14 (225 días calendario)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 de planificación: Ruta Crítica (CPM)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Calendario aplicado: Guatemala 2026 (lun-sáb, 8h/día)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Software: ProjectLibre 1.9.8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Ruta Crítica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 ruta crítica atraviesa las fases de: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INICIO → Inscripción → Asignación Asesor → Plan del 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→ PLANIFICACIÓN → Anteproyecto → Diseño Metodológico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→ EJECUCIÓN → Entrenamiento LoRA → Evaluación → Informe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→ CIERRE → Correcciones → Defensa → Entrega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Holgura total estimada: ~10% (principalmente en M&amp;C)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Los períodos de espera institucionales son parte de la ruta crítica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Períodos de Espera (no laborables pero incluidos en el cronograma)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Resolución institucional (UID 8): 39h | Aprobación comité (UID 33): 31h | Retroalimentación 1ra (UID 100): 23h | Retroalimentación 2da (UID 102): 39h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Resolución jurado (UID 127): 23h | Total esperas institucionales: ~155h (12% del total de horas)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CALENDARIOS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Calendario guatemalteco completo 2026 con feriados oficiales | PMBOK 8va, Cronograma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Base — Guatemala 2026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Días laborables: Lunes a Sábado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Horario: 08:00-12:00 y 13:00-17:00 (8h/día efectivas, 48h/semana máx.)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Domingo: No laborable (día de descanso obligatorio)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FERIADOS OFICIALES 2026 (no laborables):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Miércoles 1 de Enero — Año Nuevo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Jueves 2 de Abril — Jueves Santo (Semana Santa)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Viernes 3 de Abril — Viernes Santo (Semana Santa)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Sábado 4 de Abril — Sábado de Gloria (Semana Santa)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Viernes 1 de Mayo — Día del Trabajo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Martes 30 de Junio — Día del Ejército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Martes 15 de Septiembre — Día de la Independencia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Martes 20 de Octubre — Día de la Revolución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Domingo 1 de Noviembre — Día de Todos los Santos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Jueves 24 de Diciembre — Nochebuena (medio día)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Viernes 25 de Diciembre — Navidad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Jueves 31 de Diciembre — Fin de Año (medio día)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Feriados que afectan al proyecto (Feb—Sep 2026):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Semana Santa (2-4 Abr), Día del Trabajo (1 May),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Día del Ejército (30 Jun), Independencia (15 Sep)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Recurso — Pablo Flores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Disponibilidad: 100% (estudiante tiempo completo)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Máximo: 8h/día laborable estándar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Flexibilidad: hasta 10h/día en semanas críticas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 activo: Feb 02 — Sep 14, 2026 (225 días)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horas planificadas: 1,287h efectivas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Promedio: ~5.7h/día (incluye esperas y buffers)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Notas sobre el Calendario: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Feriados se modelan como días no laborables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NOTA TÉCNICA: ProjectLibre 1.9.8 tiene un bug con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&lt;Exceptions&gt; sin &lt;RecurrenceType&gt; que causa crash.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Los feriados están documentados aquí pero NO en el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XML para garantizar compatibilidad.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Alternativa: ajustar manualmente fechas de tareas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que caen en feriados durante el seguimiento.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0972800" cy="1371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Períodos de Espera Institucionales (modelados como tareas en el cronograma)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Resolución institucional: 39h (Feb 6 — Feb 13) | • Aprobación comité: 31h (Mar 19 — Mar 25)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Retroalimentación 1ra revisión: 23h (Jul 29 — Ago 3) | • Retroalimentación 2da revisión: 39h (Ago 6 — Ago 12)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Resolución jurado: 23h (Sep 4 — Sep 9)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esperas: ~155h (12% del total de horas). Estas esperas son tiempo calendario, no trabajo activo del tesista.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Impacto en cronograma: Las esperas institucionales están en la ruta crítica. Cualquier extensión afecta la fecha de finalización.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LISTA DE ACTIVIDADES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Actividades nivel 4 del cronograma — 55 de 110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10149840" cy="5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4937760"/>
                <a:gridCol w="457200"/>
                <a:gridCol w="1828800"/>
                <a:gridCol w="1828800"/>
              </a:tblGrid>
              <a:tr h="92857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normativo y reglamento de graduación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Delimitar el tema de 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2026-02-04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Preparar formularios y documentación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Presentar solicitud formal ante la facultad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2026-02-06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Período de espera — resolución institucional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Recibir aprobación formal del 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evaluar candidatos 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Contactar y reunirse con candidatos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2026-02-04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Seleccionar asesor definitivo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Formalizar carta de asignación del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2026-02-16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reunión de trabajo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alcance, supuestos y restricciones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2026-02-18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EDT (WBS)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cronograma y línea base de 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2026-02-24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evaluar riesgos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plan de comunicación y 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2026-02-23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y aprobación del plan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 literatura sobre el 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planteamiento del problema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objetivos general y específicos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Plantear hipótesis de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Escribir justificación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2026-03-11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documento completo de anteproyecto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del anteproyecto con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2026-03-18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Presentar anteproyecto ante comité evaluador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Período de espera — aprobación del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2026-03-25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y comparar metodologías de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Seleccionar y justificar metodología adoptada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2026-03-31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Diseñar arquitectura general del experimento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seleccionar datasets HDL /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2026-04-02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Planificar pipeline de entrenamiento y evaluación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métricas y criterios de éxito del 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y aprobar 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LLMs y arquitecturas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LoRA y métodos PEFT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HDL — VHDL / Verilog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2026-04-16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QA en diseño digital y EDA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sección — Fundamentos teóricos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2026-04-27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sección — LoRA aplicado a generación 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sección — Estado del 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2026-04-30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del marco teórico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Corrección y ajuste del marco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2026-05-06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Catalogar datasets HDL / QA disponibles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Descargar y verificar integridad de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exploratorio de datos (EDA)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Limpieza y depuración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Tokenización y formateo para fine-tuning LLM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Transformación y normalización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2026-04-29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Validación de calidad e integridad del dataset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pipeline de preprocesamiento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Configurar entorno Python / HuggingFace en MacBook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Instalar y verificar librerías PEFT /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2026-05-11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Seleccionar y cargar modelo base LLM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cargador de datos HDL personalizado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2026-05-15</a:t>
                      </a:r>
                    </a:p>
                  </a:txBody>
                  <a:tcPr/>
                </a:tc>
              </a:tr>
              <a:tr h="92865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Configurar parámetros LoRA (r, alpha, dropout)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" y="6600000"/>
            <a:ext cx="120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6666"/>
                </a:solidFill>
                <a:latin typeface="Calibri"/>
              </a:defRPr>
            </a:pPr>
            <a:r>
              <a:t>55 de 110 actividades nivel 4 | Lista completa en archivo XML LoRA-HDL-QA_Proyecto_2026.xml | Continúa en diapositiva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LISTA DE ACTIVIDADES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Actividades nivel 4 del cronograma — 55 de 110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10149840" cy="5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4937760"/>
                <a:gridCol w="457200"/>
                <a:gridCol w="1828800"/>
                <a:gridCol w="1828800"/>
              </a:tblGrid>
              <a:tr h="92857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entrenamiento piloto (sanity check)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Analizar métricas de pérdida y accuracy del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2026-05-25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Ajustar hiperparámetros — iteración 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entrenamiento optimizado iteración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2026-06-02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Ajustar hiperparámetros — iteración 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entrenamiento final (modelo definitivo)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2026-06-11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Guardar, versionar y respaldar modelo entrenado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proceso de entrenamiento completo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2026-06-16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benchmarks existentes para LLM / 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métricas: BLEU, exactitud sintáctica, PASS@k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2026-06-17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scripts de evaluación automatizada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benchmark — modelo LoRA fine-tuned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2026-06-24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benchmark — modelo base (baseline)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Comparar y analizar: LoRA vs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2026-06-29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resultados del benchmark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Compilar y consolidar todas las métricas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2026-07-02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estadístico descriptivo de resultados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Visualizar resultados (gráficas y tablas)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2026-07-08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Comparar con modelos del estado del arte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fortalezas, limitaciones y trabajo futuro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2026-07-15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análisis e interpretación de resultados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estructura y capítulos del informe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1 — Introducción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Integrar cap. 2 — Marco teórico (ajustar)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2026-07-21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3 — Metodología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4 — Resultados y 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2026-07-22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5 — Conclusiones y recomendaciones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referencias bibliográficas (APA / IEEE)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2026-07-27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formato y estilo según normativo 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revisión con asesor (espera retroalim.)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2026-08-03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primera ronda de correcciones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Segunda revisión con asesor (espera retroalim.)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2026-08-12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segunda ronda de correcciones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Planificar agenda y protocolo de reuniones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Conducir reuniones semanales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reportes de avance mensuales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2026-03-06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Actualizar y monitorear cronograma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Registrar solicitudes de cambio formales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y aprobar cambios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cambios aprobados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2026-03-09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lecciones aprendidas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Recibir retroalimentación final del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2026-08-18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correcciones finales al documento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 ortografía, gramática y estilo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2026-08-24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Formatear documento final según normativo 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final y firma del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2026-08-31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Preparar presentación PowerPoint para defensa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material de apoyo y demo 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2026-09-02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Realizar ensayos de presentación (mínimo 3)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oral ante el jurado evaluador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2026-09-04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Período de espera — resolución y nota del jurado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correcciones indicadas por el jurado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2026-09-11</a:t>
                      </a:r>
                    </a:p>
                  </a:txBody>
                  <a:tcPr/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Imprimir, empastar y preparar copias finales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2857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formal a biblioteca y facultad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/>
                </a:tc>
              </a:tr>
              <a:tr h="92865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 administrativo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" y="6600000"/>
            <a:ext cx="120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6666"/>
                </a:solidFill>
                <a:latin typeface="Calibri"/>
              </a:defRPr>
            </a:pPr>
            <a:r>
              <a:t>55 de 110 actividades nivel 4 | Total horas nivel 4: 1,287h | Fuente: LoRA-HDL-QA_Proyecto_2026.xml (ProjectLibre 1.9.8)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ATRIBUTOS DE LA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Campos que describen cada actividad del cronograma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8872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  <a:gridCol w="3657600"/>
              </a:tblGrid>
              <a:tr h="3798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Atributo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Valores de Ejemplo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Identificador único en el XML de ProjectLibre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Ej: 4, 5, 68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Descripción de la actividad (verbo + objeto)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normativo y reglamento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Nivel EDT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OutlineLevel: 1=Proyecto, 2=Fase, 3=Entregable, 4=Paquete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 2, 3, o 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Código WBS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Código de la EDT al que pertenece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1.1.1.4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Duración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Horas de trabajo efectivas (formato PT...H)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PT8H0M0S (8 horas)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Fecha/hora de inicio planificada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2026-02-02T08:00:00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 Fin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Fecha/hora de finalización planificada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2026-02-02T17:00:00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Predecesoras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Tareas que deben completarse antes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4FS (termina 4, inicia esta)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Recurso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Recurso asignado (Pablo Flores UID 1)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Pablo Flores (100%)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Fixed Work (trabajo fijo)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Fixed Work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Calendario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Calendario Guatemala 2026 (UID 11)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Guatemala - Feriados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TRUE si duración = 0, FALSE si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FALSE para tareas de trabajo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BASE DE LAS ESTIMACIONES Y ESTIMACIONES DE DURACIÓN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Fundamento de cada estimación + resumen de duraciones por fase | PMBOK 8va, Cronograma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Base de las Estimaciones — Duraciones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Metodología de Estimación: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Enfoque: Bottom-up desde EDT nivel 4 (cada paquete se estima individualmente)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Unidad: horas de trabajo efectivas (netas, sin pausas)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Fuentes de estimación: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Juicio de expertos: asesor FING para tiempos académicos (ej: 23h para revisar un paper)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Estimación análoga: proyectos de graduación previos en FING (rango típico: 150-360h)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Estimación paramétrica: redacción ~15h por sección de 5 páginas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Descomposición: tareas atómicas de 3h a 31h máximo (nivel 4 EDT)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Factores de ajuste: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Productividad: 8h/día netas | Calendario: lun-sáb, excluye domingos y feriados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Curva de aprendizaje: +20% de buffer en primeras tareas de cada fase nueva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Hardware M1: batch=1 implica 2-3x tiempo de entrenamiento vs GPU típica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Precisión: ±10% en paquetes nivel 4; ±15% en fases nivel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Estimaciones de Duración por Fase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(148h):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Inscripción del Tema: 78h (incluye 39h espera institucional)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Asignación de Asesor: 80h (búsqueda + selección + formalización)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Plan del Proyecto: 60h (alcance, EDT, cronograma, riesgos)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PLANIFICACIÓN (235h):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Anteproyecto: 152h (incluye 31h espera aprobación comité)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Diseño Metodológico: 83h (arquitectura + datasets + pipeline)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EJECUCIÓN (744h):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Marco Teórico: 161h | Preprocesamiento: 136h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Entrenamiento LoRA: 227h (3 iteraciones: piloto + 2 optimizaciones)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Evaluación Benchmark: 106h | Análisis: 90h | Informe: 175h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M&amp;C (86h): Seguimiento 86h + Control Cambios 68h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CIERRE (160h): Correcciones 75h + Defensa 59h + Entrega 26h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Ejemplos de Cálculo de Duraciones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Actividades de investigación/lectura: 2-3h por paper académico → 23h = ~10 papers profundos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Actividades de redacción: 15h por sección de ~5 páginas en formato IMRaD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Actividades de programación: 15-23h por módulo funcional completo (cargador de datos, script de evaluación)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Actividades de entrenamiento ML: 31h = ~3 épocas en M1 con batch=1 y modelo 4B quantizado 4-bit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Actividades de revisión: 15h por ronda completa de correcciones (leer + corregir + verificar)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Períodos de espera: basados en experiencia FING (3-5 días hábiles = 31-39h modeladas como tareas de duración fija)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LISTA DE HITOS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Hitos principales con fechas planificadas y criterios de aceptación | PMBOK 8va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840480"/>
                <a:gridCol w="1828800"/>
                <a:gridCol w="5029200"/>
              </a:tblGrid>
              <a:tr h="3798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Fecha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Aceptación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Proyecto de Graduación Completado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formal por tribunal y constancia Biblioteca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Carta de inscripción firmada por Director de Carrera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Tema aprobado + asesor identificado formalmente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 proyecto aprobado por asesor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PLANIFICACION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formal del anteproyecto con asesor asignado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PLANIFICACION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y diseño metodológico aprobados por comité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EJECUCION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formal de experimentos y marco teórico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EJECUCION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final completo revisado y aprobado por asesor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MONITOREO Y CONTROL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reunión de seguimiento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MONITOREO 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 formal de actividades de seguimiento intensivo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de correcciones finales post-revisión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final depositado en Biblioteca FING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DIAGRAMAS DE RED DEL CRONOGRAMA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Secuencia lógica de actividades y dependencias | PMBOK 8va, Cronograma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Método de Diagramación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Diagrama de Precedencia (PDM) implementado en ProjectLibre con relaciones Finish-to-Start (FS).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 mayoría de las dependencias son obligatorias (duras): no se puede entrenar sin antes preprocesar datos; no se puede defender sin antes redactar.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4114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Ruta Crítica del Proyecto (secuencia de dependencias FS)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DEL PROYECTO → Inscripción del Tema → Asignación de Asesor → Plan del Proyecto → FIN INICIO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 ↓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PLANIFICACIÓN → Anteproyecto → Diseño Metodológico → FIN PLANIFICACIÓN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 ↓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EJECUCIÓN → Marco Teórico ∥ Preprocesamiento de Datos → Entrenamiento LoRA → Evaluación Benchmark → Análisis de Resultados → Redacción del Informe → FIN EJECUCIÓN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 ↓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CIERRE → Correcciones Finales → Defensa Pública → Entrega y Cierre → FIN DEL PROYECTO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En paralelo durante todo el proyecto: MONITOREO Y CONTROL (Seguimiento semanal + Control de Cambios bajo demanda)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Dependencias clave: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UID 4→5→6→7→8→9 (Inscripción secuencial)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UID 25→26→27→28→29→30→31→32→33 (Anteproyecto secuencial)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UID 44∥46 (Marco teórico en paralelo), UID 63→68→71→73 (Entrenamiento iterativo)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UID 100→101→102→103 (Ciclos de revisión-corrección con asesor)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  <a:latin typeface="Calibri"/>
              </a:defRPr>
            </a:pPr>
            <a:r>
              <a:t>PMBOK 8va Edición — Identificación, adquisición y gestión de los recursos necesarios para ejecutar el proyecto. Incluye recursos humanos, equipamiento, materiales e infraestructura.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Define cómo se estimarán, adquirirán y gestionarán los recursos | PMBOK 8va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Identificación y Estimación de Recursos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primaria: EDT nivel 4 (110 actividades con recurso asignado)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Bottom-up — suma de horas por recurso desde actividades nivel 4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Recurso Humano: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Pablo Flores (PM/Tesista) — 1,287h @ Q 80/hr = Q 102,960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Asesor FING — ~40h (sin costo directo)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Recursos Físicos: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MacBook Air M1 2020 (8GB/256GB) — Q 6,000 (ya adquirido)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Internet 10Mbps, electricidad — costos absorbidos (~Q 550 total)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Materiales: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Impresión (3 copias × Q 150), posters (Q 200), papelería (Q 150)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Total materiales: Q 800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 de Gestión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Asignación: PM dedicado 100% al 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Calendario: lun-sáb 8h/día, flexibilidad ±2h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Adquisiciones: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MacBook ya adquirido — no requiere compra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Materiales: compra directa por bajo monto (&lt; Q 1,000)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Monitoreo: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Registro de horas reales vs planificadas (EVM)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Reporte mensual de utilización de recursos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Contingencias: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Si MacBook falla → usar laboratorio FING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Si PM indispuesto → ajustar cronograma, notificar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Optimización: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Bloques de trabajo 2-4h enfocados (Pomodoro)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Entrenamiento ML en horarios nocturnos (menor temperatura)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CARTA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Valores, normas y acuerdos de trabajo del equipo | PMBOK 8va, Recursos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Carta del Equipo — Proyecto LoRA-HDL-QA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Contexto: Proyecto de graduación individual. El 'equipo' está compuesto por: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Pablo Flores — PM/Tesista (ejecutor principal, 100% del trabajo técnico)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Asesor (por asignar) — Revisor técnico (~40h totales, sin costo directo para el proyecto)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Director de Carrera — Autoridad de aprobación y escalamiento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Valores del Trabajo: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Excelencia académica: rigor científico en experimentación y documentación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Transparencia: reportar avances y desviaciones en tiempo real al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Responsabilidad: cumplir hitos y plazos acordados; notificar riesgos anticipadamente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Reproducibilidad: todo código, datos y resultados deben ser reproducibles por terceros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Normas de Trabajo: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Reuniones: semanal con asesor (1h fija), quincenal de seguimiento formal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Comunicación: email para documentos formales, WhatsApp para coordinación ágil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Documentación: minutas de reunión en 24h, reportes de avance mensuales con EVM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Código: versionado en GitHub, commits atómicos con mensajes descriptivos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Conflictos: escalar al Director de Carrera si el PM y el asesor no llegan a acuerdo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Nota: Por ser proyecto unipersonal, esta carta establece normas de trabajo entre el PM y el asesor. No se requiere team charter tradicional (no hay equipo multidisciplinario).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MATRIZ RACI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Responsabilidades por paquete de trabajo EDT | PMBOK 8va, Recursos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9692640" cy="511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554480"/>
                <a:gridCol w="1554480"/>
                <a:gridCol w="1554480"/>
                <a:gridCol w="1554480"/>
              </a:tblGrid>
              <a:tr h="3008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Paquete de Trabajo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Pablo Flores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Director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FING/UNIS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del Tema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Marco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Preprocesamiento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Benchmark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Informe Final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Control de Cambios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Correcciones Finales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Pública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00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y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5700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  <a:latin typeface="Calibri"/>
              </a:defRPr>
            </a:pPr>
            <a:r>
              <a:t>R = Responsible (ejecuta)  |  A = Accountable (aprueba/responde)  |  C = Consulted (aporta criterio)  |  I = Informed (recibe información)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REQUISITOS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Humanos, equipamiento y materiales necesarios | PMBOK 8va, Recursos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Recurso Humano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Pablo Flores (PM / Tesista)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Horas planificadas: 1,287h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Tarifa: Q 80.00 / hora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Costo total: Q 102,960.00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Disponibilidad: 100% tiempo completo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Período: Feb 02 — Sep 14, 2026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Horario: Lun-Sáb 8h/día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Flexibilidad: 10h/día en semanas críticas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investigación, desarrollo,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entrenamiento ML, redacción,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gestión del proyecto, defensa oral.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6576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Equipamiento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MacBook Air M1 2020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Chip: Apple M1 (8-core CPU, 7-core GPU)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RAM: 8GB LPDDR4X unificada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Almacenamiento: 256GB SSD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Precio: Q 6,000.00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Estado: Propiedad del tesista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Uso: ~1,000h para el 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Limitación principal: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8GB RAM → quantización 4-bit,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batch=1, modelos ≤ 4B parámetros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6576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Software y Materiales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Software (todo gratuito):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Python 3.11+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HuggingFace Transformers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PEFT / LoRA / MLX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ProjectLibre 1.9.8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Git / GitHub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Google Drive 100GB (EDU)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Materiales: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Impresión 3 copias: Q 450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Posters defensa: Q 200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Papelería: Q 150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Total materiales: Q 800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Infraestructura (absorbida):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Internet 10Mbps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Electricidad ~Q 300 total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BASE DE LAS ESTIMACIONES — 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Fundamento de las estimaciones de recursos | PMBOK 8va, Recursos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Recurso Humano — PM/Tesista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Tarifa: Q 80/hora — basada en tarifa de investigador junior en Guatemala (referencia: SENACYT)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Horas: 1,287h — suma bottom-up de las 110 actividades nivel 4 del cronograma XML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Disponibilidad: 100% — el tesista no tiene otras obligaciones laborales durante el período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Productividad: 8h/día netas — basado en experiencia previa en proyectos académicos similares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de la tarifa: promedio de estipendio de investigación + costo de vida en Guatemala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Nota: el costo de mano de obra es principalmente costo de oportunidad, no erogación en efectivo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Equipamiento y Materiales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MacBook M1: Q 6,000 — precio de mercado Guatemala (2025), depreciado a 2 años de uso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Impresión: Q 150/copia — cotización de Copistería UNIS (zona 15, 2025)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Internet: Q 250/mes — tarifa Tigo residencial 10Mbps, costo absorbido (no incremental)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Electricidad: 30W × 1,000h × Q 1/kWh ≈ Q 300 — cálculo basado en consumo del M1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Materiales: Q 350 — estimación empírica de proyectos de graduación previos en FING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109728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Reservas y Contingencias en Recursos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Contingencia de recurso humano: +10% de horas en tareas técnicas críticas (entrenamiento LoRA, evaluación benchmark) = ~70h de buffer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Contingencia de equipamiento: si MacBook falla, utilizar laboratorio de cómputo FING (costo: Q 0, pero requiere coordinación de horario)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Las estimaciones siguen el principio de 'estimación más probable' con un buffer separado, no inflado en cada tarea individual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ESTRUCTURA DE DESGLOSE DE RECURSOS (RBS)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Descomposición jerárquica de recursos del proyecto | PMBOK 8va, Recursos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1. Recurso Humano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1.1 Pablo Flores — PM / Tesista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Rol: Ejecución total del proyecto (gestión + investigación + desarrollo)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Tarifa: Q 80.00 / hora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Base de tarifa: Investigador junior Guatemala (ref. SENACYT)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Dedicación: 100% (1,287h planificadas)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Período: Feb 02 — Sep 14, 2026 (225 días)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Costo total mano de obra: Q 102,960.00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1.2 Asesor (designado por FING)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~40h totales estimadas (sin costo directo)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Honorarios cubiertos por la universidad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2. Equipamiento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2.1 MacBook Air M1 2020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Especificaciones: Chip M1, 8GB RAM, 256GB SSD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Precio de adquisición: Q 6,000.00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Estado: Propiedad del tesista (costo hundido)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Horas estimadas de uso: ~1,000h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Uso: Entrenamiento LoRA, desarrollo, redacción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2.2 Periféricos y accesorios (propios, sin costo)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Monitor externo, teclado, mouse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Disco externo 1TB para backups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2.3 Software (100% open-source, sin costo)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Python, HuggingFace Transformers, PEFT, MLX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ProjectLibre 1.9.8, Git/GitHub, Google Drive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10972800" cy="1371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Resumen de Costos de Recursos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Mano de obra (Pablo Flores): 1,287h × Q 80/hr = Q 102,960.00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Equipamiento (MacBook Air M1 2020): Q 6,000.00 (ya adquirido, costo hundido)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Materiales (impresión, empastado, posters): Q 800.00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RECURSOS DIRECTOS: Q 109,760.00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Nota: La mano de obra es costo de oportunidad. Solo equipamiento y materiales requieren desembolso en efectivo (Q 6,800.00).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CALENDARIOS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Disponibilidad de cada recurso a lo largo del proyecto | PMBOK 8va, Recursos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del Recurso Principal — Pablo Flores (PM/Tesista)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Período: Feb 02 — Sep 14, 2026 (225 días calendario)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Días laborables: Lunes a Sábado (6 días/semana)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Horario estándar: 08:00-12:00 y 13:00-17:00 (8h/día efectivas)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Horas máximas por semana: 48h (6 días × 8h)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Excepciones (no laborable para el recurso):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Todos los domingos del período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Semana Santa: Jueves 2 — Sábado 4 de Abril, 2026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Día del Trabajo: Viernes 1 de Mayo, 2026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Día del Ejército: Martes 30 de Junio, 2026 (½ día opcional)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Día de la Independencia: Martes 15 de Septiembre, 2026 (post-proyecto)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 real: ~190 días laborables efectivos × 8h = ~1,520h disponibles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Horas planificadas: 1,287h → utilización del ~85% del tiempo disponible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48640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del Equipamiento — MacBook Air M1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Disponibilidad: 24/7, compartido con uso personal del tesista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Ventanas óptimas para entrenamiento ML: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Horario nocturno (18:00-06:00): menor temperatura ambiente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Fines de semana: bloques de 8-12h continuos disponibles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Horas totales estimadas de uso para el proyecto: ~1,000h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Nota: no requiere calendario exclusivo; se comparte con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actividades personales fuera del horario de proyecto.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00400"/>
            <a:ext cx="502920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del Asesor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Disponibilidad: Sujeta a carga académica FING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Reuniones: 1h/semana (día y hora fijos por acordar)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Revisiones de hitos: bajo demanda, con 5 días de anticipación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 de mayor carga: inicio de semestre (Ene, Jul)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Nota: El asesor no tiene dedicación exclusiva.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Se debe planificar con 1-2 semanas de anticipación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para revisiones de documentos extensos.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COSTOS / FINANZAS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  <a:latin typeface="Calibri"/>
              </a:defRPr>
            </a:pPr>
            <a:r>
              <a:t>PMBOK 8va Edición — Planificación, estimación, presupuestación, financiamiento y control de los costos del proyecto. Incluye EVM y análisis de valor ganado.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FINANCIERA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Políticas, procedimientos y documentación para gestionar costos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Políticas de Estimación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Bottom-up desde EDT nivel 4 (horas × Q 80/hr)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Moneda: Quetzales (GTQ). Tipo de cambio fijo: Q 7.80/USD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Precisión: ±10% en paquetes nivel 4; ±15% en costo total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Reestimación: mensual durante fase de ejecución (o ante cambios aprobados)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Costo de mano de obra: costo de oportunidad, no erogación en efectivo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Control de Costos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Monitoreo: EVM mensual (PV, EV, AC, CPI, SPI)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Umbrales: Verde &lt;5% | Amarillo 5-15% | Rojo &gt;15%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Herramienta: Excel vinculado a datos del XML de ProjectLibre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Responsable: PM (Pablo Flores), con supervisión del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Reporte: mensual, incluido en informe de avance para asesor y Director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54864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Reservas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Contingencia: Q 20,846.00 — calculado como suma de Costo Esperado (CE = P × I) de los 25 riesgos identificados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Gestión: Q 700.00 — para acciones de mitigación no anticipadas y gastos administrativos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Uso de contingencia: solo para riesgos materializados; aprobación del asesor requerida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Uso de gestión: autorizado por el PM para acciones proactivas de mitigación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Indicadores EVM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PV (Planned Value) = Costo planificado del trabajo programado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EV (Earned Value) = Costo planificado del trabajo completado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 (Actual Cost) = Costo real incurrido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CPI = EV/AC (eficiencia de costo: &gt;1 = bajo presupuesto)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SPI = EV/PV (eficiencia de cronograma: &gt;1 = adelantado)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EAC = BAC/CPI (estimación al finalizar)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TCPI = (BAC−EV)/(BAC−AC) (índice requerido para cumplir BAC)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ESTIMACIONES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Desglose por fase basado en datos reales del XML | PMBOK 8va, Costos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223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828800"/>
                <a:gridCol w="914400"/>
              </a:tblGrid>
              <a:tr h="29583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del Total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11,840.00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18,800.00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13.2%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59,520.00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MONITOREO 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6,880.00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4.8%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Subtotal Mano de Obra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1,373h*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109,840.00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77.3%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M1 (costo hundido)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4.2%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Materiales (impresión, posters)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800.00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Subtotal Directos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116,640.00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82.1%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Reserva de Contingencia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20,846.00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14.7%</a:t>
                      </a: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Reserva de Gestión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700.00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COSTO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138,186.00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con MacBook (costo hundido)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144,186.00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101.5%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0" y="1371600"/>
          <a:ext cx="35661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40080"/>
                <a:gridCol w="731520"/>
                <a:gridCol w="914400"/>
              </a:tblGrid>
              <a:tr h="508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Acumulado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Febrero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Marzo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46,240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Abril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76,160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Mayo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89,920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Junio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105,120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Julio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123,200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Agosto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Septiembre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146,400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BASE DE LAS ESTIMACIONES —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Fundamento y metodología de cada estimación de costo | PMBOK 8va, Costos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Mano de Obra — Q 80/hora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Tarifa basada en: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Estipendio promedio de investigador junior en Guatemala (SENACYT 2025): Q 12,800/mes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Asumiendo 160h/mes productivas: Q 80/hora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Incluye costo de vida (alimentación, transporte, servicios) en Ciudad de Guatemala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Es costo de oportunidad (el tesista no recibe salario por el proyecto)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Horas por fase: suma directa de duraciones del XML de ProjectLibre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Validación cruzada: ~1,373h totales vs 1,287h del XML (+86h de buffer implícito en tareas de resumen)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Equipamiento y Materiales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MacBook M1: Q 6,000 — precio de mercado en Guatemala (nov 2025, MacBook Air M1 2020 usado)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Depreciación: 2 años de uso personal previo, valor residual ~Q 3,000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Impresión: Q 150/copia × 3 = Q 450 — cotización Copistería UNIS (ene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Posters defensa: Q 200 — impresión a color tamaño A1 (2 posters)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Papelería: Q 150 — cuadernos, post-its, bolígrafos, impresiones parciales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1097280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Reservas de Contingencia — Cálculo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Valor Monetario Esperado (EMV) = Σ (Probabilidad × Impacto Máximo) para cada uno de los 25 riesgos identificados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EMV total = Q 20,846.00 (ver Registro de Riesgos en Excel LoRA_Risk_Register_Analysis.xlsx)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Reserva de gestión: 0.5% del costo directo ≈ Q 700 — para gastos no anticipados ni modelados como riesgos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Las reservas NO están incluidas en la línea base de costos (BAC = Q 116,640). Se añaden para el presupuesto total.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Cualquier uso de la reserva de contingencia requiere documentación del riesgo materializado y aprobación del asesor.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LÍNEA BASE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Presupuesto aprobado contra el cual se mide el desempeño de costos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Definición de Línea Base de Costos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BAC (Budget at Completion) = Q 116,640.00 — incluye mano de obra directa (Q 109,840) + equipamiento y materiales (Q 6,800). No incluye reservas de contingencia ni gestión. La línea base se congela tras la aprobación del anteproyecto (Mar 2026).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46888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011680"/>
                <a:gridCol w="1645920"/>
              </a:tblGrid>
              <a:tr h="406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 Mensual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 Acumulado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BAC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46,240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39.6%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76,160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89,920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77.1%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Jun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105,120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105.6%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116.6%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146,400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125.5%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2468880"/>
            <a:ext cx="4114800" cy="3657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Indicadores de Línea Base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BAC = Q 116,640.00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Presupuesto total (incluye reservas):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Q 116,640 + Q 20,846 + Q 700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= Q 138,186.00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Curva S: perfil de gasto front-loaded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con pico en Mar-Abr 2026 (planif. + inicio ejec.)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Desembolso: el costo de mano de obra 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costo de oportunidad. Solo equipamiento y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materiales requieren desembolso en efectivo: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Q 6,800 (ya erogado el MacBook).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REQUISITOS DE FINANCIAMIENTO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Flujo de fondos necesario por período | PMBOK 8va, Costos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04241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828800"/>
                <a:gridCol w="2011680"/>
                <a:gridCol w="2011680"/>
                <a:gridCol w="2011680"/>
              </a:tblGrid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Mano de Obra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Erogaciones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Período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Acumulado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Febrero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 (MacBook)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22,880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22,880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Marzo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52,240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Abril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82,160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Mayo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95,920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Junio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111,120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Julio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129,200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Agosto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142,000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Septiembre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800 (materiales)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153,200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Contingencia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20,846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174,046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174,746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6032880"/>
            <a:ext cx="10972800" cy="731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Notas sobre Financiamiento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de fondos: recursos propios del tesista. No hay financiamiento externo (beca, patrocinio, o subvención).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 mano de obra es costo de oportunidad (no erogación). Las erogaciones reales son solo Q 6,800 (MacBook + materiales).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El flujo de fondos es front-loaded: 65% del presupuesto se concentra en Feb-Abr 2026 (fases de inicio, planificación y arranque de ejecución).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ESTRATEGIA DE FINANCIAMIENTO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Cómo se obtendrán y administrarán los fondos del proyecto | PMBOK 8va, Costos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 de Financiamiento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primaria: Recursos propios del tesista (Pablo Flores)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El proyecto no requiere financiamiento externo ya que: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El hardware principal (MacBook M1) ya fue adquirido previamente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El software es 100% open-source y gratuito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La mano de obra es aportada por el tesista como parte de su formación académica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Los costos de materiales son menores a Q 1,000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Estructura de costos: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Costos hundidos (ya incurridos): MacBook M1 Q 6,000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Costos futuros de materiales: Q 800 (impresión, empastado, posters)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Costos recurrentes absorbidos: internet Q 250/mes, electricidad ~Q 300 total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Costo de oportunidad (mano de obra): Q 109,840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 erogación en efectivo requerida: Q 800 (materiales para fase de cierre)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se requiere plan de financiamiento con entidades bancarias, inversionistas, o patrocinadores.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Administración de Fondos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Responsable: PM (Pablo Flores)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Mecanismo: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Cuenta bancaria personal existente (no se requiere cuenta dedicada)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Pago directo a proveedores (copistería) contra entrega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Control: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Registro de gastos en Excel vinculado al EVM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Facturas/recibos escaneados y archivados en Google Drive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Flujo de fondos: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Feb 2026: Q 0 (MacBook ya pagado previamente)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Sep 2026: Q 800 (impresión + posters)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Reservas: no requieren depósito previo (solo se usan si se materializan riesgos)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Cierre financiero: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Conciliación de gastos reales vs presupuesto en Sep 2026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Documentación de lecciones aprendidas en gestión financiera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Informe final de costos para el expediente del proyecto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  <a:latin typeface="Calibri"/>
              </a:defRPr>
            </a:pPr>
            <a:r>
              <a:t>PMBOK 8va Edición — Identificación, análisis cualitativo y cuantitativo, planificación de respuestas, implementación y monitoreo de riesgos del proyecto.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Define cómo se gestionarán los riesgos del proyecto | PMBOK 8va, Riesgos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Metodología de Gestión de Riesgos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Cualitativo-cuantitativo iterativo (PMBOK 8va)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 de identificación: quincenal (en reuniones con asesor)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Análisis: Probabilidad × Impacto monetario = Costo Esperado (CE)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Umbral de respuesta: CE &gt; Q 1,500 requiere plan de respuesta documentado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Herramientas: Excel (LoRA_Risk_Register_Analysis.xlsx), matriz Prob-Impacto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Categorías de riesgo: Técnico, Organizacional, Recursos Humanos, Calidad, Operativo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Estrategias de Respuesta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EVITAR: Cambiar enfoque/metodología si el riesgo es inaceptable (ej: cambiar modelo base si Qwen no carga)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MITIGAR: Reducir probabilidad (checkpointing, backups, revisiones anticipadas) y/o impacto (plan B)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TRANSFERIR: No aplica en proyecto académico individual (no hay seguros ni terceros que absorban riesgo)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ACEPTAR: Riesgos con CE &lt; Q 500 — monitorear sin plan de respuesta activo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ESCALAR: Al Director de Carrera si el riesgo impacta normativa FING o plazos institucionales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54864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Roles en Gestión de Riesgos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Identificación: PM + Asesor (en reuniones quincenales)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Análisis cualitativo: PM (matriz Prob-Impacto)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Análisis cuantitativo (EMV): PM (Excel), validado por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Planificación de respuestas: PM propone, asesor aprueba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Implementación: PM ejecuta las respuestas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Monitoreo: Revisión quincenal del registro de riesgos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Indicadores Clave de Riesgo (KRI)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KRI-1: Espera respuesta asesor &gt; 10 días → escalar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KRI-2: Loss NaN en entrenamiento → detener y revisar datos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KRI-3: Temperatura MacBook &gt; 85°C → pausar y refrigerar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KRI-4: Desviación cronograma &gt; 15% → plan de recuperación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KRI-5: Datasets con &gt; 5% de datos corruptos → reprocesar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REGISTRO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25 riesgos identificados | Contingencia total: Q 20,846.00 | PMBOK 8va, Riesgos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371600"/>
          <a:ext cx="97840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017520"/>
                <a:gridCol w="731520"/>
                <a:gridCol w="457200"/>
                <a:gridCol w="914400"/>
                <a:gridCol w="640080"/>
                <a:gridCol w="3474720"/>
              </a:tblGrid>
              <a:tr h="314325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 del Riesgo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Respuesta Planificada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 base Qwen3-4B no carga en 8GB RAM (OOM)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1,600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Quantización 4-bit GGUF; probar modelos más pequeños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Arquitectura experimental no viable con hardware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QLoRA 4-bit con MLX; gradient checkpointing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final interrumpido por falla hardware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Checkpointing cada 100 steps; respaldo en nube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Resultados del modelo final no superan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Ajustar rank LoRA (r=16→64); data augmentation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Tiempo de entrenamiento excede estimado (throttling)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1,350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Entrenar horarios nocturnos; ventilador externo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Observaciones extensas del asesor requieren reescritura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Organizacional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iterativa temprana; anticipar correcciones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Demora en resolución institucional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Organizacional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1,248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Escalar con Director; recordatorios cada 5 días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Rechazo del anteproyecto por comité evaluador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Organizacional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Reducir alcance; revisión previa con Director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encontrar datasets HDL/QA de calidad suficiente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900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Generar dataset sintético con GPT-4; web scraping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Datos de entrenamiento con corrupción no detectada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de validación automatizada; revisión manual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Retraso en asignación de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Recursos Humanos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2,520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882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Contactar múltiples candidatos simultáneamente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piloto diverge o produce 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Reducir learning rate; aumentar warmup steps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Modelos SOTA publicados usan GPU/A100 no reproducible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limitaciones; normalizar por recursos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VerilogEval v2 no ejecuta en entorno ARM/M1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Compilar dependencias nativas ARM; usar Rosetta 2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Metodología requiere cambios mayores tras revisión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Organizacional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Reuniones quincenales; enviar borradores por secciones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" y="6480000"/>
            <a:ext cx="11902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  <a:latin typeface="Calibri"/>
              </a:defRPr>
            </a:pPr>
            <a:r>
              <a:t>Muestra: 15 riesgos de 25. Registro completo en Excel LoRA_Risk_Register_Analysis.xlsx. CE Total = Q 20,846.00.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REPORTE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Resumen ejecutivo de la situación de riesgos | PMBOK 8va, Riesgos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Resumen General de Riesgos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 riesgos identificados: 25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Riesgos con plan de respuesta activo (CE &gt; Q 1,500): 12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Riesgos en monitoreo pasivo (CE &lt; Q 500): 5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Riesgos escalables al Director: 3 (R-01, R-02, R-04)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Costo Esperado Total (EMV): Q 20,846.00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Reserva de contingencia recomendada: Q 20,846.00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Reserva de gestión: Q 700.00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Perfil de riesgo del proyecto: MODERADO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La mayoría de riesgos son técnicos (15/25 = 60%)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Los riesgos organizacionales tienen alto impacto pero baja probabilidad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No hay riesgos catastróficos (impacto &gt; Q 10,000) identificados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Distribución por Categoría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Técnico: 15 riesgos | CE: Q 13,994 (67.1%)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Principales: R-10 (OOM), R-05 (hardware), R-13 (falla HW)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Organizacional: 7 riesgos | CE: Q 4,950 (23.7%)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Principales: R-20 (reescritura), R-01 (demora inst.)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Calidad: 1 riesgo | CE: Q 900 (4.3%)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R-08: Corrupción de datos de entrenamiento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Recursos Humanos: 1 riesgo | CE: Q 882 (4.2%)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R-02: Retraso en asignación de asesor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Operativo: 1 riesgo | CE: Q 120 (0.6%)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R-25: Error en impresión/empastado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Top 5 Riesgos por Costo Esperado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R-10: Modelo OOM en 8GB RAM (CE: Q 1,600) → Mitigar: quantización 4-bit GGUF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R-05: Arquitectura no viable en M1 (CE: Q 1,500) → Mitigar: QLoRA 4-bit con MLX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R-13: Falla hardware durante entrenamiento (CE: Q 1,500) → Mitigar: checkpointing + backup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R-14: Modelo no supera baseline (CE: Q 1,500) → Mitigar: ajuste hiperparámetros, data augmentation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R-12: Thermal throttling M1 (CE: Q 1,350) → Mitigar: entrenamiento nocturno + ventilación externa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REGISTRO DE LECCIONES APRENDIDAS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Conocimiento para mejorar desempeño actual y futuro | PMBOK 8va, Riesgos y General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371600"/>
          <a:ext cx="10789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2560320"/>
                <a:gridCol w="3017520"/>
                <a:gridCol w="3657600"/>
              </a:tblGrid>
              <a:tr h="52251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Lección Aprendida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Causa Raíz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Recomendación para Futuro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LL-001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Validar calendario antes de planificar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Crash ProjectLibre por &lt;Exceptions&gt; sin &lt;RecurrenceType&gt;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Probar XML en ProjectLibre antes de entregar; verificar compatibilidad de herramientas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Anticipar 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Demora en asignación afectó revisiones tempranas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Contactar candidatos desde la inscripción del tema; tener opciones de respaldo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LL-003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Validar hardware antes de diseñar arquitectura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8GB RAM obligó quantización agresiva (4-bit)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Hacer PoC de memoria antes de diseñar pipeline completo; probar con modelo pequeño primero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Versionar datos y checkpoints desde el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Corrupción de datos requirió reprocesar 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Usar DVC/Git LFS; checkpointing automático cada 100 steps; backup en nube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LL-005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minutas de todas las reuniones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Observaciones verbales del asesor se olvidaron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Enviar minuta en 24h post-reunión; confirmar entendimiento con el asesor por 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Reservar margen para correcciones del jurado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Espera por nota y correcciones puede extenderse más allá de lo planificado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Solicitar defensa con 2 semanas de anticipación; tener semana buffer post-defensa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200000"/>
            <a:ext cx="109728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" bIns="68580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Proceso de Lecciones Aprendidas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Recolección: Al finalizar cada fase del proyecto (5 momentos: Inicio, Planificación, Ejecución, M&amp;C, Cierre)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Análisis: Técnica de los 5 Porqués (5 Whys) para identificar causa raíz de cada desviación o problema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Documentación: Formato estandarizado en el Registro de Lecciones Aprendidas (parte de este Plan de Dirección)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Difusión: Incluir en repositorio GitHub del proyecto; compartir con futuros tesistas de FING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PLAN DE DIRECCIÓN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DCF0"/>
                </a:solidFill>
                <a:latin typeface="Calibri"/>
              </a:defRPr>
            </a:pPr>
            <a:r>
              <a:t>LoRA-HDL-QA — Proyecto de Graduación FING/UNIS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0"/>
                </a:solidFill>
                <a:latin typeface="Calibri"/>
              </a:defRPr>
            </a:pPr>
            <a:r>
              <a:t>Total: 55 diapositivas | PMBOK 8va Edición | 7 Dominios de Desempeño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Pablo Rodolfo Alexander Flores Mollinedo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0"/>
                </a:solidFill>
                <a:latin typeface="Calibri"/>
              </a:defRPr>
            </a:pPr>
            <a:r>
              <a:t>Universidad del Istmo de Guatemala — FING | Febrero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4158</Words>
  <Application>Microsoft Macintosh PowerPoint</Application>
  <PresentationFormat>Widescreen</PresentationFormat>
  <Paragraphs>843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RODOLFO ALEXANDER FLORES MOLLINEDO</cp:lastModifiedBy>
  <cp:revision>2</cp:revision>
  <dcterms:created xsi:type="dcterms:W3CDTF">2013-01-27T09:14:16Z</dcterms:created>
  <dcterms:modified xsi:type="dcterms:W3CDTF">2026-04-28T06:05:20Z</dcterms:modified>
  <cp:category/>
</cp:coreProperties>
</file>