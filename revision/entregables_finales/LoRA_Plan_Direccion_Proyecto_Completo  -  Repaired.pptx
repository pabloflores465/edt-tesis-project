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>
        <p:scale>
          <a:sx n="95" d="100"/>
          <a:sy n="95" d="100"/>
        </p:scale>
        <p:origin x="1760" y="7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200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36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285F4"/>
                </a:solidFill>
                <a:latin typeface="Calibri"/>
              </a:defRPr>
            </a:pPr>
            <a:r>
              <a:t>UNIVERSIDAD DEL ISTMO DE GUATEMALA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0"/>
            <a:ext cx="1036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DCF0"/>
                </a:solidFill>
                <a:latin typeface="Calibri"/>
              </a:defRPr>
            </a:pPr>
            <a:r>
              <a:t>Facultad de Ingeniería (FING)  |  Ingeniería en Sistemas y CC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1036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PLAN DE DIRECCIÓN DEL PROYECTO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1036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DCF0"/>
                </a:solidFill>
                <a:latin typeface="Calibri"/>
              </a:defRPr>
            </a:pPr>
            <a:r>
              <a:t>PMBOK 8va Edición — todos los documentos de iniciación y planificación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1036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Proyecto: LoRA-HDL-QA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1036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DCF0"/>
                </a:solidFill>
                <a:latin typeface="Calibri"/>
              </a:defRPr>
            </a:pPr>
            <a:r>
              <a:t>PM: Pablo Rodolfo Alexander Flores Mollinedo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54880"/>
            <a:ext cx="1036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DCF0"/>
                </a:solidFill>
                <a:latin typeface="Calibri"/>
              </a:defRPr>
            </a:pPr>
            <a:r>
              <a:t>Febrero — Septiembre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2743200"/>
            <a:ext cx="1219200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DOMINIO DE DESEMPEÑO:</a:t>
            </a:r>
            <a:br/>
            <a:r>
              <a:t>GOBERNANZA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6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8DCF0"/>
                </a:solidFill>
                <a:latin typeface="Calibri"/>
              </a:defRPr>
            </a:pPr>
            <a:r>
              <a:t>Un modelo de gestión alineado con los objetivos institucionales. Define estructuras de autoridad, toma de decisiones, y mecanismos de control del proyecto.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ACTA DE CONSTITUCIÓN DEL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Documento formal que autoriza el proyecto | PMBOK 8va, Gobernanza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146304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1A2744"/>
                </a:solidFill>
                <a:latin typeface="Calibri"/>
              </a:defRPr>
            </a:pPr>
            <a:r>
              <a:t>Información General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Proyecto: LoRA-HDL-QA — Degradación Catastrófica en Fine-Tuning LoRA para HDL/QA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PM: Pablo R. A. Flores Mollinedo | Director: Ing. Estuardo Rodríguez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Asesor: Por asignar | Período: Feb — Oct 2026 (1,287 h planificadas)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Tipo: Proyecto de graduación FING/UNIS — trabajo individual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486400" cy="146304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1A2744"/>
                </a:solidFill>
                <a:latin typeface="Calibri"/>
              </a:defRPr>
            </a:pPr>
            <a:r>
              <a:t>Caso de Negocio y Objetivos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Trabajo de graduación para cierre de pensum en Ingeniería en Sistemas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Investigar impacto de estrategias de preprocesamiento en fine-tuning LoRA para generación HDL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Contribuir al campo de ML aplicado a diseño de hardware con evidencia experimental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Objetivo: paper de investigación + repositorio reproducible + defensa oral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26080"/>
            <a:ext cx="5486400" cy="146304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1A2744"/>
                </a:solidFill>
                <a:latin typeface="Calibri"/>
              </a:defRPr>
            </a:pPr>
            <a:r>
              <a:t>Entregables de Alto Nivel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Anteproyecto aprobado por comité evaluador FING (Mar 2026)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Paper de investigación comparativo (2 configuraciones LoRA evaluadas en VerilogEval v2)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Repositorio GitHub público con scripts, pesos .safetensors, y resultados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Informe final formato FING/IMRaD + defensa oral ante jurado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926080"/>
            <a:ext cx="5486400" cy="146304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1A2744"/>
                </a:solidFill>
                <a:latin typeface="Calibri"/>
              </a:defRPr>
            </a:pPr>
            <a:r>
              <a:t>Hitos Clave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Inicio: Feb 02 | Inscripción + asesor: Feb 02-16 | Plan proyecto: Feb 17-26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Anteproyecto: Feb 26 — Mar 25 | Diseño metodológico: Mar 25 — Abr 08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Ejecución (entrenamiento + evaluación): Abr 08 — Ago 17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Cierre (correcciones + defensa): Ago 17 — Sep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80560"/>
            <a:ext cx="5486400" cy="146304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1A2744"/>
                </a:solidFill>
                <a:latin typeface="Calibri"/>
              </a:defRPr>
            </a:pPr>
            <a:r>
              <a:t>Presupuesto Estimado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Mano de obra: 1,287h × Q 80/hr = Q 102,960 directos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Equipo MacBook M1: Q 6,000 | Materiales: Q 800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Reserva de contingencia: Q 20,846 | Reserva de gestión: Q 700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TOTAL: Q 131,306 (incluye reservas)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480560"/>
            <a:ext cx="5486400" cy="146304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1A2744"/>
                </a:solidFill>
                <a:latin typeface="Calibri"/>
              </a:defRPr>
            </a:pPr>
            <a:r>
              <a:t>Interesados Clave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Director de Carrera: aprueba tema, supervisa defensa, resuelve conflictos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Asesor: orientación técnica, revisión de entregables, aprobación final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Comité evaluador: evalúa anteproyecto y defensa oral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Pablo Flores (PM/Tesista): ejecución total del proyecto, gestión y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000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66666"/>
                </a:solidFill>
                <a:latin typeface="Calibri"/>
              </a:defRPr>
            </a:pPr>
            <a:r>
              <a:t>Autoridad del PM: gestionar cronograma, presupuesto, y alcance. Escalar decisiones que afecten normativa UNIS al Director.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REGISTRO DE SUPUESTOS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  <a:latin typeface="Calibri"/>
              </a:defRPr>
            </a:pPr>
            <a:r>
              <a:t>Supuestos documentados durante la iniciación | PMBOK 8va, Gobernanza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0642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888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Supuesto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Certidumbre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Responsable de Validación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Disponibilidad de 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 contará con un asesor asignado antes del 16 de febrero 2026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Alta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Director de Carrera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Hardware adecuado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MacBook Air M1 8GB es suficiente para fine-tuning LoRA con quantización 4-bit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PM/Tesista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Datasets públicos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Existen datasets HDL/QA públicos de calidad suficiente para fine-tuning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PM/Tesista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Normativa estable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El reglamento de graduación FING no cambiará durante el proyecto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Director de Carrera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Disponibilidad del PM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El tesista mantendrá disponibilidad 100% durante el período del proyecto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Alta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PM/Tesista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Acceso a software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Python, HuggingFace, MLX, y librerías asociadas estarán disponibles sin costo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PM/Tesista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Plazos institucionales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Los tiempos de respuesta institucional no excederán 10 días hábiles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FING/UNIS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Modelo base accesible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Qwen3-4B será accesible en HuggingFace y cargable en 8GB 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PM/Tesista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VerilogEval funcional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El benchmark VerilogEval v2 será ejecutable en entorno ARM/M1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PM/Tesista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889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Sin cambios mayores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habrá cambios en el alcance del proyecto una vez aprobado el anteproyecto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 + Asesor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2743200"/>
            <a:ext cx="1219200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DOMINIO DE DESEMPEÑO:</a:t>
            </a:r>
            <a:br/>
            <a:r>
              <a:t>INTERESADOS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6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8DCF0"/>
                </a:solidFill>
                <a:latin typeface="Calibri"/>
              </a:defRPr>
            </a:pPr>
            <a:r>
              <a:t>Identificación, análisis, involucramiento y comunicación efectiva con todas las partes interesadas del proyecto.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REGISTRO DE INTERESADOS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  <a:latin typeface="Calibri"/>
              </a:defRPr>
            </a:pPr>
            <a:r>
              <a:t>Identificar, clasificar y documentar a todos los interesados | PMBOK 8va, Interesados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042416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9827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Nombre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 en el Proyecto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Clasificación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Poder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Interés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Estrategia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82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Pablo Flores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 / Tesista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Interno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Alto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Alto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Gestionar de cerca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82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Asesor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Orientador técnico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Gestionar de cerca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82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Director de Carrera FING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Autoridad académica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Interno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Alto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Mantener satisfecho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82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Comité Evaluador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Aprobación anteproyecto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Bajo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Mantener satisfecho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82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Jurado de Defensa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Evaluación final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Interno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Alto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Bajo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Mantener satisfecho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82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Coordinador de Tesis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Procesos administrativos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Gestionar de cerca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82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Biblioteca FING/UNIS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Recepción y archivo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Interno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Bajo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Bajo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Monitorear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982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Estudiantes FING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Audiencia académica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Externo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Bajo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Bajo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Monitorear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982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Comunidad ML/HW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Investigadores en HDL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Externo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Bajo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Bajo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Monitorear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982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HuggingFace / GitHub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Plataformas de publicación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Externo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Bajo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Mantener informado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982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UNIS — Rectoría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Aval institucional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Externo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Bajo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Bajo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Monitorear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983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Familia 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Apoyo logístico y moral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Externo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Bajo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Mantener informado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PLAN DEL INVOLUCRAMIENTO DE LOS INTERESADOS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Estrategias por grupo para promover participación productiva | PMBOK 8va, Interesados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277600" cy="8229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Pablo Flores (PM)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Rol: Líder, ejecutor, controlador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Frecuencia: 100% diario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Enfoque: Reportes de avance, reuniones semanales, actualización cronograma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11277600" cy="8229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Asesor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Rol: Revisor técnico, mentor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Frecuencia: Reunión semanal 1h + revisión hitos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Enfoque: Minutas de reunión, borradores para revisión, reportes de avance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00400"/>
            <a:ext cx="11277600" cy="8229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Director de Carrera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Rol: Aprobador, escalamiento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Frecuencia: Hitos: inicio, anteproyecto, defensa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Enfoque: Solicitudes formales, notificaciones de hitos, reportes de estado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114800"/>
            <a:ext cx="11277600" cy="8229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Comité Evaluador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Rol: Evaluador de anteproyecto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Frecuencia: Marzo 2026 (único)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Enfoque: Documento de anteproyecto impreso y digital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029200"/>
            <a:ext cx="11277600" cy="8229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Jurado de Defensa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Rol: Evaluador final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Frecuencia: Septiembre 2026 (único)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Enfoque: Informe final, presentación defensa, demo técnico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943600"/>
            <a:ext cx="11277600" cy="8229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Coordinador de Tesis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Rol: Gestor de trámites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Frecuencia: Según necesidad administrativa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Enfoque: Formularios, solicitudes, constancias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PLAN DE GESTIÓN DE LAS COMUNICACIONES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Políticas para gestionar comunicaciones | PMBOK 8va, Interesados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5214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Comunicación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 → Para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Frecuencia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Medio / Canal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Entregable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Receptor Final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Reunión semanal 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 → 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Semanal (1h)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Presencial / Zoom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Minuta en 24h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Reporte de avance mensual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 → Asesor + Director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Mensual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Email + 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EVM: SPI, SV, CPI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Director, Asesor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Notificación de hitos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 → Asesor + Director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 completar hitos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Email formal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Acta o documento del hito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Director, 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Solicitud de cambio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 → Asesor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Según necesidad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Formato estándar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Evaluación en 5 días hábiles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Asesor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Notificación de riesgos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 → 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 detectarse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Email / WhatsApp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Registro de riesgos actualizado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Entrega de documento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 → Asesor / Comité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 completar versiones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PDF + impreso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Acuse de recibo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Director, Comité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Defensa oral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 → Jurado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Sep 2026 (único)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Presencial UNIS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Presentación + demo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Jurado, Director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Publicación en GitHub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 → Comunidad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Post-defensa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Repositorio público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README + instrucciones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Comunidad ML/HW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MATRIZ DE COMUNICACIONES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Calibri"/>
              </a:defRPr>
            </a:pPr>
            <a:r>
              <a:t>Detalle de flujos de información entre interesados | PMBOK 8va, Interesados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Tipo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Medio/Canal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Frecuencia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Formato/Entregable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Audiencia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Responsable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Reunión semanal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Presencial/Zoom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Semanal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Minuta de reunión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PM, 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Avance mensual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Email + 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Mensual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Informe de avance (EVM)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PM, Asesor, Director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Alerta de riesgo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WhatsApp/Email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Inmediato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Notificación de riesgo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PM, 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Cualquiera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Solicitud de cambio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Formato + 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Según necesidad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RFC (Request for Change)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PM, Asesor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Convocatoria defensa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Email formal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Una vez (Sep 2026)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Carta de convocatoria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PM, Director, Jurado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Publicación repo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GitHub / HuggingFace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Post-defensa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README + paper + pesos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Comunidad global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Consulta normativa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Email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Según necesidad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Solicitud formal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PM, Coordinador Tesis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2743200"/>
            <a:ext cx="1219200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DOMINIO DE DESEMPEÑO:</a:t>
            </a:r>
            <a:br/>
            <a:r>
              <a:t>ALCANCE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6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8DCF0"/>
                </a:solidFill>
                <a:latin typeface="Calibri"/>
              </a:defRPr>
            </a:pPr>
            <a:r>
              <a:t>Definición, validación y control del alcance del proyecto y del producto. Incluye requisitos, EDT, y trazabilidad.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PLAN DE GESTIÓN DEL ALCANCE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Define cómo se planificará, gestionará y controlará el alcance | PMBOK 8va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16459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1A2744"/>
                </a:solidFill>
                <a:latin typeface="Calibri"/>
              </a:defRPr>
            </a:pPr>
            <a:r>
              <a:t>Proceso de Definición del Alcance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1. Recopilar requisitos: entrevistas con asesor, análisis de normativa FING, revisión de literatura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2. Elaborar Enunciado del Alcance: descripción, entregables, criterios de aceptación, exclusiones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3. Crear EDT/WBS: descomposición jerárquica hasta nivel 4 (paquetes de trabajo de 3-31h)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4. Validar alcance con asesor y Director de Carrera antes de congelar línea base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029200" cy="16459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1A2744"/>
                </a:solidFill>
                <a:latin typeface="Calibri"/>
              </a:defRPr>
            </a:pPr>
            <a:r>
              <a:t>Control del Alcance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Línea base congelada tras aprobación del anteproyecto (Mar 2026)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Cualquier cambio requiere Solicitud de Cambio formal → evaluación asesor → aprobación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Métricas: % de paquetes EDT completados vs planificados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Verificación: entregables validados contra criterios de aceptación documentados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00400"/>
            <a:ext cx="10972800" cy="16459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1A2744"/>
                </a:solidFill>
                <a:latin typeface="Calibri"/>
              </a:defRPr>
            </a:pPr>
            <a:r>
              <a:t>Exclusiones del Alcance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No incluye desarrollo de hardware (FPGA/ASIC) ni pruebas en silicio real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No incluye entrenamiento en clusters GPU multi-nodo (limitado a hardware M1 8GB local)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No incluye implementación de un IDE o herramienta de software interactiva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No cubre fine-tuning de modelos mayores a 4B parámetros (restricción de RAM)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No incluye publicación en revistas indexadas (solo repositorio público y defensa oral FING)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PLAN DE GESTIÓN DE REQUISITOS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Define cómo se recopilarán, analizarán y gestionarán los requisitos | PMBOK 8va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146304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1A2744"/>
                </a:solidFill>
                <a:latin typeface="Calibri"/>
              </a:defRPr>
            </a:pPr>
            <a:r>
              <a:t>Recopilación de Requisitos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Fuentes: normativa FING, guía de tesis UNIS, reuniones con asesor, papers de referencia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Técnicas: entrevistas estructuradas con asesor, análisis documental, benchmark de proyectos similares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Clasificación: RF (Funcionales), RNF (No Funcionales), RP (Procedimentales)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Priorización: MoSCoW — Must have (M), Should have (S), Could have (C), Won't have (W)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029200" cy="146304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1A2744"/>
                </a:solidFill>
                <a:latin typeface="Calibri"/>
              </a:defRPr>
            </a:pPr>
            <a:r>
              <a:t>Trazabilidad y Validación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Matriz de trazabilidad: cada requisito vinculado a EDT, entregable y criterio de aceptación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Validación: revisión con asesor en hitos de planificación y cierre de fase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Verificación: scripts de prueba automatizados para requisitos técnicos (RNF-01, RF-01)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Control de cambios: modificaciones a requisitos siguen proceso formal de gestión de cambios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08960"/>
            <a:ext cx="10972800" cy="16459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1A2744"/>
                </a:solidFill>
                <a:latin typeface="Calibri"/>
              </a:defRPr>
            </a:pPr>
            <a:r>
              <a:t>Métricas y KPIs de Requisitos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Cobertura de trazabilidad: 100% de requisitos con EDT, entregable y criterio de aceptación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Tasa de aprobación: % de requisitos validados por asesor vs total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Estabilidad: número de cambios a requisitos post-aprobación del anteproyecto (meta: &lt;3)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Cumplimiento: % de criterios de aceptación satisfechos al cierre de cada fase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DOCUMENTACIÓN DE REQUISITOS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  <a:latin typeface="Calibri"/>
              </a:defRPr>
            </a:pPr>
            <a:r>
              <a:t>Registro y clasificación de requerimientos | PMBOK 8va, Alcance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0642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6861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Propósito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Prioridad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Origen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Entregable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Criterio de Aceptación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 configuraciones fine-tuning LoRA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Comparar chunking vs filtrado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E-04, E-05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 archivos .safetensors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Evaluar con VerilogEval v2 (156 prob.)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Benchmark estandarizado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Script + JSON 156 entradas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Cuantificar corrupción en datos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Reproducir hallazgo del paper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E-04, E-06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verify_paper_numbers.py ejecutable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Scripts verificación reproducción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Reproducibilidad científica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Scripts sin errores en entorno limpio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Hardware real (M1 8GB)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Condición experimental real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Logs con ID hardware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Informe formato FING + IMRaD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Requisito de grado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E-07, E-10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Aprobación asesor + tribunal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Repositorio estructura clara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Divulgación científica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README instrucciones reproducción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Cronograma máximo 360h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Restricción institucional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Registro horas ≤ 360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Inscripción + asesor (Feb.)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Procedimiento FING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Constancia + carta 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Anteproyecto aprobado (Mar.)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Procedimiento FING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Visto bueno Director + Asesor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Avances ejecución (Abr-Ago)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Procedimiento FING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E-03, E-07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Documentos entregados y revisados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868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Defensa + entrega final (Sep.)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Procedimiento FING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E-09, E-10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Acta defensa + constancia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ENUNCIADO DEL ALCANCE DEL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Descripción detallada del alcance, entregables, criterios de aceptación y exclusiones | PMBOK 8va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0972800" cy="12801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1A2744"/>
                </a:solidFill>
                <a:latin typeface="Calibri"/>
              </a:defRPr>
            </a:pPr>
            <a:r>
              <a:t>Descripción del Alcance del Producto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Investigación científica documentada sobre el impacto del preprocesamiento de datos de entrenamiento en la degradación catastrófica de fine-tuning LoRA para generación de HDL.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Dos configuraciones experimentales: (a) filtrado de datasets por calidad, (b) chunking estratégico del corpus de entrenamiento.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Evaluación comparativa usando VerilogEval v2 (156 problemas) con métricas BLEU, exactitud sintáctica, y PASS@k.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834640"/>
            <a:ext cx="5486400" cy="18288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Entregables del Proyecto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E-01: Inscripción formal del tema (Feb 2026)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E-02: Anteproyecto aprobado (Mar 2026)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E-03: Avances de ejecución (Abr-Ago 2026)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E-04: Scripts y repositorio (Ago 2026)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E-05: Modelos LoRA fine-tuned (.safetensors)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E-06: Resultados de benchmark (JSON + gráficas)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E-07: Informe final formato FING/IMRaD (Ago 2026)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E-08: Cronograma y registro de horas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E-09: Defensa oral (Sep 2026)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E-10: Entrega final a Biblioteca FING (Sep 2026)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5029200" cy="9144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Criterios de Aceptación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Anteproyecto: aprobado por comité evaluador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Informe final: aprobado por asesor y tribunal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Repositorio: README + instrucciones de reproducción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Scripts: ejecutables sin errores en entorno limpio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931920"/>
            <a:ext cx="5029200" cy="9144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Restricciones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Hardware: MacBook Air M1 8GB RAM (no GPU dedicada)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Tiempo: máximo 360 horas de esfuerzo efectivo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Presupuesto: Q 6,800 máximo en no-humanos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Alcance: 2 configuraciones LoRA comparativas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029200"/>
            <a:ext cx="10972800" cy="8229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Exclusiones Explícitas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No incluye desarrollo de hardware (FPGA/ASIC) | No incluye implementación de herramienta de software | No cubre modelos &gt;4B parámetros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No incluye publicación en revistas indexadas | No incluye entrenamiento multi-GPU | No cubre más de 2 configuraciones experimentales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EDT / WBS — ESTRUCTURA DE DESGLOSE DEL TRABAJO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Calibri"/>
              </a:defRPr>
            </a:pPr>
            <a:r>
              <a:t>Descomposición jerárquica del alcance total en 16 paquetes de trabajo | PMBOK 8va, Alcance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2744"/>
                </a:solidFill>
                <a:latin typeface="Calibri"/>
              </a:defRPr>
            </a:pPr>
            <a:r>
              <a:t>Diagrama EDT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554480"/>
            <a:ext cx="2743200" cy="411480"/>
          </a:xfrm>
          <a:prstGeom prst="round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1430" rIns="22860" bIns="11430" rtlCol="0" anchor="ctr"/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Proyecto de Graduación</a:t>
            </a:r>
          </a:p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LoRA-HDL-QA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3000" y="2286000"/>
            <a:ext cx="2100000" cy="530000"/>
          </a:xfrm>
          <a:prstGeom prst="roundRect">
            <a:avLst/>
          </a:prstGeom>
          <a:solidFill>
            <a:srgbClr val="428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1430" rIns="22860" bIns="11430" rtlCol="0" anchor="ctr"/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1.1 INICIO</a:t>
            </a:r>
          </a:p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148h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8000" y="2286000"/>
            <a:ext cx="2100000" cy="530000"/>
          </a:xfrm>
          <a:prstGeom prst="roundRect">
            <a:avLst/>
          </a:prstGeom>
          <a:solidFill>
            <a:srgbClr val="428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1430" rIns="22860" bIns="11430" rtlCol="0" anchor="ctr"/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1.2 PLANIFICACIÓN</a:t>
            </a:r>
          </a:p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235h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34000" y="2286000"/>
            <a:ext cx="2100000" cy="530000"/>
          </a:xfrm>
          <a:prstGeom prst="roundRect">
            <a:avLst/>
          </a:prstGeom>
          <a:solidFill>
            <a:srgbClr val="428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1430" rIns="22860" bIns="11430" rtlCol="0" anchor="ctr"/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1.3 EJECUCIÓN</a:t>
            </a:r>
          </a:p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744h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286000"/>
            <a:ext cx="2100000" cy="530000"/>
          </a:xfrm>
          <a:prstGeom prst="roundRect">
            <a:avLst/>
          </a:prstGeom>
          <a:solidFill>
            <a:srgbClr val="428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1430" rIns="22860" bIns="11430" rtlCol="0" anchor="ctr"/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1.4 MONITOREO</a:t>
            </a:r>
          </a:p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Y CONTROL</a:t>
            </a:r>
          </a:p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86h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2286000"/>
            <a:ext cx="2100000" cy="530000"/>
          </a:xfrm>
          <a:prstGeom prst="roundRect">
            <a:avLst/>
          </a:prstGeom>
          <a:solidFill>
            <a:srgbClr val="428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1430" rIns="22860" bIns="11430" rtlCol="0" anchor="ctr"/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1.5 CIERRE</a:t>
            </a:r>
          </a:p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160h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1233000" y="1965960"/>
            <a:ext cx="4710600" cy="32004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3428000" y="1965960"/>
            <a:ext cx="2515600" cy="32004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5684000" y="1965960"/>
            <a:ext cx="259600" cy="32004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943600" y="1965960"/>
            <a:ext cx="1964400" cy="32004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943600" y="1965960"/>
            <a:ext cx="4158960" cy="32004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0000" y="3018000"/>
            <a:ext cx="550000" cy="457200"/>
          </a:xfrm>
          <a:prstGeom prst="roundRect">
            <a:avLst/>
          </a:prstGeom>
          <a:solidFill>
            <a:srgbClr val="C8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1430" rIns="22860" bIns="11430" rtlCol="0" anchor="ctr"/>
          <a:lstStyle/>
          <a:p>
            <a:pPr algn="l">
              <a:defRPr sz="600" b="1">
                <a:solidFill>
                  <a:srgbClr val="1A2744"/>
                </a:solidFill>
                <a:latin typeface="Calibri"/>
              </a:defRPr>
            </a:pPr>
            <a:r>
              <a:t>1.1.1 Inscripción</a:t>
            </a:r>
          </a:p>
          <a:p>
            <a:pPr algn="l">
              <a:defRPr sz="600" b="1">
                <a:solidFill>
                  <a:srgbClr val="1A2744"/>
                </a:solidFill>
                <a:latin typeface="Calibri"/>
              </a:defRPr>
            </a:pPr>
            <a:r>
              <a:t>del Tema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000" y="3018000"/>
            <a:ext cx="550000" cy="457200"/>
          </a:xfrm>
          <a:prstGeom prst="roundRect">
            <a:avLst/>
          </a:prstGeom>
          <a:solidFill>
            <a:srgbClr val="C8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1430" rIns="22860" bIns="11430" rtlCol="0" anchor="ctr"/>
          <a:lstStyle/>
          <a:p>
            <a:pPr algn="l">
              <a:defRPr sz="600" b="1">
                <a:solidFill>
                  <a:srgbClr val="1A2744"/>
                </a:solidFill>
                <a:latin typeface="Calibri"/>
              </a:defRPr>
            </a:pPr>
            <a:r>
              <a:t>1.1.2 Asignación</a:t>
            </a:r>
          </a:p>
          <a:p>
            <a:pPr algn="l">
              <a:defRPr sz="600" b="1">
                <a:solidFill>
                  <a:srgbClr val="1A2744"/>
                </a:solidFill>
                <a:latin typeface="Calibri"/>
              </a:defRPr>
            </a:pPr>
            <a:r>
              <a:t>de Asesor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20000" y="3018000"/>
            <a:ext cx="550000" cy="457200"/>
          </a:xfrm>
          <a:prstGeom prst="roundRect">
            <a:avLst/>
          </a:prstGeom>
          <a:solidFill>
            <a:srgbClr val="C8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1430" rIns="22860" bIns="11430" rtlCol="0" anchor="ctr"/>
          <a:lstStyle/>
          <a:p>
            <a:pPr algn="l">
              <a:defRPr sz="600" b="1">
                <a:solidFill>
                  <a:srgbClr val="1A2744"/>
                </a:solidFill>
                <a:latin typeface="Calibri"/>
              </a:defRPr>
            </a:pPr>
            <a:r>
              <a:t>1.1.3 Plan del</a:t>
            </a:r>
          </a:p>
          <a:p>
            <a:pPr algn="l">
              <a:defRPr sz="600" b="1">
                <a:solidFill>
                  <a:srgbClr val="1A2744"/>
                </a:solidFill>
                <a:latin typeface="Calibri"/>
              </a:defRPr>
            </a:pPr>
            <a:r>
              <a:t>Proyecto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70000" y="3018000"/>
            <a:ext cx="730000" cy="457200"/>
          </a:xfrm>
          <a:prstGeom prst="roundRect">
            <a:avLst/>
          </a:prstGeom>
          <a:solidFill>
            <a:srgbClr val="C8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1430" rIns="22860" bIns="11430" rtlCol="0" anchor="ctr"/>
          <a:lstStyle/>
          <a:p>
            <a:pPr algn="l">
              <a:defRPr sz="600" b="1">
                <a:solidFill>
                  <a:srgbClr val="1A2744"/>
                </a:solidFill>
                <a:latin typeface="Calibri"/>
              </a:defRPr>
            </a:pPr>
            <a:r>
              <a:t>1.2.1 Anteproyecto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00000" y="3018000"/>
            <a:ext cx="730000" cy="457200"/>
          </a:xfrm>
          <a:prstGeom prst="roundRect">
            <a:avLst/>
          </a:prstGeom>
          <a:solidFill>
            <a:srgbClr val="C8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1430" rIns="22860" bIns="11430" rtlCol="0" anchor="ctr"/>
          <a:lstStyle/>
          <a:p>
            <a:pPr algn="l">
              <a:defRPr sz="600" b="1">
                <a:solidFill>
                  <a:srgbClr val="1A2744"/>
                </a:solidFill>
                <a:latin typeface="Calibri"/>
              </a:defRPr>
            </a:pPr>
            <a:r>
              <a:t>1.2.2 Diseño</a:t>
            </a:r>
          </a:p>
          <a:p>
            <a:pPr algn="l">
              <a:defRPr sz="600" b="1">
                <a:solidFill>
                  <a:srgbClr val="1A2744"/>
                </a:solidFill>
                <a:latin typeface="Calibri"/>
              </a:defRPr>
            </a:pPr>
            <a:r>
              <a:t>Metodológico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0000" y="3018000"/>
            <a:ext cx="650000" cy="457200"/>
          </a:xfrm>
          <a:prstGeom prst="roundRect">
            <a:avLst/>
          </a:prstGeom>
          <a:solidFill>
            <a:srgbClr val="C8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1430" rIns="22860" bIns="11430" rtlCol="0" anchor="ctr"/>
          <a:lstStyle/>
          <a:p>
            <a:pPr algn="l">
              <a:defRPr sz="600" b="1">
                <a:solidFill>
                  <a:srgbClr val="1A2744"/>
                </a:solidFill>
                <a:latin typeface="Calibri"/>
              </a:defRPr>
            </a:pPr>
            <a:r>
              <a:t>1.3.1 Marco</a:t>
            </a:r>
          </a:p>
          <a:p>
            <a:pPr algn="l">
              <a:defRPr sz="600" b="1">
                <a:solidFill>
                  <a:srgbClr val="1A2744"/>
                </a:solidFill>
                <a:latin typeface="Calibri"/>
              </a:defRPr>
            </a:pPr>
            <a:r>
              <a:t>Teórico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30000" y="3018000"/>
            <a:ext cx="650000" cy="457200"/>
          </a:xfrm>
          <a:prstGeom prst="roundRect">
            <a:avLst/>
          </a:prstGeom>
          <a:solidFill>
            <a:srgbClr val="C8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1430" rIns="22860" bIns="11430" rtlCol="0" anchor="ctr"/>
          <a:lstStyle/>
          <a:p>
            <a:pPr algn="l">
              <a:defRPr sz="600" b="1">
                <a:solidFill>
                  <a:srgbClr val="1A2744"/>
                </a:solidFill>
                <a:latin typeface="Calibri"/>
              </a:defRPr>
            </a:pPr>
            <a:r>
              <a:t>1.3.2 Preproc.</a:t>
            </a:r>
          </a:p>
          <a:p>
            <a:pPr algn="l">
              <a:defRPr sz="600" b="1">
                <a:solidFill>
                  <a:srgbClr val="1A2744"/>
                </a:solidFill>
                <a:latin typeface="Calibri"/>
              </a:defRPr>
            </a:pPr>
            <a:r>
              <a:t>de Datos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60000" y="3018000"/>
            <a:ext cx="650000" cy="457200"/>
          </a:xfrm>
          <a:prstGeom prst="roundRect">
            <a:avLst/>
          </a:prstGeom>
          <a:solidFill>
            <a:srgbClr val="C8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1430" rIns="22860" bIns="11430" rtlCol="0" anchor="ctr"/>
          <a:lstStyle/>
          <a:p>
            <a:pPr algn="l">
              <a:defRPr sz="600" b="1">
                <a:solidFill>
                  <a:srgbClr val="1A2744"/>
                </a:solidFill>
                <a:latin typeface="Calibri"/>
              </a:defRPr>
            </a:pPr>
            <a:r>
              <a:t>1.3.3 Entrenam.</a:t>
            </a:r>
          </a:p>
          <a:p>
            <a:pPr algn="l">
              <a:defRPr sz="600" b="1">
                <a:solidFill>
                  <a:srgbClr val="1A2744"/>
                </a:solidFill>
                <a:latin typeface="Calibri"/>
              </a:defRPr>
            </a:pPr>
            <a:r>
              <a:t>LoRA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0000" y="3650000"/>
            <a:ext cx="650000" cy="457200"/>
          </a:xfrm>
          <a:prstGeom prst="roundRect">
            <a:avLst/>
          </a:prstGeom>
          <a:solidFill>
            <a:srgbClr val="C8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1430" rIns="22860" bIns="11430" rtlCol="0" anchor="ctr"/>
          <a:lstStyle/>
          <a:p>
            <a:pPr algn="l">
              <a:defRPr sz="600" b="1">
                <a:solidFill>
                  <a:srgbClr val="1A2744"/>
                </a:solidFill>
                <a:latin typeface="Calibri"/>
              </a:defRPr>
            </a:pPr>
            <a:r>
              <a:t>1.3.4 Evaluac.</a:t>
            </a:r>
          </a:p>
          <a:p>
            <a:pPr algn="l">
              <a:defRPr sz="600" b="1">
                <a:solidFill>
                  <a:srgbClr val="1A2744"/>
                </a:solidFill>
                <a:latin typeface="Calibri"/>
              </a:defRPr>
            </a:pPr>
            <a:r>
              <a:t>Benchmark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30000" y="3650000"/>
            <a:ext cx="650000" cy="457200"/>
          </a:xfrm>
          <a:prstGeom prst="roundRect">
            <a:avLst/>
          </a:prstGeom>
          <a:solidFill>
            <a:srgbClr val="C8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1430" rIns="22860" bIns="11430" rtlCol="0" anchor="ctr"/>
          <a:lstStyle/>
          <a:p>
            <a:pPr algn="l">
              <a:defRPr sz="600" b="1">
                <a:solidFill>
                  <a:srgbClr val="1A2744"/>
                </a:solidFill>
                <a:latin typeface="Calibri"/>
              </a:defRPr>
            </a:pPr>
            <a:r>
              <a:t>1.3.5 Análisis</a:t>
            </a:r>
          </a:p>
          <a:p>
            <a:pPr algn="l">
              <a:defRPr sz="600" b="1">
                <a:solidFill>
                  <a:srgbClr val="1A2744"/>
                </a:solidFill>
                <a:latin typeface="Calibri"/>
              </a:defRPr>
            </a:pPr>
            <a:r>
              <a:t>Resultados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60000" y="3650000"/>
            <a:ext cx="650000" cy="457200"/>
          </a:xfrm>
          <a:prstGeom prst="roundRect">
            <a:avLst/>
          </a:prstGeom>
          <a:solidFill>
            <a:srgbClr val="C8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1430" rIns="22860" bIns="11430" rtlCol="0" anchor="ctr"/>
          <a:lstStyle/>
          <a:p>
            <a:pPr algn="l">
              <a:defRPr sz="600" b="1">
                <a:solidFill>
                  <a:srgbClr val="1A2744"/>
                </a:solidFill>
                <a:latin typeface="Calibri"/>
              </a:defRPr>
            </a:pPr>
            <a:r>
              <a:t>1.3.6 Redacción</a:t>
            </a:r>
          </a:p>
          <a:p>
            <a:pPr algn="l">
              <a:defRPr sz="600" b="1">
                <a:solidFill>
                  <a:srgbClr val="1A2744"/>
                </a:solidFill>
                <a:latin typeface="Calibri"/>
              </a:defRPr>
            </a:pPr>
            <a:r>
              <a:t>Informe Final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20000" y="3650000"/>
            <a:ext cx="700000" cy="457200"/>
          </a:xfrm>
          <a:prstGeom prst="roundRect">
            <a:avLst/>
          </a:prstGeom>
          <a:solidFill>
            <a:srgbClr val="C8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1430" rIns="22860" bIns="11430" rtlCol="0" anchor="ctr"/>
          <a:lstStyle/>
          <a:p>
            <a:pPr algn="l">
              <a:defRPr sz="600" b="1">
                <a:solidFill>
                  <a:srgbClr val="1A2744"/>
                </a:solidFill>
                <a:latin typeface="Calibri"/>
              </a:defRPr>
            </a:pPr>
            <a:r>
              <a:t>1.4.1 Seguimiento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20000" y="3650000"/>
            <a:ext cx="700000" cy="457200"/>
          </a:xfrm>
          <a:prstGeom prst="roundRect">
            <a:avLst/>
          </a:prstGeom>
          <a:solidFill>
            <a:srgbClr val="C8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1430" rIns="22860" bIns="11430" rtlCol="0" anchor="ctr"/>
          <a:lstStyle/>
          <a:p>
            <a:pPr algn="l">
              <a:defRPr sz="600" b="1">
                <a:solidFill>
                  <a:srgbClr val="1A2744"/>
                </a:solidFill>
                <a:latin typeface="Calibri"/>
              </a:defRPr>
            </a:pPr>
            <a:r>
              <a:t>1.4.2 Control</a:t>
            </a:r>
          </a:p>
          <a:p>
            <a:pPr algn="l">
              <a:defRPr sz="600" b="1">
                <a:solidFill>
                  <a:srgbClr val="1A2744"/>
                </a:solidFill>
                <a:latin typeface="Calibri"/>
              </a:defRPr>
            </a:pPr>
            <a:r>
              <a:t>de Cambios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20000" y="3018000"/>
            <a:ext cx="700000" cy="457200"/>
          </a:xfrm>
          <a:prstGeom prst="roundRect">
            <a:avLst/>
          </a:prstGeom>
          <a:solidFill>
            <a:srgbClr val="C8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1430" rIns="22860" bIns="11430" rtlCol="0" anchor="ctr"/>
          <a:lstStyle/>
          <a:p>
            <a:pPr algn="l">
              <a:defRPr sz="600" b="1">
                <a:solidFill>
                  <a:srgbClr val="1A2744"/>
                </a:solidFill>
                <a:latin typeface="Calibri"/>
              </a:defRPr>
            </a:pPr>
            <a:r>
              <a:t>1.5.1 Correcc.</a:t>
            </a:r>
          </a:p>
          <a:p>
            <a:pPr algn="l">
              <a:defRPr sz="600" b="1">
                <a:solidFill>
                  <a:srgbClr val="1A2744"/>
                </a:solidFill>
                <a:latin typeface="Calibri"/>
              </a:defRPr>
            </a:pPr>
            <a:r>
              <a:t>Finales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20000" y="3018000"/>
            <a:ext cx="700000" cy="457200"/>
          </a:xfrm>
          <a:prstGeom prst="roundRect">
            <a:avLst/>
          </a:prstGeom>
          <a:solidFill>
            <a:srgbClr val="C8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1430" rIns="22860" bIns="11430" rtlCol="0" anchor="ctr"/>
          <a:lstStyle/>
          <a:p>
            <a:pPr algn="l">
              <a:defRPr sz="600" b="1">
                <a:solidFill>
                  <a:srgbClr val="1A2744"/>
                </a:solidFill>
                <a:latin typeface="Calibri"/>
              </a:defRPr>
            </a:pPr>
            <a:r>
              <a:t>1.5.2 Defensa</a:t>
            </a:r>
          </a:p>
          <a:p>
            <a:pPr algn="l">
              <a:defRPr sz="600" b="1">
                <a:solidFill>
                  <a:srgbClr val="1A2744"/>
                </a:solidFill>
                <a:latin typeface="Calibri"/>
              </a:defRPr>
            </a:pPr>
            <a:r>
              <a:t>Pública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720000" y="3018000"/>
            <a:ext cx="700000" cy="457200"/>
          </a:xfrm>
          <a:prstGeom prst="roundRect">
            <a:avLst/>
          </a:prstGeom>
          <a:solidFill>
            <a:srgbClr val="C8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1430" rIns="22860" bIns="11430" rtlCol="0" anchor="ctr"/>
          <a:lstStyle/>
          <a:p>
            <a:pPr algn="l">
              <a:defRPr sz="600" b="1">
                <a:solidFill>
                  <a:srgbClr val="1A2744"/>
                </a:solidFill>
                <a:latin typeface="Calibri"/>
              </a:defRPr>
            </a:pPr>
            <a:r>
              <a:t>1.5.3 Entrega</a:t>
            </a:r>
          </a:p>
          <a:p>
            <a:pPr algn="l">
              <a:defRPr sz="600" b="1">
                <a:solidFill>
                  <a:srgbClr val="1A2744"/>
                </a:solidFill>
                <a:latin typeface="Calibri"/>
              </a:defRPr>
            </a:pPr>
            <a:r>
              <a:t>y Cierre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555000" y="2816000"/>
            <a:ext cx="678000" cy="20200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1175000" y="2816000"/>
            <a:ext cx="58000" cy="20200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233000" y="2816000"/>
            <a:ext cx="562000" cy="20200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2835000" y="2816000"/>
            <a:ext cx="593000" cy="20200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428000" y="2816000"/>
            <a:ext cx="237000" cy="20200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5025000" y="2816000"/>
            <a:ext cx="659000" cy="20200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5025000" y="2816000"/>
            <a:ext cx="659000" cy="83400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684000" y="2816000"/>
            <a:ext cx="71000" cy="20200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684000" y="2816000"/>
            <a:ext cx="71000" cy="83400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684000" y="2816000"/>
            <a:ext cx="801000" cy="20200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684000" y="2816000"/>
            <a:ext cx="801000" cy="83400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7270000" y="2816000"/>
            <a:ext cx="638000" cy="83400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908000" y="2816000"/>
            <a:ext cx="162000" cy="83400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9470000" y="2816000"/>
            <a:ext cx="632560" cy="20200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0102560" y="2816000"/>
            <a:ext cx="167440" cy="20200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102560" y="2816000"/>
            <a:ext cx="967440" cy="20200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DICCIONARIO DE LA EDT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Detalle de cada paquete de trabajo | PMBOK 8va, Alcance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7043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583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EDT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Paquete de Trabajo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Horas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Entregable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Supuestos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8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1.1.1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Inscripción del Tema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Formalizar el tema de tesis ante FING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78h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Constancia de inscripción firmada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Reglamento FING vigente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8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Asignación de Asesor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Identificar y formalizar asesor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80h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Carta de asignación de asesor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Disponibilidad docente FING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8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1.1.3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 del Proyecto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Documentar plan de dirección completo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60h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 aprobado por 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PMBOK 8va Edición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8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Anteproyecto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Redactar y presentar anteproyecto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152h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Anteproyecto aprobado por comité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Guía de anteproyecto FING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8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1.2.2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Diseño Metodológico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Diseñar experimentos y métricas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83h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Documento metodológico aprobado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Papers de referencia LoRA/HDL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8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Marco Teórico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Fundamentos LLM, LoRA, HDL, 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161h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Capítulo 2 del informe final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Artículos científicos revisados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58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1.3.2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Preprocesamiento de Datos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Limpiar, tokenizar y validar datasets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136h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Datasets procesados y documentados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Datasets HDL/QA públicos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8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Entrenamiento LoRA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Fine-tuning con 2 configuraciones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227h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 adaptadores LoRA (.safetensors)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MacBook M1 8GB, quantización 4-bit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58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1.3.4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Evaluación Benchmark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Ejecutar VerilogEval v2 y comparar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106h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Resultados benchmark (JSON + gráficas)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VerilogEval v2, scripts evaluación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58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Análisis de Resultados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Analizar y comparar métricas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90h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Capítulo 4 del informe final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Datos de benchmark recopilados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58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1.3.6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Redacción del Informe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Redactar informe en formato IMRaD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175h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Informe completo revisado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Normativa UNIS, guía IMRaD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58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Seguimiento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Monitorear avance y reuniones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86h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Reportes de avance mensuales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Cronograma base, minutas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58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1.4.2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Control de Cambios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Gestionar solicitudes de cambio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68h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Log de cambios aprobados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 de gestión de cambios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58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Correcciones Finales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Aplicar correcciones del asesor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Documento final aprobado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Retroalimentación del asesor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58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1.5.2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Defensa Pública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Preparar y realizar defensa oral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59h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Acta de defensa aprobatoria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Reglamento de defensa FING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58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Entrega y Cierre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Entregar a biblioteca y cerrar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26h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Constancia de Biblioteca FING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Normas de entrega UNIS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MATRIZ DE TRAZABILIDAD DE REQUERIMIENTOS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Trazabilidad bidireccional requisitos → EDT → entregables → criterios | PMBOK 8va, Alcance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0642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169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Origen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EDT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Entregable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Criterio de Aceptación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RF-01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 configuraciones fine-tuning LoRA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1.3.2, 1.3.3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E-04, E-05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 adaptadores con pesos .safetensors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RF-02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Evaluar con VerilogEval v2 (156 prob.)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Script benchmark; JSON 156 entradas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RF-03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Cuantificar corrupción en datos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1.3.2, 1.3.5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E-04, E-06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verify_paper_numbers.py ejecutable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RF-04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Scripts verificación reproducción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Scripts sin errores en entorno limpio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RNF-01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Hardware real (M1 8GB)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1.3.3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Logs con ID hardware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RNF-02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Informe formato FING + IMRaD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1.3.6, 1.5.1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E-07, E-10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Aprobación asesor y tribunal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RNF-03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Repositorio estructura clara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1.3.6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README + instrucciones reproducción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RNF-04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Cronograma máximo 360h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Registro horas ≤ 360 (foco ejecución)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RP-01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Inscripción + asesor (Feb.)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1.1.1, 1.1.2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Constancia inscripción + carta 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RP-02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Anteproyecto aprobado (Mar.)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Visto bueno Director + Asesor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RP-03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Avances ejecución (Abr-Ago)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1.3.1, 1.3.6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E-03, E-07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Docs entregados y revisados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1696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RP-04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Defensa + entrega final (Sep.)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1.5.2, 1.5.3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E-09, E-10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Acta defensa + constancia Biblioteca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82880" y="6030000"/>
            <a:ext cx="1188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66666"/>
                </a:solidFill>
                <a:latin typeface="Calibri"/>
              </a:defRPr>
            </a:pPr>
            <a:r>
              <a:t>Cobertura: 12 requerimientos trazados a entregables y criterios de aceptación. Trazabilidad bidireccional 100%.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PLAN DE GESTIÓN DE CAMBIOS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Proceso formal para solicitar, evaluar y aprobar cambios | PMBOK 8va, Alcance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201168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Proceso de Control de Cambios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1. IDENTIFICAR: Cualquier interesado detecta necesidad de cambio en alcance, tiempo, costo o calidad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2. REGISTRAR: Completar formato de Solicitud de Cambio (RFC) con: descripción, justificación, impacto estimado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3. EVALUAR: PM analiza impacto en triple restricción (alcance/cronograma/costo) y riesgos asociados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4. REVISAR: Asesor revisa RFC en máximo 5 días hábiles, puede solicitar más información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5. DECIDIR: Aprobar (implementar), Rechazar (documentar razón), o Diferir (re-evaluar en próxima fase)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6. IMPLEMENTAR: Actualizar línea base, EDT, cronograma, y documentos afectados. Comunicar a interesados.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029200" cy="201168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Autoridad de Aprobación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Cambios ≤5% desviación: PM puede aprobar directamente (informar al asesor)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Cambios 5-15% desviación: Requiere aprobación del asesor con revisión técnica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Cambios &gt;15% desviación o que afecten normativa: Escalar al Director de Carrera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Emergencias (riesgo crítico): PM implementa respuesta inmediata, documenta post-facto en 48h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566160"/>
            <a:ext cx="10972800" cy="8229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Herramientas y Registros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Formato RFC en Excel/Google Sheets vinculado al cronograma | Log de cambios con trazabilidad a EDT | Revisión en reuniones quincenales | Actualización de línea base solo tras aprobación formal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SOLICITUD DE CAMBIO (RFC) — FORMATO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Formato estándar para solicitudes de cambio | PMBOK 8va, Alcance (opcional según normativa)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2744"/>
                </a:solidFill>
                <a:latin typeface="Calibri"/>
              </a:defRPr>
            </a:pPr>
            <a:r>
              <a:t>RFC ID: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3716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  <a:latin typeface="Calibri"/>
              </a:defRPr>
            </a:pPr>
            <a:r>
              <a:t>RFC-NNN (auto-incremental)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2744"/>
                </a:solidFill>
                <a:latin typeface="Calibri"/>
              </a:defRPr>
            </a:pPr>
            <a:r>
              <a:t>Fecha Solicitud: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371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  <a:latin typeface="Calibri"/>
              </a:defRPr>
            </a:pPr>
            <a:r>
              <a:t>DD/MM/YYYY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2744"/>
                </a:solidFill>
                <a:latin typeface="Calibri"/>
              </a:defRPr>
            </a:pPr>
            <a:r>
              <a:t>Solicitante: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7373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  <a:latin typeface="Calibri"/>
              </a:defRPr>
            </a:pPr>
            <a:r>
              <a:t>Nombre y 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2744"/>
                </a:solidFill>
                <a:latin typeface="Calibri"/>
              </a:defRPr>
            </a:pPr>
            <a:r>
              <a:t>Prioridad: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1737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  <a:latin typeface="Calibri"/>
              </a:defRPr>
            </a:pPr>
            <a:r>
              <a:t>Alta / Media / Baja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2744"/>
                </a:solidFill>
                <a:latin typeface="Calibri"/>
              </a:defRPr>
            </a:pPr>
            <a:r>
              <a:t>Descripción del Cambio: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1031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  <a:latin typeface="Calibri"/>
              </a:defRPr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468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2744"/>
                </a:solidFill>
                <a:latin typeface="Calibri"/>
              </a:defRPr>
            </a:pPr>
            <a:r>
              <a:t>Justificación: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4688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  <a:latin typeface="Calibri"/>
              </a:defRPr>
            </a:pPr>
            <a:r>
              <a:t>¿Por qué es necesario el cambio?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834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2744"/>
                </a:solidFill>
                <a:latin typeface="Calibri"/>
              </a:defRPr>
            </a:pPr>
            <a:r>
              <a:t>Impacto en Alcance: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2834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  <a:latin typeface="Calibri"/>
              </a:defRPr>
            </a:pPr>
            <a:r>
              <a:t>Paquetes EDT afectados, entregables modificados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200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2744"/>
                </a:solidFill>
                <a:latin typeface="Calibri"/>
              </a:defRPr>
            </a:pPr>
            <a:r>
              <a:t>Impacto en Cronograma: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2004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  <a:latin typeface="Calibri"/>
              </a:defRPr>
            </a:pPr>
            <a:r>
              <a:t>Δ horas estimadas, nueva fecha de finalización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566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2744"/>
                </a:solidFill>
                <a:latin typeface="Calibri"/>
              </a:defRPr>
            </a:pPr>
            <a:r>
              <a:t>Impacto en Costo: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566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  <a:latin typeface="Calibri"/>
              </a:defRPr>
            </a:pPr>
            <a:r>
              <a:t>Δ costo estimado en 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931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2744"/>
                </a:solidFill>
                <a:latin typeface="Calibri"/>
              </a:defRPr>
            </a:pPr>
            <a:r>
              <a:t>Impacto en Riesgos: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39319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  <a:latin typeface="Calibri"/>
              </a:defRPr>
            </a:pPr>
            <a:r>
              <a:t>Nuevos riesgos o modificación de existentes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297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2744"/>
                </a:solidFill>
                <a:latin typeface="Calibri"/>
              </a:defRPr>
            </a:pPr>
            <a:r>
              <a:t>Alternativas Consideradas: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42976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  <a:latin typeface="Calibri"/>
              </a:defRPr>
            </a:pPr>
            <a:r>
              <a:t>Otras opciones evaluadas y razón de descarte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663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2744"/>
                </a:solidFill>
                <a:latin typeface="Calibri"/>
              </a:defRPr>
            </a:pPr>
            <a:r>
              <a:t>Decisión: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6634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  <a:latin typeface="Calibri"/>
              </a:defRPr>
            </a:pPr>
            <a:r>
              <a:t>Aprobado / Rechazado / Diferido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663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2744"/>
                </a:solidFill>
                <a:latin typeface="Calibri"/>
              </a:defRPr>
            </a:pPr>
            <a:r>
              <a:t>Fecha Decisión: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4663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  <a:latin typeface="Calibri"/>
              </a:defRPr>
            </a:pPr>
            <a:r>
              <a:t>DD/MM/YYYY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029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2744"/>
                </a:solidFill>
                <a:latin typeface="Calibri"/>
              </a:defRPr>
            </a:pPr>
            <a:r>
              <a:t>Firmas: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50292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  <a:latin typeface="Calibri"/>
              </a:defRPr>
            </a:pPr>
            <a:r>
              <a:t>Solicitante: ______  |  PM: ______  |  Asesor: ______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PLAN DE ESTRATEGIA DE ADQUISICIONES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Estrategia para adquirir recursos externos | PMBOK 8va, Alcance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0972800" cy="27432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Estrategia General de Adquisiciones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Contexto: Proyecto académico individual de graduación. La naturaleza del proyecto (investigación + desarrollo experimental) implica que la mayoría de los recursos son internos (esfuerzo del tesista, hardware propio, software open-source).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Adquisiciones requeridas: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Equipo: MacBook Air M1 2020 — ya adquirido (costo hundido Q 6,000). Alternativa: usar laboratorio FING si falla hardware.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Software: Python, HuggingFace, MLX, VerilogEval — todo open-source sin costo de licencia.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Datasets: Repositorios públicos (HuggingFace datasets, GitHub) — descarga gratuita.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Materiales: Impresión y empastado (3 copias × Q 150 = Q 450) — proveedor local, cotización simple.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Papelería y misceláneos: Q 350 — compra directa sin licitación.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Estrategia: Compra directa por bajo monto (&lt; Q 5,000). No se requiere proceso de licitación formal por ser proyecto académico. El PM tiene autoridad para adquirir materiales menores. Equipamiento se usa recurso propio existente.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ADQUISICIONES — DECISIONES DE INTERNALIZACIÓN O EXTERNALIZACIÓN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Análisis Make-or-Buy | PMBOK 8va, Alcance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3385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Recurso/Actividad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Decisión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Costo (Q)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Justificación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Entrenamiento LoRA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Interno (Tesista)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Conocimiento técnico del tesista; hardware propio; control total del proceso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Evaluación Benchmark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Interno (Tesista)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Scripts propios; ejecución local; reproducibilidad científica requerida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Redacción de informe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Interno (Tesista)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Requisito de grado; debe ser trabajo original del estudiante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Revisión técnica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Externo (Asesor)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Honorarios institucionales FING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Asesor designado por FING; costo cubierto por la universidad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Impresión y empastado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Externo (Proveedor)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450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Servicio especializado; bajo costo; 3 copias requeridas por normativa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Corrección de estilo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Interno (Tesista)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Cubierto en fase de correcciones finales (EDT 1.5.1); sin costo adicional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Software y herramientas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Externo (Open-source)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Gratuito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Python, HuggingFace, MLX: licencias libres; descarga directa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Hardware computacional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Interno (Propio)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6,000 (costo hundido)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MacBook M1 ya adquirido; si falla, alternativa: laboratorio FING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ADQUISICIONES — CRITERIOS DE SELECCIÓN DE FUENTES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Criterios para evaluar y seleccionar proveedores | PMBOK 8va, Alcance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21945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Criterios de Selección — Proveedores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Para servicios de impresión y empastado: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1. Calidad: muestras de trabajos previos (portadas, encuadernación)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2. Precio: cotización ≤ Q 200 por copia completa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3. Tiempo de entrega: ≤ 3 días hábiles por copia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4. Ubicación: cercanía a campus UNIS o zona 15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5. Referencias: recomendaciones de tesistas previos FING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Proveedores evaluados (ejemplo):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Copistería UNIS: Q 150/copia, 2 días, en campus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PrintCenter Z15: Q 180/copia, 1 día, a 2km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TesisExpress Online: Q 200/copia, 5 días, envío incluido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029200" cy="21945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Criterios de Selección — Recursos Digitales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Para datasets y modelos: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1. Licencia: open-source (MIT, Apache 2.0, CC-BY) verificable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2. Calidad: documentación, papers asociados, benchmarks conocidos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3. Comunidad: actividad en GitHub, issues, actualizaciones recientes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4. Compatibilidad: formato compatible con HuggingFace datasets/datasets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5. Tamaño: factible de procesar en M1 8GB (≤ 1GB por dataset)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Datasets seleccionados: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VerilogEval v2 (156 problemas, GitHub, MIT license)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HDL dataset de HuggingFace (código VHDL/Verilog etiquetado)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Dataset sintético generado con GPT-4 (como respaldo)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2743200"/>
            <a:ext cx="1219200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DOMINIO DE DESEMPEÑO:</a:t>
            </a:r>
            <a:br/>
            <a:r>
              <a:t>CRONOGRAMA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6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8DCF0"/>
                </a:solidFill>
                <a:latin typeface="Calibri"/>
              </a:defRPr>
            </a:pPr>
            <a:r>
              <a:t>Planificación, desarrollo, monitoreo y control del cronograma. Incluye definición de actividades, secuenciación, estimación de duraciones y línea base.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PLAN DE GESTIÓN DEL CRONOGRAMA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Políticas, procedimientos y documentación para gestionar el cronograma | PMBOK 8va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12801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Metodología y Herramientas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Método: Bottom-up estimating desde EDT nivel 4 (110 actividades)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Herramienta: ProjectLibre (CPM + baseline + exportación Gantt)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Calendario: Guatemala 2026 — lun-sáb 8h/día (08:00-12:00, 13:00-17:00)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Unidades: Horas de trabajo efectivas. Precisión ±10% en nivel 4 EDT.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834640"/>
            <a:ext cx="5486400" cy="109728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Umbrales de Control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Verde: &lt;5% de desviación — normal, sin acción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Amarillo: 5-15% desviación — plan de recuperación en 1 semana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Rojo: &gt;15% desviación — escalamiento al Director de Carrera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5029200" cy="12801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Formato de Reporte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S-curve mensual (PV, EV, AC) para seguimiento visual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EVM: SPI, SV para medir eficiencia del cronograma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Actualización: quincenal con asesor, registro de cambios en log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834640"/>
            <a:ext cx="5029200" cy="109728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Revisión y Aprobación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Quincenal con asesor en reuniones de seguimiento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Registro de cambios en log de cronograma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Línea base congelada post-aprobación anteproyecto (Mar 2026)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LÍNEA BASE DEL CRONOGRAMA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Cronograma aprobado contra el cual se mide el desempeño | PMBOK 8va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9758081"/>
              </p:ext>
            </p:extLst>
          </p:nvPr>
        </p:nvGraphicFramePr>
        <p:xfrm>
          <a:off x="457200" y="1371600"/>
          <a:ext cx="11430001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2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43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92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169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84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584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Fase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Período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Horas (LB)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Alcance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Inicio LB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 LB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Feb 02 → Feb 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148h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Inscripción, asesor, plan de proyecto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Feb 02, 2026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Feb 26, 2026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PLANIFICACIÓN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Feb 26 → Abr 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Anteproyecto, diseño metodológico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Feb 26,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Abr 08, 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EJECUCIÓN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Abr 08 → Ago 17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744h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Marco teórico, entrenamiento, evaluación, informe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dirty="0" err="1"/>
                        <a:t>Abr</a:t>
                      </a:r>
                      <a:r>
                        <a:rPr dirty="0"/>
                        <a:t> 08, 2026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Ago 17, 2026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MONITOREO Y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Feb 26 → Mar 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86h*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Seguimiento y control de cambios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Feb 26,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Mar 13, 2026*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CIERRE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Ago 17 → Sep 14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160h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Correcciones, defensa, entrega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Ago 17, 2026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dirty="0"/>
                        <a:t>Sep 14, 2026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4297680"/>
            <a:ext cx="10972800" cy="22860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" rIns="68580" rtlCol="0" anchor="ctr"/>
          <a:lstStyle/>
          <a:p>
            <a:pPr algn="ctr">
              <a:spcAft>
                <a:spcPts val="300"/>
              </a:spcAft>
              <a:defRPr sz="1000" b="1">
                <a:solidFill>
                  <a:srgbClr val="1A2744"/>
                </a:solidFill>
                <a:latin typeface="Calibri"/>
              </a:defRPr>
            </a:pPr>
            <a:r>
              <a:t>Notas sobre la Línea Base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La línea base del cronograma es la versión aprobada que se utiliza para comparar el desempeño real.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Fecha de congelamiento: posterior a la aprobación del anteproyecto por el comité evaluador (~Mar 25, 2026).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La línea base solo se modifica mediante solicitudes de cambio aprobadas formalmente.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M&amp;C tiene actividades distribuidas a lo largo del proyecto; el bloque principal está en Feb-Mar 2026.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Duración total del proyecto: 225 días calendario (Feb 02 → Sep 14, 2026). Horas efectivas: 1,287h.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Se utiliza calendario Guatemala 2026 (lun-sáb 8h/día). Domingos y feriados no laborables.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Las estimaciones de duración provienen del archivo XML LoRA-HDL-QA_Proyecto_2026.xml.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CRONOGRAMA DEL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Resumen gráfico de fases y duraciones | Feb — Sep 2026 | PMBOK 8va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2103120" cy="2560320"/>
          </a:xfrm>
          <a:prstGeom prst="roundRect">
            <a:avLst/>
          </a:prstGeom>
          <a:solidFill>
            <a:srgbClr val="428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INICIO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Feb 02 → Feb 26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156h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1371600"/>
            <a:ext cx="2103120" cy="2560320"/>
          </a:xfrm>
          <a:prstGeom prst="roundRect">
            <a:avLst/>
          </a:prstGeom>
          <a:solidFill>
            <a:srgbClr val="428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PLANIFICACIÓN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Feb 27 → Abr 08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248h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1371600"/>
            <a:ext cx="2103120" cy="2560320"/>
          </a:xfrm>
          <a:prstGeom prst="roundRect">
            <a:avLst/>
          </a:prstGeom>
          <a:solidFill>
            <a:srgbClr val="428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EJECUCIÓN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Abr 08 → Ago 17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784h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1371600"/>
            <a:ext cx="2103120" cy="2560320"/>
          </a:xfrm>
          <a:prstGeom prst="roundRect">
            <a:avLst/>
          </a:prstGeom>
          <a:solidFill>
            <a:srgbClr val="C8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MONITOREO Y CONTROL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Feb 27 → Mar 13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88h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0" y="1371600"/>
            <a:ext cx="2103120" cy="2560320"/>
          </a:xfrm>
          <a:prstGeom prst="roundRect">
            <a:avLst/>
          </a:prstGeom>
          <a:solidFill>
            <a:srgbClr val="428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CIERRE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Ago 17 → Sep 14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160h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389120"/>
            <a:ext cx="10972800" cy="914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DATOS DEL CRONOGRAMA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Métricas clave y datos de soporte del modelo de cronograma | PMBOK 8va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16459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Estadísticas del Cronograma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Total de actividades en el modelo: 150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Actividades de trabajo (nivel 4): 110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Actividades de resumen (niveles 1-3): 27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Hitos (duración 0): 13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Duración total: 1,287 horas efectivas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Período: 2026-02-02 al 2026-09-14 (225 días calendario)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Método de planificación: Ruta Crítica (CPM)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Calendario aplicado: Guatemala 2026 (lun-sáb, 8h/día)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Software: ProjectLibre 1.9.8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029200" cy="16459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Ruta Crítica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La ruta crítica atraviesa las fases de: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INICIO → Inscripción → Asignación Asesor → Plan del Proyecto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→ PLANIFICACIÓN → Anteproyecto → Diseño Metodológico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→ EJECUCIÓN → Entrenamiento LoRA → Evaluación → Informe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→ CIERRE → Correcciones → Defensa → Entrega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Holgura total estimada: ~10% (principalmente en M&amp;C)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Los períodos de espera institucionales son parte de la ruta crítica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00400"/>
            <a:ext cx="10972800" cy="109728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Períodos de Espera (no laborables pero incluidos en el cronograma)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Resolución institucional (UID 8): 39h | Aprobación comité (UID 33): 31h | Retroalimentación 1ra (UID 100): 23h | Retroalimentación 2da (UID 102): 39h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Resolución jurado (UID 127): 23h | Total esperas institucionales: ~155h (12% del total de horas)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CALENDARIOS DEL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  <a:latin typeface="Calibri"/>
              </a:defRPr>
            </a:pPr>
            <a:r>
              <a:t>Calendario guatemalteco completo 2026 con feriados oficiales | PMBOK 8va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22860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" rIns="68580" rtlCol="0" anchor="ctr"/>
          <a:lstStyle/>
          <a:p>
            <a:pPr algn="ctr">
              <a:spcAft>
                <a:spcPts val="300"/>
              </a:spcAft>
              <a:defRPr sz="1000" b="1">
                <a:solidFill>
                  <a:srgbClr val="1A2744"/>
                </a:solidFill>
                <a:latin typeface="Calibri"/>
              </a:defRPr>
            </a:pPr>
            <a:r>
              <a:t>Calendario Base — Guatemala 2026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Días laborables: Lunes a Sábado — Horario: 08:00-12:00 y 13:00-17:00 (8h/día efectivas)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Domingo: No laborable (descanso obligatorio por ley)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FERIADOS OFICIALES 2026 (no laborables):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1 Ene — Año Nuevo | • 2-4 Abr — Semana Santa (Jueves, Viernes, Sábado Santo)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1 May — Día del Trabajo | • 30 Jun — Día del Ejército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15 Sep — Día de la Independencia | • 20 Oct — Día de la Revolución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1 Nov — Día de Todos los Santos | • 24 Dic — Nochebuena (½ día)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25 Dic — Navidad | • 31 Dic — Fin de Año (½ día)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Feriados que afectan al proyecto (Feb—Sep 2026):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Semana Santa (2-4 Abr), Día del Trabajo (1 May), Día del Ejército (30 Jun), Independencia (15 Sep)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29200" cy="22860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" rIns="68580" rtlCol="0" anchor="ctr"/>
          <a:lstStyle/>
          <a:p>
            <a:pPr algn="ctr">
              <a:spcAft>
                <a:spcPts val="300"/>
              </a:spcAft>
              <a:defRPr sz="1000" b="1">
                <a:solidFill>
                  <a:srgbClr val="1A2744"/>
                </a:solidFill>
                <a:latin typeface="Calibri"/>
              </a:defRPr>
            </a:pPr>
            <a:r>
              <a:t>Recurso — Pablo Flores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Disponibilidad: 100% (tiempo completo) | Máximo: 8h/día laborable | Flexibilidad: hasta 10h/día en semanas críticas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Período activo: Feb 02 — Sep 14, 2026 (225 días) | Total horas planificadas: 1,287h efectivas | Promedio: ~5.7h/día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Nota técnica (ProjectLibre 1.9.8): Bug con &lt;Exceptions&gt; sin &lt;RecurrenceType&gt; causa crash.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Feriados documentados aquí pero NO en el XML por compatibilidad. Ajustar fechas manualmente en seguimiento.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80000"/>
            <a:ext cx="10972800" cy="25600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" rIns="68580" rtlCol="0" anchor="ctr"/>
          <a:lstStyle/>
          <a:p>
            <a:pPr algn="ctr">
              <a:spcAft>
                <a:spcPts val="300"/>
              </a:spcAft>
              <a:defRPr sz="1000" b="1">
                <a:solidFill>
                  <a:srgbClr val="1A2744"/>
                </a:solidFill>
                <a:latin typeface="Calibri"/>
              </a:defRPr>
            </a:pPr>
            <a:r>
              <a:t>Períodos de Espera Institucionales (modelados como tareas en el cronograma)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Resolución institucional: 39h (Feb 6 → Feb 13) | • Aprobación comité: 31h (Mar 19 → Mar 25)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Retroalimentación 1ra revisión: 23h (Jul 29 → Ago 3) | • Retroalimentación 2da revisión: 39h (Ago 6 → Ago 12)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Resolución jurado: 23h (Sep 4 → Sep 9)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Total esperas: ~155h (12% del total). Estas esperas son tiempo calendario, no trabajo activo del tesista.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Impacto: Las esperas institucionales están en la ruta crítica. Cualquier extensión afecta la fecha de finalización.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Plan de contingencia: Si la espera supera 2 semanas sobre lo planificado, escalar al Director de Carrera.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LISTA DE ACTIVIDADES (1/5)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  <a:latin typeface="Calibri"/>
              </a:defRPr>
            </a:pPr>
            <a:r>
              <a:t>22 de 110 actividades nivel 4 | PMBOK 8va, Cronograma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0241280" cy="5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043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UID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Fase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Actividad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Dur.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Revisar normativo y reglamento de graduación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2026-02-02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2026-02-02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Delimitar el tema de investigación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16h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Preparar formularios y documentación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2026-02-05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2026-02-05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Presentar solicitud formal ante la facultad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Período de espera — resolución institucional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39h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2026-02-06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2026-02-13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Recibir aprobación formal del tema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Identificar y evaluar candidatos a 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2026-02-03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2026-02-03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Contactar y reunirse con candidatos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Seleccionar asesor definitivo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2026-02-05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2026-02-05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Formalizar carta de asignación del asesor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Primera reunión de trabajo con 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2026-02-16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2026-02-16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Definir alcance, supuestos y restricciones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Elaborar EDT (WBS) del proyecto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2026-02-18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2026-02-20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Elaborar cronograma y línea base de tiempo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Identificar y evaluar riesgos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2026-02-20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2026-02-23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Elaborar plan de comunicación y seguimiento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Revisión y aprobación del plan con 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2026-02-24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Revisión de literatura sobre el problema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PLANIF.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Redactar planteamiento del problema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2026-03-03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2026-03-06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Definir objetivos general y específicos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PLANIF.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Plantear hipótesis de investigación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2026-03-10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2026-03-10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3045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Escribir justificación del proyecto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620000"/>
            <a:ext cx="112776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i="1">
                <a:solidFill>
                  <a:srgbClr val="666666"/>
                </a:solidFill>
                <a:latin typeface="Calibri"/>
              </a:defRPr>
            </a:pPr>
            <a:r>
              <a:t>22 de 110 actividades nivel 4 | Fuente: LoRA-HDL-QA_Proyecto_2026.xml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LISTA DE ACTIVIDADES (2/5)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  <a:latin typeface="Calibri"/>
              </a:defRPr>
            </a:pPr>
            <a:r>
              <a:t>22 de 110 actividades nivel 4 | PMBOK 8va, Cronograma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0241280" cy="5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043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UID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Fase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Actividad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Dur.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PLANIF.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Redactar documento completo de anteproyecto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2026-03-12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2026-03-16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Revisión del anteproyecto con asesor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PLANIF.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Presentar anteproyecto ante comité evaluador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2026-03-18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2026-03-19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Período de espera — aprobación del comité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31h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PLANIF.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Revisar y comparar metodologías de investigación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2026-03-25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2026-03-27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Seleccionar y justificar metodología adoptada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PLANIF.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Diseñar arquitectura general del experimento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2026-03-31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2026-04-03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Identificar y seleccionar datasets HDL / 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PLANIF.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Planificar pipeline de entrenamiento y evaluación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2026-04-03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2026-04-06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Definir métricas y criterios de éxito del modelo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PLANIF.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Documentar y aprobar diseño metodológico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2026-04-07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2026-04-08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Rev. bibliográfica: LLMs y arquitecturas Transformer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Rev. bibliográfica: LoRA y métodos PEFT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31h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2026-04-13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2026-04-17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Rev. bibliográfica: HDL — VHDL / Verilog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Rev. bibliográfica: QA en diseño digital y EDA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2026-04-16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2026-04-21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Redactar sección — Fundamentos teóricos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31h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Redactar sección — LoRA aplicado a generación HDL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31h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2026-04-27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2026-05-01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Redactar sección — Estado del arte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Revisión del marco teórico con 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2026-05-01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2026-05-05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Corrección y ajuste del marco teórico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Catalogar datasets HDL / QA disponibles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2026-04-08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2026-04-10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3045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Descargar y verificar integridad de datasets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620000"/>
            <a:ext cx="112776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i="1">
                <a:solidFill>
                  <a:srgbClr val="666666"/>
                </a:solidFill>
                <a:latin typeface="Calibri"/>
              </a:defRPr>
            </a:pPr>
            <a:r>
              <a:t>22 de 110 actividades nivel 4 | Fuente: LoRA-HDL-QA_Proyecto_2026.xml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LISTA DE ACTIVIDADES (3/5)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  <a:latin typeface="Calibri"/>
              </a:defRPr>
            </a:pPr>
            <a:r>
              <a:t>22 de 110 actividades nivel 4 | PMBOK 8va, Cronograma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0241280" cy="5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043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UID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Fase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Actividad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Dur.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Análisis exploratorio de datos (EDA)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2026-04-13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2026-04-15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Limpieza y depuración de datos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31h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Tokenización y formateo para fine-tuning LLM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2026-04-21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2026-04-24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Transformación y normalización de datos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Validación de calidad e integridad del dataset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2026-04-29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2026-04-30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Documentar pipeline de preprocesamiento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Configurar entorno Python / HuggingFace en MacBook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2026-05-07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2026-05-08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Instalar y verificar librerías PEFT / LoRA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Seleccionar y cargar modelo base LLM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2026-05-11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2026-05-12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Implementar cargador de datos HDL personalizado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Configurar parámetros LoRA (r, alpha, dropout)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2026-05-15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2026-05-19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Ejecutar entrenamiento piloto (sanity check)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Analizar métricas de pérdida y accuracy del piloto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2026-05-21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2026-05-25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Ajustar hiperparámetros — iteración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Ejecutar entrenamiento optimizado iteración 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31h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2026-05-28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2026-06-02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Ajustar hiperparámetros — iteración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Ejecutar entrenamiento final (modelo definitivo)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31h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2026-06-05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2026-06-11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Guardar, versionar y respaldar modelo entrenado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Documentar proceso de entrenamiento completo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2026-06-12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2026-06-16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Revisar benchmarks existentes para LLM / HDL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Definir métricas: BLEU, exactitud sintáctica, PASS@k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2026-06-16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2026-06-17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3045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Implementar scripts de evaluación automatizada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620000"/>
            <a:ext cx="112776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i="1">
                <a:solidFill>
                  <a:srgbClr val="666666"/>
                </a:solidFill>
                <a:latin typeface="Calibri"/>
              </a:defRPr>
            </a:pPr>
            <a:r>
              <a:t>22 de 110 actividades nivel 4 | Fuente: LoRA-HDL-QA_Proyecto_2026.xml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LISTA DE ACTIVIDADES (4/5)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  <a:latin typeface="Calibri"/>
              </a:defRPr>
            </a:pPr>
            <a:r>
              <a:t>22 de 110 actividades nivel 4 | PMBOK 8va, Cronograma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0241280" cy="5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043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UID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Fase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Actividad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Dur.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Ejecutar benchmark — modelo LoRA fine-tuned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2026-06-22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2026-06-24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Ejecutar benchmark — modelo base (baseline)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Comparar y analizar: LoRA vs baseline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2026-06-25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2026-06-29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Documentar resultados del benchmark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Compilar y consolidar todas las métricas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2026-07-01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2026-07-02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Análisis estadístico descriptivo de resultados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Visualizar resultados (gráficas y tablas)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2026-07-06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2026-07-08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Comparar con modelos del estado del arte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Identificar fortalezas, limitaciones y trabajo futuro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2026-07-13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2026-07-15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Redactar análisis e interpretación de resultados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Definir estructura y capítulos del informe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2026-07-17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2026-07-17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Redactar cap. 1 — Introducción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Integrar cap. 2 — Marco teórico (ajustar)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2026-07-17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2026-07-21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Redactar cap. 3 — Metodología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Redactar cap. 4 — Resultados y análisis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2026-07-17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2026-07-22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Redactar cap. 5 — Conclusiones y recomendaciones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Elaborar referencias bibliográficas (APA / IEEE)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2026-07-24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2026-07-27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Revisar formato y estilo según normativo UNIS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Primera revisión con asesor (espera retroalim.)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2026-07-29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2026-08-03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Aplicar primera ronda de correcciones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2026-08-03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2026-08-06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Segunda revisión con asesor (espera retroalim.)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39h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2026-08-06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2026-08-12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3045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Aplicar segunda ronda de correcciones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2026-08-13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2026-08-17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620000"/>
            <a:ext cx="112776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i="1">
                <a:solidFill>
                  <a:srgbClr val="666666"/>
                </a:solidFill>
                <a:latin typeface="Calibri"/>
              </a:defRPr>
            </a:pPr>
            <a:r>
              <a:t>22 de 110 actividades nivel 4 | Fuente: LoRA-HDL-QA_Proyecto_2026.xml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LISTA DE ACTIVIDADES (5/5)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  <a:latin typeface="Calibri"/>
              </a:defRPr>
            </a:pPr>
            <a:r>
              <a:t>22 de 110 actividades nivel 4 | PMBOK 8va, Cronograma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0241280" cy="5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043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UID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Fase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Actividad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Dur.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M&amp;C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Planificar agenda y protocolo de reuniones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2026-02-27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M&amp;C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Conducir reuniones semanales con asesor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79h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M&amp;C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Elaborar reportes de avance mensuales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39h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2026-02-27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2026-03-06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M&amp;C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Actualizar y monitorear cronograma del proyecto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M&amp;C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Registrar solicitudes de cambio formales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2026-02-27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2026-03-03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M&amp;C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Evaluar y aprobar cambios con asesor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M&amp;C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Implementar cambios aprobados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2026-03-05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2026-03-09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M&amp;C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Documentar lecciones aprendidas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CIERRE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Recibir retroalimentación final del 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2026-08-17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2026-08-18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CIERRE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Aplicar correcciones finales al documento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2026-08-18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2026-08-21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CIERRE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Revisión de ortografía, gramática y estilo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2026-08-21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2026-08-24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CIERRE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Formatear documento final según normativo UNIS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2026-08-24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2026-08-26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CIERRE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Aprobación final y firma del 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2026-08-26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2026-08-31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CIERRE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Preparar presentación PowerPoint para defensa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2026-08-31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2026-09-02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CIERRE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Elaborar material de apoyo y demo técnico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2026-09-02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2026-09-02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CIERRE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Realizar ensayos de presentación (mínimo 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2026-09-03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2026-09-03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CIERRE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Defensa oral ante el jurado evaluador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2026-09-03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2026-09-04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CIERRE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Período de espera — resolución y nota del jurado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2026-09-04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2026-09-09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CIERRE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Aplicar correcciones indicadas por el jurado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2026-09-09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2026-09-11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CIERRE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Imprimir, empastar y preparar copias finales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2026-09-11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2026-09-11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3043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CIERRE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Entrega formal a biblioteca y facultad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2026-09-14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2026-09-14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3045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CIERRE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Cierre administrativo del proyecto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2026-09-14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2026-09-14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620000"/>
            <a:ext cx="112776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i="1">
                <a:solidFill>
                  <a:srgbClr val="666666"/>
                </a:solidFill>
                <a:latin typeface="Calibri"/>
              </a:defRPr>
            </a:pPr>
            <a:r>
              <a:t>22 de 110 actividades nivel 4 | Fuente: LoRA-HDL-QA_Proyecto_2026.xml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ATRIBUTOS DE LA ACTIVIDAD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  <a:latin typeface="Calibri"/>
              </a:defRPr>
            </a:pPr>
            <a:r>
              <a:t>Campos que describen cada actividad del cronograma | PMBOK 8va, Cronograma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1556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982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Atributo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Valores de Ejemplo / Notas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UID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Identificador único en el XML de ProjectLibre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Ej: 4, 5, 68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Descripción de la actividad (verbo + objeto)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Revisar normativo y reglamento de graduación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Nivel EDT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1=Proyecto, 2=Fase, 3=Entregable, 4=Paquete trabajo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1, 2, 3, 4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Código WBS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Código de la EDT al que pertenece la actividad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1.1.1.4 (Inscripción del Tema)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Duración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Horas de trabajo efectivas (formato ISO 8601)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PT8H0M0S = 8 horas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Fecha Inicio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Fecha y hora de inicio planificada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2026-02-02T08:00:00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Fecha Fin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Fecha y hora de finalización planificada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2026-02-02T17:00:00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Predecesoras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Tareas que deben completarse antes (FS)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4FS (termina UID 4, inicia esta)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Recurso Asignado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Recurso que ejecuta la tarea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Pablo Flores (UID 1)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Tipo de Tarea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Fixed Work / Fixed Duration / Fixed 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Fixed Work (todas las tareas)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Calendario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Calendario aplicable a la tarea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UID 11: Guatemala - Feriados 2026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98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TRUE si duración = 0, FALSE si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FALSE (110 tareas de trabajo)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BASE DE LAS ESTIMACIONES Y ESTIMACIONES DE DURACIÓN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  <a:latin typeface="Calibri"/>
              </a:defRPr>
            </a:pPr>
            <a:r>
              <a:t>Fundamento de cada estimación + resumen por fase | PMBOK 8va, Cronograma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237744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" rIns="68580" rtlCol="0" anchor="ctr"/>
          <a:lstStyle/>
          <a:p>
            <a:pPr algn="ctr">
              <a:spcAft>
                <a:spcPts val="300"/>
              </a:spcAft>
              <a:defRPr sz="1000" b="1">
                <a:solidFill>
                  <a:srgbClr val="1A2744"/>
                </a:solidFill>
                <a:latin typeface="Calibri"/>
              </a:defRPr>
            </a:pPr>
            <a:r>
              <a:t>Base de las Estimaciones — Duraciones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Metodología: Bottom-up desde EDT nivel 4. Unidad: horas efectivas (netas, sin pausas).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Fuentes: Juicio de expertos (asesor FING), análoga (tesis previas 150-360h),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paramétrica (~15h por sección de 5pp), descomposición (paquetes de 3-31h).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Ajustes aplicados: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Productividad: 8h/día netas | Calendario: lun-sáb, excluye domingos y feriados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Curva de aprendizaje: +20% buffer en primeras tareas de cada fase nueva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Hardware M1 8GB: batch=1 → 2-3x tiempo vs GPU, quantización 4-bit obligatoria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Precisión: ±10% en paquetes nivel 4; ±15% en fases nivel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29200" cy="237744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" rIns="68580" rtlCol="0" anchor="ctr"/>
          <a:lstStyle/>
          <a:p>
            <a:pPr algn="ctr">
              <a:spcAft>
                <a:spcPts val="300"/>
              </a:spcAft>
              <a:defRPr sz="1000" b="1">
                <a:solidFill>
                  <a:srgbClr val="1A2744"/>
                </a:solidFill>
                <a:latin typeface="Calibri"/>
              </a:defRPr>
            </a:pPr>
            <a:r>
              <a:t>Estimaciones de Duración por Fase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INICIO (148h): Inscripción Tema 78h + Asignación Asesor 80h + Plan Proyecto 60h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PLANIFICACIÓN (235h): Anteproyecto 152h + Diseño Metodológico 83h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EJECUCIÓN (744h): Marco Teórico 161h + Preprocesamiento 136h +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  Entrenamiento LoRA 227h + Evaluación Benchmark 106h +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  Análisis Resultados 90h + Redacción Informe 175h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M&amp;C (86h): Seguimiento + Control Cambios (actividades solapadas)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CIERRE (160h): Correcciones Finales 75h + Defensa Pública 59h + Entrega 26h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931920"/>
            <a:ext cx="10972800" cy="16459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" rIns="68580" rtlCol="0" anchor="ctr"/>
          <a:lstStyle/>
          <a:p>
            <a:pPr algn="ctr">
              <a:spcAft>
                <a:spcPts val="300"/>
              </a:spcAft>
              <a:defRPr sz="1000" b="1">
                <a:solidFill>
                  <a:srgbClr val="1A2744"/>
                </a:solidFill>
                <a:latin typeface="Calibri"/>
              </a:defRPr>
            </a:pPr>
            <a:r>
              <a:t>Ejemplos de Cálculo de Duraciones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Investigación/Lectura: 2-3h/paper → 23h = ~10 papers | Redacción: 15h/sección 5pp | Programación: 15-23h/módulo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Entrenamiento ML: 31h = ~3 épocas M1 8GB batch=1 modelo 4B | Revisión: 15h/ronda completa (leer+corregir+verificar)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Períodos de espera: 31-39h (3-5 días hábiles FING) modelados como tareas de duración fija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LISTA DE HITOS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  <a:latin typeface="Calibri"/>
              </a:defRPr>
            </a:pPr>
            <a:r>
              <a:t>Hitos principales con fechas planificadas y criterios de aceptación | PMBOK 8va, Cronograma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0642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982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Hito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Fecha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Criterio de Aceptación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Proyecto de Graduación Completado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2026-09-14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Aprobación formal por tribunal y constancia Biblioteca FING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 DEL PROYECTO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Carta de inscripción firmada por Director de Carrera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INICIO: INICIO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2026-02-02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Tema aprobado + asesor identificado formalmente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FIN: INICIO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 de proyecto aprobado por el asesor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INICIO: PLANIFICACION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 formal del anteproyecto con asesor asignado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FIN: PLANIFICACION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Anteproyecto y diseño metodológico aprobados por comité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INICIO: EJECUCION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2026-04-08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 formal de experimentos y marco teórico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FIN: EJECUCION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2026-08-17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Informe final completo revisado y aprobado por asesor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INICIO: M&amp;C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Primera reunión de seguimiento con 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FIN: M&amp;C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Cierre formal de actividades de seguimiento intensivo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INICIO: CIERRE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2026-08-17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 de correcciones finales post-revisión 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98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FIN: CIERRE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2026-09-14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Documento final depositado en Biblioteca FING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2743200"/>
            <a:ext cx="1219200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DOMINIO DE DESEMPEÑO:</a:t>
            </a:r>
            <a:br/>
            <a:r>
              <a:t>RECURSOS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6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8DCF0"/>
                </a:solidFill>
                <a:latin typeface="Calibri"/>
              </a:defRPr>
            </a:pPr>
            <a:r>
              <a:t>Identificación, adquisición y gestión de los recursos necesarios para ejecutar el proyecto. Incluye recursos humanos, equipamiento, materiales e infraestructura.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PLAN DE GESTIÓN DE RECURSOS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  <a:latin typeface="Calibri"/>
              </a:defRPr>
            </a:pPr>
            <a:r>
              <a:t>Define cómo se estimarán, adquirirán y gestionarán los recursos | PMBOK 8va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27432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" rIns="68580" rtlCol="0" anchor="ctr"/>
          <a:lstStyle/>
          <a:p>
            <a:pPr algn="ctr">
              <a:spcAft>
                <a:spcPts val="3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Identificación y Estimación de Recursos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Fuente primaria: EDT nivel 4 — cada una de las 110 actividades tiene recurso asignado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Método: Bottom-up — suma de horas por recurso desde actividades nivel 4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Recurso Humano: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Pablo Flores (PM/Tesista) — 1,287h planificadas @ Q 80/hr = Q 102,960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Asesor FING — ~40h estimadas para revisión técnica (sin costo directo para el proyecto)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Recursos Físicos: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MacBook Air M1 2020 (8GB/256GB) — Q 6,000 (costo hundido, ya adquirido)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Internet 10Mbps (~Q 250/mes) y electricidad (~Q 300 total) — costos absorbidos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Materiales: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Impresión 3 copias × Q 150 = Q 450 | Posters defensa: Q 200 | Papelería: Q 150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Total materiales: Q 800 — compra directa por bajo monto, sin licitación requerida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29200" cy="27432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" rIns="68580" rtlCol="0" anchor="ctr"/>
          <a:lstStyle/>
          <a:p>
            <a:pPr algn="ctr">
              <a:spcAft>
                <a:spcPts val="3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Estrategia de Gestión de Recursos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Asignación: PM dedicado 100% al proyecto (225 días, 1,287h efectivas)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Calendario: lun-sáb 8h/día, flexibilidad ±2h en semanas críticas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Adquisiciones: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MacBook ya adquirido — no requiere proceso de compra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Materiales: compra directa por bajo monto (&lt; Q 1,000), sin licitación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Monitoreo y Control: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Registro de horas reales vs planificadas como parte del EVM mensual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Reporte mensual de utilización de recursos al asesor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Contingencias: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Si MacBook falla → usar laboratorio de cómputo FING (costo: Q 0)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Si PM enfrenta indisponibilidad &gt; 48h → ajustar cronograma, notificar asesor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CARTA DEL EQUIPO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  <a:latin typeface="Calibri"/>
              </a:defRPr>
            </a:pPr>
            <a:r>
              <a:t>Valores, normas y acuerdos de trabajo | PMBOK 8va, Recursos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0972800" cy="50292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" rIns="68580" rtlCol="0" anchor="ctr"/>
          <a:lstStyle/>
          <a:p>
            <a:pPr algn="ctr">
              <a:spcAft>
                <a:spcPts val="3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Carta del Equipo — Proyecto LoRA-HDL-QA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Contexto: Proyecto de graduación individual. El 'equipo' está compuesto por: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Pablo Flores — PM/Tesista (ejecutor principal, 100% del trabajo técnico y de gestión)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Asesor (por asignar) — Revisor técnico (~40h totales, sin costo directo para el proyecto)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Director de Carrera — Autoridad de aprobación y escalamiento de decisiones críticas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Valores del Trabajo: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Excelencia académica: rigor científico en experimentación y documentación de resultados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Transparencia: reportar avances y desviaciones en tiempo real al asesor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Responsabilidad: cumplir hitos y plazos acordados; notificar riesgos con anticipación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Reproducibilidad: todo código, datos y resultados deben ser reproducibles por terceros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Normas de Trabajo: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Reuniones: semanal con asesor (1h fija), quincenal de seguimiento formal con minuta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Comunicación: email para documentos formales, WhatsApp para coordinación ágil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Documentación: minutas de reunión en máximo 24h, reportes de avance mensuales con EVM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Código: versionado en GitHub, commits atómicos con mensajes descriptivos en español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Conflictos: escalar al Director de Carrera si PM y asesor no llegan a acuerdo en 5 días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Nota: Por ser proyecto unipersonal, esta carta establece normas de trabajo entre el PM y el asesor.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No se requiere team charter tradicional (no hay equipo multidisciplinario que gestionar).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MATRIZ RACI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  <a:latin typeface="Calibri"/>
              </a:defRPr>
            </a:pPr>
            <a:r>
              <a:t>Responsabilidades por paquete de trabajo EDT | PMBOK 8va, Recursos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371600"/>
          <a:ext cx="9692640" cy="511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08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Paquete de Trabajo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Pablo Flores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Asesor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Director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FING/UNIS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8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Inscripción del Tema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8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Asignación de Asesor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8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 del Proyecto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8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Anteproyecto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8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Diseño Metodológico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8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Marco Teórico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08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Preprocesamiento de Datos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08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Entrenamiento LoRA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08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Evaluación Benchmark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08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Análisis de Resultados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08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Redacción Informe Final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08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Seguimiento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08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Control de Cambios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08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Correcciones Finales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08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Defensa Pública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08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Entrega y Cierre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65700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66666"/>
                </a:solidFill>
                <a:latin typeface="Calibri"/>
              </a:defRPr>
            </a:pPr>
            <a:r>
              <a:t>R = Responsible (ejecuta) | A = Accountable (aprueba) | C = Consulted (aporta) | I = Informed (recibe información)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ESTRUCTURA DE DESGLOSE DE RECURSOS (RBS)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Descomposición jerárquica de recursos del proyecto | PMBOK 8va, Recursos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27432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" rIns="68580" rtlCol="0" anchor="ctr"/>
          <a:lstStyle/>
          <a:p>
            <a:pPr algn="ctr">
              <a:spcAft>
                <a:spcPts val="3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1. Recurso Humano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1.1 Pablo Flores — PM / Tesista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    • Rol: Ejecución total del proyecto (gestión + investigación + desarrollo)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    • Tarifa: Q 80.00 / hora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    • Base de tarifa: Investigador junior Guatemala (ref. SENACYT)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    • Dedicación: 100% (1,287h planificadas)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    • Período: Feb 02 — Sep 14, 2026 (225 días)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    • Costo total mano de obra: Q 102,960.00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1.2 Asesor (designado por FING)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    • ~40h totales estimadas (sin costo directo)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    • Honorarios cubiertos por la universidad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29200" cy="27432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" rIns="68580" rtlCol="0" anchor="ctr"/>
          <a:lstStyle/>
          <a:p>
            <a:pPr algn="ctr">
              <a:spcAft>
                <a:spcPts val="3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2. Equipamiento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2.1 MacBook Air M1 2020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    • Especificaciones: Chip M1, 8GB RAM, 256GB SSD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    • Precio de adquisición: Q 6,000.00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    • Estado: Propiedad del tesista (costo hundido)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    • Horas estimadas de uso: ~1,000h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    • Uso: Entrenamiento LoRA, desarrollo, redacción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2.2 Periféricos y accesorios (propios, sin costo)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    • Monitor externo, teclado, mouse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    • Disco externo 1TB para backups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2.3 Software (100% open-source, sin costo)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    • Python, HuggingFace Transformers, PEFT, MLX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    • ProjectLibre 1.9.8, Git/GitHub, Google Drive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297680"/>
            <a:ext cx="10972800" cy="13716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" rIns="68580" rtlCol="0" anchor="ctr"/>
          <a:lstStyle/>
          <a:p>
            <a:pPr algn="ctr">
              <a:spcAft>
                <a:spcPts val="300"/>
              </a:spcAft>
              <a:defRPr sz="1000" b="1">
                <a:solidFill>
                  <a:srgbClr val="1A2744"/>
                </a:solidFill>
                <a:latin typeface="Calibri"/>
              </a:defRPr>
            </a:pPr>
            <a:r>
              <a:t>Resumen de Costos de Recursos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Mano de obra (Pablo Flores): 1,287h × Q 80/hr = Q 102,960.00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Equipamiento (MacBook Air M1 2020): Q 6,000.00 (ya adquirido, costo hundido)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Materiales (impresión, empastado, posters): Q 800.00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TOTAL RECURSOS DIRECTOS: Q 109,760.00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Nota: La mano de obra es costo de oportunidad. Solo equipamiento y materiales requieren desembolso en efectivo (Q 6,800.00).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CALENDARIOS DE RECURSOS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Disponibilidad de cada recurso a lo largo del proyecto | PMBOK 8va, Recursos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0972800" cy="27889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" rIns="68580" rtlCol="0" anchor="ctr"/>
          <a:lstStyle/>
          <a:p>
            <a:pPr algn="ctr">
              <a:spcAft>
                <a:spcPts val="300"/>
              </a:spcAft>
              <a:defRPr sz="1000" b="1">
                <a:solidFill>
                  <a:srgbClr val="1A2744"/>
                </a:solidFill>
                <a:latin typeface="Calibri"/>
              </a:defRPr>
            </a:pPr>
            <a:r>
              <a:rPr dirty="0"/>
              <a:t>Calendario del </a:t>
            </a:r>
            <a:r>
              <a:rPr dirty="0" err="1"/>
              <a:t>Recurso</a:t>
            </a:r>
            <a:r>
              <a:rPr dirty="0"/>
              <a:t> Principal — Pablo Flores (PM/</a:t>
            </a:r>
            <a:r>
              <a:rPr dirty="0" err="1"/>
              <a:t>Tesista</a:t>
            </a:r>
            <a:r>
              <a:rPr dirty="0"/>
              <a:t>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Período</a:t>
            </a:r>
            <a:r>
              <a:rPr dirty="0"/>
              <a:t>: Feb 02 — Sep 14, 2026 (225 días </a:t>
            </a:r>
            <a:r>
              <a:rPr dirty="0" err="1"/>
              <a:t>calendario</a:t>
            </a:r>
            <a:r>
              <a:rPr dirty="0"/>
              <a:t>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rPr dirty="0"/>
              <a:t>Días </a:t>
            </a:r>
            <a:r>
              <a:rPr dirty="0" err="1"/>
              <a:t>laborables</a:t>
            </a:r>
            <a:r>
              <a:rPr dirty="0"/>
              <a:t>: Lunes a Sábado (6 días/</a:t>
            </a:r>
            <a:r>
              <a:rPr dirty="0" err="1"/>
              <a:t>semana</a:t>
            </a:r>
            <a:r>
              <a:rPr dirty="0"/>
              <a:t>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Horario</a:t>
            </a:r>
            <a:r>
              <a:rPr dirty="0"/>
              <a:t> </a:t>
            </a:r>
            <a:r>
              <a:rPr dirty="0" err="1"/>
              <a:t>estándar</a:t>
            </a:r>
            <a:r>
              <a:rPr dirty="0"/>
              <a:t>: 08:00-12:00 y 13:00-17:00 (8h/día </a:t>
            </a:r>
            <a:r>
              <a:rPr dirty="0" err="1"/>
              <a:t>efectivas</a:t>
            </a:r>
            <a:r>
              <a:rPr dirty="0"/>
              <a:t>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rPr dirty="0"/>
              <a:t>Horas </a:t>
            </a:r>
            <a:r>
              <a:rPr dirty="0" err="1"/>
              <a:t>máximas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semana</a:t>
            </a:r>
            <a:r>
              <a:rPr dirty="0"/>
              <a:t>: 48h (6 días × 8h)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Excepciones</a:t>
            </a:r>
            <a:r>
              <a:rPr dirty="0"/>
              <a:t> (no </a:t>
            </a:r>
            <a:r>
              <a:rPr dirty="0" err="1"/>
              <a:t>laborable</a:t>
            </a:r>
            <a:r>
              <a:rPr dirty="0"/>
              <a:t> para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recurso</a:t>
            </a:r>
            <a:r>
              <a:rPr dirty="0"/>
              <a:t>):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rPr dirty="0"/>
              <a:t>• Todos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domingos</a:t>
            </a:r>
            <a:r>
              <a:rPr dirty="0"/>
              <a:t> del </a:t>
            </a:r>
            <a:r>
              <a:rPr dirty="0" err="1"/>
              <a:t>período</a:t>
            </a:r>
            <a:endParaRPr dirty="0"/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rPr dirty="0"/>
              <a:t>• Semana Santa: Jueves 2 — Sábado 4 de Abril, 2026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rPr dirty="0"/>
              <a:t>• Día del </a:t>
            </a:r>
            <a:r>
              <a:rPr dirty="0" err="1"/>
              <a:t>Trabajo</a:t>
            </a:r>
            <a:r>
              <a:rPr dirty="0"/>
              <a:t>: Viernes 1 de Mayo, 2026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rPr dirty="0"/>
              <a:t>• Día del </a:t>
            </a:r>
            <a:r>
              <a:rPr dirty="0" err="1"/>
              <a:t>Ejército</a:t>
            </a:r>
            <a:r>
              <a:rPr dirty="0"/>
              <a:t>: Martes 30 de Junio, 2026 (½ día </a:t>
            </a:r>
            <a:r>
              <a:rPr dirty="0" err="1"/>
              <a:t>opcional</a:t>
            </a:r>
            <a:r>
              <a:rPr dirty="0"/>
              <a:t>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rPr dirty="0"/>
              <a:t>• Día de la </a:t>
            </a:r>
            <a:r>
              <a:rPr dirty="0" err="1"/>
              <a:t>Independencia</a:t>
            </a:r>
            <a:r>
              <a:rPr dirty="0"/>
              <a:t>: Martes 15 de </a:t>
            </a:r>
            <a:r>
              <a:rPr dirty="0" err="1"/>
              <a:t>Septiembre</a:t>
            </a:r>
            <a:r>
              <a:rPr dirty="0"/>
              <a:t>, 2026 (post-</a:t>
            </a:r>
            <a:r>
              <a:rPr dirty="0" err="1"/>
              <a:t>proyecto</a:t>
            </a:r>
            <a:r>
              <a:rPr dirty="0"/>
              <a:t>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Disponibilidad</a:t>
            </a:r>
            <a:r>
              <a:rPr dirty="0"/>
              <a:t> real: ~190 días </a:t>
            </a:r>
            <a:r>
              <a:rPr dirty="0" err="1"/>
              <a:t>laborables</a:t>
            </a:r>
            <a:r>
              <a:rPr dirty="0"/>
              <a:t> </a:t>
            </a:r>
            <a:r>
              <a:rPr dirty="0" err="1"/>
              <a:t>efectivos</a:t>
            </a:r>
            <a:r>
              <a:rPr dirty="0"/>
              <a:t> × 8h = ~1,520h </a:t>
            </a:r>
            <a:r>
              <a:rPr dirty="0" err="1"/>
              <a:t>disponibles</a:t>
            </a:r>
            <a:endParaRPr dirty="0"/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rPr dirty="0"/>
              <a:t>Horas </a:t>
            </a:r>
            <a:r>
              <a:rPr dirty="0" err="1"/>
              <a:t>planificadas</a:t>
            </a:r>
            <a:r>
              <a:rPr dirty="0"/>
              <a:t>: 1,287h → </a:t>
            </a:r>
            <a:r>
              <a:rPr dirty="0" err="1"/>
              <a:t>utilización</a:t>
            </a:r>
            <a:r>
              <a:rPr dirty="0"/>
              <a:t> del ~85% del </a:t>
            </a:r>
            <a:r>
              <a:rPr dirty="0" err="1"/>
              <a:t>tiempo</a:t>
            </a:r>
            <a:r>
              <a:rPr dirty="0"/>
              <a:t> disponible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572000"/>
            <a:ext cx="5486400" cy="18288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" rIns="68580" rtlCol="0" anchor="ctr"/>
          <a:lstStyle/>
          <a:p>
            <a:pPr algn="ctr">
              <a:spcAft>
                <a:spcPts val="300"/>
              </a:spcAft>
              <a:defRPr sz="1000" b="1">
                <a:solidFill>
                  <a:srgbClr val="1A2744"/>
                </a:solidFill>
                <a:latin typeface="Calibri"/>
              </a:defRPr>
            </a:pPr>
            <a:r>
              <a:t>Calendario del Equipamiento — MacBook Air M1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Disponibilidad: 24/7, compartido con uso personal del tesista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Ventanas óptimas para entrenamiento ML: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Horario nocturno (18:00-06:00): menor temperatura ambiente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Fines de semana: bloques de 8-12h continuos disponibles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Horas totales estimadas de uso para el proyecto: ~1,000h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Nota: no requiere calendario exclusivo; se comparte con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actividades personales fuera del horario de proyecto.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4572000"/>
            <a:ext cx="5029200" cy="18288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" rIns="68580" rtlCol="0" anchor="ctr"/>
          <a:lstStyle/>
          <a:p>
            <a:pPr algn="ctr">
              <a:spcAft>
                <a:spcPts val="300"/>
              </a:spcAft>
              <a:defRPr sz="1000" b="1">
                <a:solidFill>
                  <a:srgbClr val="1A2744"/>
                </a:solidFill>
                <a:latin typeface="Calibri"/>
              </a:defRPr>
            </a:pPr>
            <a:r>
              <a:t>Calendario del Asesor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Disponibilidad: Sujeta a carga académica FING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Reuniones: 1h/semana (día y hora fijos por acordar)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Revisiones de hitos: bajo demanda, con 5 días de anticipación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Período de mayor carga: inicio de semestre (Ene, Jul)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Nota: El asesor no tiene dedicación exclusiva.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Se debe planificar con 1-2 semanas de anticipación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para revisiones de documentos extensos.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2743200"/>
            <a:ext cx="1219200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DOMINIO DE DESEMPEÑO:</a:t>
            </a:r>
            <a:br/>
            <a:r>
              <a:t>COSTOS / FINANZAS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6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8DCF0"/>
                </a:solidFill>
                <a:latin typeface="Calibri"/>
              </a:defRPr>
            </a:pPr>
            <a:r>
              <a:t>Planificación, estimación, presupuestación, financiamiento y control de los costos del proyecto. Incluye EVM y análisis de valor ganado.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REQUISITOS DE RECURSOS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  <a:latin typeface="Calibri"/>
              </a:defRPr>
            </a:pPr>
            <a:r>
              <a:t>Humanos, equipamiento y materiales necesarios | PMBOK 8va, Recursos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657600" cy="27432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" rIns="68580" rtlCol="0" anchor="ctr"/>
          <a:lstStyle/>
          <a:p>
            <a:pPr algn="ctr">
              <a:spcAft>
                <a:spcPts val="3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Recurso Humano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Pablo Flores (PM / Tesista)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Horas planificadas: 1,287h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Tarifa: Q 80.00 / hora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Costo total: Q 102,960.00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Disponibilidad: 100% tiempo completo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Período: Feb 02 — Sep 14, 2026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Horario: Lun-Sáb 8h/día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Flexibilidad: 10h/día en semanas críticas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Rol: Investigación, desarrollo,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entrenamiento ML, redacción,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gestión del proyecto, defensa oral.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657600" cy="27432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" rIns="68580" rtlCol="0" anchor="ctr"/>
          <a:lstStyle/>
          <a:p>
            <a:pPr algn="ctr">
              <a:spcAft>
                <a:spcPts val="3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Equipamiento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MacBook Air M1 2020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Chip: Apple M1 (8-core CPU, 7-core GPU)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RAM: 8GB LPDDR4X unificada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Almacenamiento: 256GB SSD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Precio: Q 6,000.00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Estado: Propiedad del tesista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Uso estimado: ~1,000h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Limitación principal: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8GB RAM → quantización 4-bit,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batch=1, modelos ≤ 4B parámetros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371600"/>
            <a:ext cx="3657600" cy="27432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" rIns="68580" rtlCol="0" anchor="ctr"/>
          <a:lstStyle/>
          <a:p>
            <a:pPr algn="ctr">
              <a:spcAft>
                <a:spcPts val="300"/>
              </a:spcAft>
              <a:defRPr sz="1000" b="1">
                <a:solidFill>
                  <a:srgbClr val="1A2744"/>
                </a:solidFill>
                <a:latin typeface="Calibri"/>
              </a:defRPr>
            </a:pPr>
            <a:r>
              <a:t>Software y Materiales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Software (todo gratuito):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Python 3.11+, HuggingFace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PEFT / LoRA / MLX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ProjectLibre 1.9.8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Git / GitHub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Google Drive 100GB (EDU)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Materiales: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Impresión 3 copias: Q 450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Posters defensa: Q 200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Papelería: Q 150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Total materiales: Q 800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Infraestructura (absorbida):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Internet 10Mbps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Electricidad ~Q 300 total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ESTIMACIONES DE COSTOS — DESGLOSE POR TAREA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Calibri"/>
              </a:defRPr>
            </a:pPr>
            <a:r>
              <a:t>Costos directos por actividad | Tarifa: Q 80/hr | 110 tareas | PMBOK 8va, Costos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8720503"/>
              </p:ext>
            </p:extLst>
          </p:nvPr>
        </p:nvGraphicFramePr>
        <p:xfrm>
          <a:off x="349623" y="1174376"/>
          <a:ext cx="11120717" cy="560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91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82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303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47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82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9997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200"/>
                        <a:t>UID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200"/>
                        <a:t>Fase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200"/>
                        <a:t>Tarea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200"/>
                        <a:t>Horas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200"/>
                        <a:t>Costo (Q)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997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 dirty="0"/>
                        <a:t>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INICIO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Revisar normativo y reglamento de graduación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8h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Q 640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997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 dirty="0"/>
                        <a:t>INICIO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Delimitar el tema de investigación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16h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Q 1,280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997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INICIO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Preparar formularios y documentación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8h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Q 640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9997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INICIO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Presentar solicitud formal ante la facultad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Q 240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9997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INICIO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Período de espera — resolución institucional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39h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Q 3,120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9997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INICIO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Recibir aprobación formal del tema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4h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Q 320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9997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11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INICIO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Identificar y evaluar candidatos a 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8h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Q 640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9997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INICIO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Contactar y reunirse con candidatos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8h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Q 640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19997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13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INICIO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Seleccionar asesor definitivo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3h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Q 240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19997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INICIO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 dirty="0" err="1"/>
                        <a:t>Formalizar</a:t>
                      </a:r>
                      <a:r>
                        <a:rPr sz="200" dirty="0"/>
                        <a:t> carta de </a:t>
                      </a:r>
                      <a:r>
                        <a:rPr sz="200" dirty="0" err="1"/>
                        <a:t>asignación</a:t>
                      </a:r>
                      <a:r>
                        <a:rPr sz="200" dirty="0"/>
                        <a:t> del </a:t>
                      </a:r>
                      <a:r>
                        <a:rPr sz="200" dirty="0" err="1"/>
                        <a:t>asesor</a:t>
                      </a:r>
                      <a:endParaRPr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Q 240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19997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15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INICIO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Primera reunión de trabajo con 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7h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Q 560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19997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INICIO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Definir alcance, supuestos y restricciones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Q 1,200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19997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18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INICIO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Elaborar EDT (WBS) del proyecto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Q 1,200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19997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INICIO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Elaborar cronograma y línea base de tiempo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Q 1,200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19997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20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INICIO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Identificar y evaluar riesgos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7h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Q 560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19997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INICIO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Elaborar plan de comunicación y seguimiento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7h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Q 560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19997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22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INICIO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Revisión y aprobación del plan con 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Q 1,200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19997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PLANIFICACIÓN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Revisión de literatura sobre el problema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23h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Q 1,840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19997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PLANIFICACIÓN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Redactar planteamiento del problema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23h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Q 1,840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19997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PLANIFICACIÓN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Definir objetivos general y específicos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Q 1,200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19997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28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PLANIFICACIÓN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Plantear hipótesis de investigación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7h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Q 560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19997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PLANIFICACIÓN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Escribir justificación del proyecto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Q 1,200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19997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30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PLANIFICACIÓN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Redactar documento completo de anteproyecto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23h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Q 1,840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19997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PLANIFICACIÓN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Revisión del anteproyecto con asesor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Q 1,200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19997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32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PLANIFICACIÓN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Presentar anteproyecto ante comité evaluador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7h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Q 560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19997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PLANIFICACIÓN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Período de espera — aprobación del comité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31h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Q 2,480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19997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35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PLANIFICACIÓN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Revisar y comparar metodologías de investigación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Q 1,200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19997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PLANIFICACIÓN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Seleccionar y justificar metodología adoptada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Q 1,200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19997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37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PLANIFICACIÓN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Diseñar arquitectura general del experimento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23h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Q 1,840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19997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PLANIFICACIÓN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Identificar y seleccionar datasets HDL / 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Q 1,200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119997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39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PLANIFICACIÓN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Planificar pipeline de entrenamiento y evaluación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Q 1,200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119997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PLANIFICACIÓN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Definir métricas y criterios de éxito del modelo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7h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Q 560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  <a:tr h="119997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41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PLANIFICACIÓN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Documentar y aprobar diseño metodológico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Q 1,200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3"/>
                  </a:ext>
                </a:extLst>
              </a:tr>
              <a:tr h="119997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EJECUCIÓN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Rev. bibliográfica: LLMs y arquitecturas Transformer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23h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Q 1,840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4"/>
                  </a:ext>
                </a:extLst>
              </a:tr>
              <a:tr h="119997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45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EJECUCIÓN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Rev. bibliográfica: LoRA y métodos PEFT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31h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Q 2,480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5"/>
                  </a:ext>
                </a:extLst>
              </a:tr>
              <a:tr h="119997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EJECUCIÓN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Rev. bibliográfica: HDL — VHDL / Verilog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23h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Q 1,840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6"/>
                  </a:ext>
                </a:extLst>
              </a:tr>
              <a:tr h="119997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47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EJECUCIÓN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Rev. bibliográfica: QA en diseño digital y EDA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23h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Q 1,840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7"/>
                  </a:ext>
                </a:extLst>
              </a:tr>
              <a:tr h="119997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EJECUCIÓN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Redactar sección — Fundamentos teóricos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31h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Q 2,480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8"/>
                  </a:ext>
                </a:extLst>
              </a:tr>
              <a:tr h="119997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49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EJECUCIÓN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Redactar sección — LoRA aplicado a generación HDL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31h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Q 2,480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9"/>
                  </a:ext>
                </a:extLst>
              </a:tr>
              <a:tr h="119997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EJECUCIÓN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Redactar sección — Estado del arte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23h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Q 1,840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40"/>
                  </a:ext>
                </a:extLst>
              </a:tr>
              <a:tr h="119997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51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EJECUCIÓN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Revisión del marco teórico con 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Q 1,200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1"/>
                  </a:ext>
                </a:extLst>
              </a:tr>
              <a:tr h="119997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EJECUCIÓN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Corrección y ajuste del marco teórico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Q 1,200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42"/>
                  </a:ext>
                </a:extLst>
              </a:tr>
              <a:tr h="119997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54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EJECUCIÓN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Catalogar datasets HDL / QA disponibles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Q 1,200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3"/>
                  </a:ext>
                </a:extLst>
              </a:tr>
              <a:tr h="119997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EJECUCIÓN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Descargar y verificar integridad de datasets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7h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Q 560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44"/>
                  </a:ext>
                </a:extLst>
              </a:tr>
              <a:tr h="119997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56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EJECUCIÓN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Análisis exploratorio de datos (EDA)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/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00" dirty="0"/>
                        <a:t>Q 1,200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46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ESTIMACIONES DE COSTOS (2/2) — BASE DE LAS ESTIMACIONES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Calibri"/>
              </a:defRPr>
            </a:pPr>
            <a:r>
              <a:t>Continuación + fundamento de estimaciones | PMBOK 8va, Costos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2243892"/>
              </p:ext>
            </p:extLst>
          </p:nvPr>
        </p:nvGraphicFramePr>
        <p:xfrm>
          <a:off x="457199" y="1280160"/>
          <a:ext cx="11277600" cy="5311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295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73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62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2041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250"/>
                        <a:t>UID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250" dirty="0"/>
                        <a:t>Fase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250"/>
                        <a:t>Tarea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250"/>
                        <a:t>Horas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250"/>
                        <a:t>Costo (Q)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041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57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EJECUCIÓN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Limpieza y depuración de datos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31h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Q 2,480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041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EJECUCIÓN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Tokenización y formateo para fine-tuning 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23h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Q 1,840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041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59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EJECUCIÓN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Transformación y normalización de datos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23h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Q 1,840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2041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EJECUCIÓN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Validación de calidad e integridad del 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Q 1,200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2041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61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EJECUCIÓN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 dirty="0" err="1"/>
                        <a:t>Documentar</a:t>
                      </a:r>
                      <a:r>
                        <a:rPr sz="250" dirty="0"/>
                        <a:t> pipeline de </a:t>
                      </a:r>
                      <a:r>
                        <a:rPr sz="250" dirty="0" err="1"/>
                        <a:t>preprocesamiento</a:t>
                      </a:r>
                      <a:endParaRPr sz="250" dirty="0"/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7h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Q 560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2041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EJECUCIÓN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Configurar entorno Python / HuggingFace en MacBook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Q 1,200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2041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64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EJECUCIÓN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Instalar y verificar librerías PEFT / LoRA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7h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Q 560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2041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EJECUCIÓN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Seleccionar y cargar modelo base 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7h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Q 560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2041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66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EJECUCIÓN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Implementar cargador de datos HDL personalizado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23h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Q 1,840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22041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EJECUCIÓN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 dirty="0" err="1"/>
                        <a:t>Configurar</a:t>
                      </a:r>
                      <a:r>
                        <a:rPr sz="250" dirty="0"/>
                        <a:t> </a:t>
                      </a:r>
                      <a:r>
                        <a:rPr sz="250" dirty="0" err="1"/>
                        <a:t>parámetros</a:t>
                      </a:r>
                      <a:r>
                        <a:rPr sz="250" dirty="0"/>
                        <a:t> </a:t>
                      </a:r>
                      <a:r>
                        <a:rPr sz="250" dirty="0" err="1"/>
                        <a:t>LoRA</a:t>
                      </a:r>
                      <a:r>
                        <a:rPr sz="250" dirty="0"/>
                        <a:t> (r, alpha, dropout)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Q 1,200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2041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68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EJECUCIÓN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Ejecutar entrenamiento piloto (sanity check)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Q 1,200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22041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EJECUCIÓN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Analizar métricas de pérdida y accuracy del piloto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Q 1,200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22041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70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EJECUCIÓN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Ajustar hiperparámetros — iteración 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23h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Q 1,840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22041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EJECUCIÓN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Ejecutar entrenamiento optimizado iteración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31h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Q 2,480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22041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72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EJECUCIÓN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Ajustar hiperparámetros — iteración 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23h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Q 1,840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22041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EJECUCIÓN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Ejecutar entrenamiento final (modelo definitivo)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31h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Q 2,480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22041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74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EJECUCIÓN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Guardar, versionar y respaldar modelo entrenado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7h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Q 560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22041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EJECUCIÓN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Documentar proceso de entrenamiento completo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Q 1,200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22041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77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EJECUCIÓN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Revisar benchmarks existentes para LLM / HDL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Q 1,200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22041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EJECUCIÓN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Definir métricas: BLEU, exactitud sintáctica, PASS@k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7h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Q 560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22041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79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EJECUCIÓN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Implementar scripts de evaluación automatizada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23h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Q 1,840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22041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EJECUCIÓN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Ejecutar benchmark — modelo LoRA fine-tuned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23h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Q 1,840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22041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81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EJECUCIÓN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Ejecutar benchmark — modelo base (baseline)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Q 1,200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22041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EJECUCIÓN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Comparar y analizar: LoRA vs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23h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Q 1,840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22041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83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EJECUCIÓN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Documentar resultados del benchmark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Q 1,200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22041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EJECUCIÓN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Compilar y consolidar todas las métricas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7h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Q 560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22041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86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EJECUCIÓN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Análisis estadístico descriptivo de resultados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Q 1,200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22041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EJECUCIÓN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Visualizar resultados (gráficas y tablas)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Q 1,200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22041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88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EJECUCIÓN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Comparar con modelos del estado del arte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23h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Q 1,840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22041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EJECUCIÓN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Identificar fortalezas, limitaciones y trabajo futuro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Q 1,200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122041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90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EJECUCIÓN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Redactar análisis e interpretación de resultados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Q 1,200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122041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EJECUCIÓN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Definir estructura y capítulos del informe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7h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Q 560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  <a:tr h="122041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93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EJECUCIÓN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Redactar cap. 1 — Introducción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Q 1,200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3"/>
                  </a:ext>
                </a:extLst>
              </a:tr>
              <a:tr h="122041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EJECUCIÓN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Integrar cap. 2 — Marco teórico (ajustar)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Q 1,200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4"/>
                  </a:ext>
                </a:extLst>
              </a:tr>
              <a:tr h="122041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95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EJECUCIÓN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Redactar cap. 3 — Metodología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23h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Q 1,840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5"/>
                  </a:ext>
                </a:extLst>
              </a:tr>
              <a:tr h="122041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EJECUCIÓN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Redactar cap. 4 — Resultados y análisis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23h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Q 1,840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6"/>
                  </a:ext>
                </a:extLst>
              </a:tr>
              <a:tr h="122041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97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EJECUCIÓN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Redactar cap. 5 — Conclusiones y recomendaciones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Q 1,200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7"/>
                  </a:ext>
                </a:extLst>
              </a:tr>
              <a:tr h="122041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EJECUCIÓN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Elaborar referencias bibliográficas (APA / IEEE)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7h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Q 560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8"/>
                  </a:ext>
                </a:extLst>
              </a:tr>
              <a:tr h="122041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99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EJECUCIÓN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Revisar formato y estilo según normativo UNIS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Q 1,200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9"/>
                  </a:ext>
                </a:extLst>
              </a:tr>
              <a:tr h="122041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EJECUCIÓN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Primera revisión con asesor (espera retroalim.)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/>
                        <a:t>23h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sz="250" dirty="0"/>
                        <a:t>Q 1,840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40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750595" y="0"/>
            <a:ext cx="3441405" cy="11887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" rIns="68580" rtlCol="0" anchor="ctr"/>
          <a:lstStyle/>
          <a:p>
            <a:pPr algn="ctr">
              <a:spcAft>
                <a:spcPts val="300"/>
              </a:spcAft>
              <a:defRPr sz="1000" b="1">
                <a:solidFill>
                  <a:srgbClr val="1A2744"/>
                </a:solidFill>
                <a:latin typeface="Calibri"/>
              </a:defRPr>
            </a:pPr>
            <a:r>
              <a:t>Base de las Estimaciones — Costos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Tarifa mano de obra Q 80/hr: basada en estipendio investigador junior Guatemala (ref. SENACYT 2025, ~Q 12,800/mes ÷ 160h).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Costo de oportunidad: el tesista no recibe salario. | MacBook M1: Q 6,000 precio mercado GT (2025, depreciado 2 años).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Materiales Q 800: cotización Copistería UNIS (Q 150/copia × 3) + posters Q 200 + papelería Q 150.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Precisión: ±10% en paquetes nivel 4. Contingencia calculada como EMV de 25 riesgos (ver Registro de Riesgos).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47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LÍNEA BASE DE COSTOS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Presupuesto aprobado contra el cual se mide el desempeño de costos | PMBOK 8va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0972800" cy="9144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Definición de Línea Base de Costos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BAC (Budget at Completion) = Q 116,640.00 — incluye mano de obra directa (Q 109,840) + equipamiento y materiales (Q 6,800). No incluye reservas de contingencia ni gestión. La línea base se congela tras la aprobación del anteproyecto (Mar 2026).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46888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Período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PV Mensual (Q)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PV Acumulado (Q)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BAC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Feb 2026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16,880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16,880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14.5%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Mar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29,360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46,240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39.6%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29,920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76,160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65.3%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May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13,760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89,920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77.1%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Jun 2026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15,200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105,120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90.1%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Jul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18,080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123,200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105.6%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Ago 2026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12,800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136,000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116.6%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Sep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10,400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146,400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125.5%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899990" y="2468880"/>
            <a:ext cx="3987209" cy="36576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000" b="1">
                <a:solidFill>
                  <a:srgbClr val="1A2744"/>
                </a:solidFill>
                <a:latin typeface="Calibri"/>
              </a:defRPr>
            </a:pPr>
            <a:r>
              <a:rPr dirty="0" err="1"/>
              <a:t>Indicadores</a:t>
            </a:r>
            <a:r>
              <a:rPr dirty="0"/>
              <a:t> de Línea Base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rPr dirty="0"/>
              <a:t>BAC = Q 116,640.00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Presupuesto</a:t>
            </a:r>
            <a:r>
              <a:rPr dirty="0"/>
              <a:t> total (</a:t>
            </a:r>
            <a:r>
              <a:rPr dirty="0" err="1"/>
              <a:t>incluye</a:t>
            </a:r>
            <a:r>
              <a:rPr dirty="0"/>
              <a:t> </a:t>
            </a:r>
            <a:r>
              <a:rPr dirty="0" err="1"/>
              <a:t>reservas</a:t>
            </a:r>
            <a:r>
              <a:rPr dirty="0"/>
              <a:t>):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rPr dirty="0"/>
              <a:t>Q 116,640 + Q 20,846 + Q 700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rPr dirty="0"/>
              <a:t>= Q 138,186.00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rPr dirty="0"/>
              <a:t>Curva S: </a:t>
            </a:r>
            <a:r>
              <a:rPr dirty="0" err="1"/>
              <a:t>perfil</a:t>
            </a:r>
            <a:r>
              <a:rPr dirty="0"/>
              <a:t> de </a:t>
            </a:r>
            <a:r>
              <a:rPr dirty="0" err="1"/>
              <a:t>gasto</a:t>
            </a:r>
            <a:r>
              <a:rPr dirty="0"/>
              <a:t> front-loaded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rPr dirty="0"/>
              <a:t>con </a:t>
            </a:r>
            <a:r>
              <a:rPr dirty="0" err="1"/>
              <a:t>pico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Mar-</a:t>
            </a:r>
            <a:r>
              <a:rPr dirty="0" err="1"/>
              <a:t>Abr</a:t>
            </a:r>
            <a:r>
              <a:rPr dirty="0"/>
              <a:t> 2026 (</a:t>
            </a:r>
            <a:r>
              <a:rPr dirty="0" err="1"/>
              <a:t>planif</a:t>
            </a:r>
            <a:r>
              <a:rPr dirty="0"/>
              <a:t>. + </a:t>
            </a:r>
            <a:r>
              <a:rPr dirty="0" err="1"/>
              <a:t>inicio</a:t>
            </a:r>
            <a:r>
              <a:rPr dirty="0"/>
              <a:t> </a:t>
            </a:r>
            <a:r>
              <a:rPr dirty="0" err="1"/>
              <a:t>ejec</a:t>
            </a:r>
            <a:r>
              <a:rPr dirty="0"/>
              <a:t>.)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Desembolso</a:t>
            </a:r>
            <a:r>
              <a:rPr dirty="0"/>
              <a:t>: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costo</a:t>
            </a:r>
            <a:r>
              <a:rPr dirty="0"/>
              <a:t> de mano de </a:t>
            </a:r>
            <a:r>
              <a:rPr dirty="0" err="1"/>
              <a:t>obra</a:t>
            </a:r>
            <a:r>
              <a:rPr dirty="0"/>
              <a:t> es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costo</a:t>
            </a:r>
            <a:r>
              <a:rPr dirty="0"/>
              <a:t> de </a:t>
            </a:r>
            <a:r>
              <a:rPr dirty="0" err="1"/>
              <a:t>oportunidad</a:t>
            </a:r>
            <a:r>
              <a:rPr dirty="0"/>
              <a:t>. Solo </a:t>
            </a:r>
            <a:r>
              <a:rPr dirty="0" err="1"/>
              <a:t>equipamiento</a:t>
            </a:r>
            <a:r>
              <a:rPr dirty="0"/>
              <a:t> y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materiales</a:t>
            </a:r>
            <a:r>
              <a:rPr dirty="0"/>
              <a:t> </a:t>
            </a:r>
            <a:r>
              <a:rPr dirty="0" err="1"/>
              <a:t>requieren</a:t>
            </a:r>
            <a:r>
              <a:rPr dirty="0"/>
              <a:t> </a:t>
            </a:r>
            <a:r>
              <a:rPr dirty="0" err="1"/>
              <a:t>desembolso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efectivo</a:t>
            </a:r>
            <a:r>
              <a:rPr dirty="0"/>
              <a:t>: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rPr dirty="0"/>
              <a:t>Q 6,800 (</a:t>
            </a:r>
            <a:r>
              <a:rPr dirty="0" err="1"/>
              <a:t>ya</a:t>
            </a:r>
            <a:r>
              <a:rPr dirty="0"/>
              <a:t> </a:t>
            </a:r>
            <a:r>
              <a:rPr dirty="0" err="1"/>
              <a:t>erogado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MacBook).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48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REQUISITOS DE FINANCIAMIENTO DEL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Flujo de fondos necesario por período | PMBOK 8va, Costos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04241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Período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Horas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Mano de Obra (Q)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Erogaciones (Q)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Período (Q)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Acumulado (Q)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Febrero 2026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211h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16,880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6,000 (MacBook)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22,880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22,880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Marzo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367h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29,360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29,360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52,240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Abril 2026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374h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29,920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29,920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82,160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Mayo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172h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13,760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13,760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95,920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Junio 2026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190h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15,200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15,200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111,120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Julio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226h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18,080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18,080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129,200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Agosto 2026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160h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12,800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12,800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142,000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Septiembre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130h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10,400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800 (materiales)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11,200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153,200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Contingencia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20,846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174,046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Gestión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700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174,746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6032880"/>
            <a:ext cx="10972800" cy="7315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000" b="1">
                <a:solidFill>
                  <a:srgbClr val="1A2744"/>
                </a:solidFill>
                <a:latin typeface="Calibri"/>
              </a:defRPr>
            </a:pPr>
            <a:r>
              <a:t>Notas sobre Financiamiento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Fuente de fondos: recursos propios del tesista. No hay financiamiento externo (beca, patrocinio, o subvención).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La mano de obra es costo de oportunidad (no erogación). Las erogaciones reales son solo Q 6,800 (MacBook + materiales).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El flujo de fondos es front-loaded: 65% del presupuesto se concentra en Feb-Abr 2026 (fases de inicio, planificación y arranque de ejecución).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49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ESTRATEGIA DE FINANCIAMIENTO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Cómo se obtendrán y administrarán los fondos del proyecto | PMBOK 8va, Costos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3349256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Estrategia de Financiamiento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Fuente primaria: Recursos propios del tesista (Pablo Flores)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El proyecto no requiere financiamiento externo ya que: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El hardware principal (MacBook M1) ya fue adquirido previamente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El software es 100% open-source y gratuito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La mano de obra es aportada por el tesista como parte de su formación académica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Los costos de materiales son menores a Q 1,000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Estructura de costos: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Costos hundidos (ya incurridos): MacBook M1 Q 6,000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Costos futuros de materiales: Q 800 (impresión, empastado, posters)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Costos recurrentes absorbidos: internet Q 250/mes, electricidad ~Q 300 total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Costo de oportunidad (mano de obra): Q 109,840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Total erogación en efectivo requerida: Q 800 (materiales para fase de cierre)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No se requiere plan de financiamiento con entidades bancarias, inversionistas, o patrocinadores.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029200" cy="3349256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rPr dirty="0"/>
              <a:t>Administración de </a:t>
            </a:r>
            <a:r>
              <a:rPr dirty="0" err="1"/>
              <a:t>Fondos</a:t>
            </a:r>
            <a:endParaRPr dirty="0"/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Responsable</a:t>
            </a:r>
            <a:r>
              <a:rPr dirty="0"/>
              <a:t>: PM (Pablo Flores)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Mecanismo</a:t>
            </a:r>
            <a:r>
              <a:rPr dirty="0"/>
              <a:t>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Cuenta</a:t>
            </a:r>
            <a:r>
              <a:rPr dirty="0"/>
              <a:t> </a:t>
            </a:r>
            <a:r>
              <a:rPr dirty="0" err="1"/>
              <a:t>bancaria</a:t>
            </a:r>
            <a:r>
              <a:rPr dirty="0"/>
              <a:t> personal </a:t>
            </a:r>
            <a:r>
              <a:rPr dirty="0" err="1"/>
              <a:t>existente</a:t>
            </a:r>
            <a:r>
              <a:rPr dirty="0"/>
              <a:t> (no se </a:t>
            </a:r>
            <a:r>
              <a:rPr dirty="0" err="1"/>
              <a:t>requiere</a:t>
            </a:r>
            <a:r>
              <a:rPr dirty="0"/>
              <a:t> </a:t>
            </a:r>
            <a:r>
              <a:rPr dirty="0" err="1"/>
              <a:t>cuenta</a:t>
            </a:r>
            <a:r>
              <a:rPr dirty="0"/>
              <a:t> </a:t>
            </a:r>
            <a:r>
              <a:rPr dirty="0" err="1"/>
              <a:t>dedicada</a:t>
            </a:r>
            <a:r>
              <a:rPr dirty="0"/>
              <a:t>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rPr dirty="0"/>
              <a:t>• Pago </a:t>
            </a:r>
            <a:r>
              <a:rPr dirty="0" err="1"/>
              <a:t>directo</a:t>
            </a:r>
            <a:r>
              <a:rPr dirty="0"/>
              <a:t> a </a:t>
            </a:r>
            <a:r>
              <a:rPr dirty="0" err="1"/>
              <a:t>proveedores</a:t>
            </a:r>
            <a:r>
              <a:rPr dirty="0"/>
              <a:t> (</a:t>
            </a:r>
            <a:r>
              <a:rPr dirty="0" err="1"/>
              <a:t>copistería</a:t>
            </a:r>
            <a:r>
              <a:rPr dirty="0"/>
              <a:t>) contra </a:t>
            </a:r>
            <a:r>
              <a:rPr dirty="0" err="1"/>
              <a:t>entrega</a:t>
            </a:r>
            <a:endParaRPr dirty="0"/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rPr dirty="0"/>
              <a:t>Control: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rPr dirty="0"/>
              <a:t>• Registro de </a:t>
            </a:r>
            <a:r>
              <a:rPr dirty="0" err="1"/>
              <a:t>gastos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Excel </a:t>
            </a:r>
            <a:r>
              <a:rPr dirty="0" err="1"/>
              <a:t>vinculado</a:t>
            </a:r>
            <a:r>
              <a:rPr dirty="0"/>
              <a:t> al EVM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rPr dirty="0"/>
              <a:t>• Facturas/</a:t>
            </a:r>
            <a:r>
              <a:rPr dirty="0" err="1"/>
              <a:t>recibos</a:t>
            </a:r>
            <a:r>
              <a:rPr dirty="0"/>
              <a:t> </a:t>
            </a:r>
            <a:r>
              <a:rPr dirty="0" err="1"/>
              <a:t>escaneados</a:t>
            </a:r>
            <a:r>
              <a:rPr dirty="0"/>
              <a:t> y </a:t>
            </a:r>
            <a:r>
              <a:rPr dirty="0" err="1"/>
              <a:t>archivados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Google Drive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Flujo</a:t>
            </a:r>
            <a:r>
              <a:rPr dirty="0"/>
              <a:t> de </a:t>
            </a:r>
            <a:r>
              <a:rPr dirty="0" err="1"/>
              <a:t>fondos</a:t>
            </a:r>
            <a:r>
              <a:rPr dirty="0"/>
              <a:t>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rPr dirty="0"/>
              <a:t>• Feb 2026: Q 0 (MacBook </a:t>
            </a:r>
            <a:r>
              <a:rPr dirty="0" err="1"/>
              <a:t>ya</a:t>
            </a:r>
            <a:r>
              <a:rPr dirty="0"/>
              <a:t> </a:t>
            </a:r>
            <a:r>
              <a:rPr dirty="0" err="1"/>
              <a:t>pagado</a:t>
            </a:r>
            <a:r>
              <a:rPr dirty="0"/>
              <a:t> </a:t>
            </a:r>
            <a:r>
              <a:rPr dirty="0" err="1"/>
              <a:t>previamente</a:t>
            </a:r>
            <a:r>
              <a:rPr dirty="0"/>
              <a:t>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rPr dirty="0"/>
              <a:t>• Sep 2026: Q 800 (</a:t>
            </a:r>
            <a:r>
              <a:rPr dirty="0" err="1"/>
              <a:t>impresión</a:t>
            </a:r>
            <a:r>
              <a:rPr dirty="0"/>
              <a:t> + posters)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Reservas</a:t>
            </a:r>
            <a:r>
              <a:rPr dirty="0"/>
              <a:t>: no </a:t>
            </a:r>
            <a:r>
              <a:rPr dirty="0" err="1"/>
              <a:t>requieren</a:t>
            </a:r>
            <a:r>
              <a:rPr dirty="0"/>
              <a:t> </a:t>
            </a:r>
            <a:r>
              <a:rPr dirty="0" err="1"/>
              <a:t>depósito</a:t>
            </a:r>
            <a:r>
              <a:rPr dirty="0"/>
              <a:t> </a:t>
            </a:r>
            <a:r>
              <a:rPr dirty="0" err="1"/>
              <a:t>previo</a:t>
            </a:r>
            <a:r>
              <a:rPr dirty="0"/>
              <a:t> (solo se </a:t>
            </a:r>
            <a:r>
              <a:rPr dirty="0" err="1"/>
              <a:t>usan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se </a:t>
            </a:r>
            <a:r>
              <a:rPr dirty="0" err="1"/>
              <a:t>materializan</a:t>
            </a:r>
            <a:r>
              <a:rPr dirty="0"/>
              <a:t> </a:t>
            </a:r>
            <a:r>
              <a:rPr dirty="0" err="1"/>
              <a:t>riesgos</a:t>
            </a:r>
            <a:r>
              <a:rPr dirty="0"/>
              <a:t>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rPr dirty="0"/>
              <a:t>Cierre </a:t>
            </a:r>
            <a:r>
              <a:rPr dirty="0" err="1"/>
              <a:t>financiero</a:t>
            </a:r>
            <a:r>
              <a:rPr dirty="0"/>
              <a:t>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Conciliación</a:t>
            </a:r>
            <a:r>
              <a:rPr dirty="0"/>
              <a:t> de </a:t>
            </a:r>
            <a:r>
              <a:rPr dirty="0" err="1"/>
              <a:t>gastos</a:t>
            </a:r>
            <a:r>
              <a:rPr dirty="0"/>
              <a:t> reales vs </a:t>
            </a:r>
            <a:r>
              <a:rPr dirty="0" err="1"/>
              <a:t>presupuesto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Sep 2026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Documentación</a:t>
            </a:r>
            <a:r>
              <a:rPr dirty="0"/>
              <a:t> de </a:t>
            </a:r>
            <a:r>
              <a:rPr dirty="0" err="1"/>
              <a:t>lecciones</a:t>
            </a:r>
            <a:r>
              <a:rPr dirty="0"/>
              <a:t> </a:t>
            </a:r>
            <a:r>
              <a:rPr dirty="0" err="1"/>
              <a:t>aprendidas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gestión</a:t>
            </a:r>
            <a:r>
              <a:rPr dirty="0"/>
              <a:t> </a:t>
            </a:r>
            <a:r>
              <a:rPr dirty="0" err="1"/>
              <a:t>financiera</a:t>
            </a:r>
            <a:endParaRPr dirty="0"/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rPr dirty="0"/>
              <a:t>• Informe final de </a:t>
            </a:r>
            <a:r>
              <a:rPr dirty="0" err="1"/>
              <a:t>costos</a:t>
            </a:r>
            <a:r>
              <a:rPr dirty="0"/>
              <a:t> para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expediente</a:t>
            </a:r>
            <a:r>
              <a:rPr dirty="0"/>
              <a:t> del </a:t>
            </a:r>
            <a:r>
              <a:rPr dirty="0" err="1"/>
              <a:t>proyecto</a:t>
            </a:r>
            <a:endParaRPr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2743200"/>
            <a:ext cx="1219200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DOMINIO DE DESEMPEÑO:</a:t>
            </a:r>
            <a:br/>
            <a:r>
              <a:t>RIESGOS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6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8DCF0"/>
                </a:solidFill>
                <a:latin typeface="Calibri"/>
              </a:defRPr>
            </a:pPr>
            <a:r>
              <a:t>Identificación, análisis cualitativo y cuantitativo, planificación de respuestas, implementación y monitoreo de riesgos del proyecto.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51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PLAN DE GESTIÓN FINANCIERA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  <a:latin typeface="Calibri"/>
              </a:defRPr>
            </a:pPr>
            <a:r>
              <a:t>Políticas y procedimientos para gestionar los costos | PMBOK 8va, Costos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201168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" rIns="68580" rtlCol="0" anchor="ctr"/>
          <a:lstStyle/>
          <a:p>
            <a:pPr algn="ctr">
              <a:spcAft>
                <a:spcPts val="3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Políticas de Estimación y Control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Método: Bottom-up desde EDT nivel 4 (horas × Q 80/hr)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Moneda: Quetzales (GTQ). Tipo de cambio: Q 7.80/USD (referencia)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Precisión: ±10% en paquetes nivel 4; ±15% en costo total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Reestimación: mensual durante fase de ejecución (o ante cambios aprobados)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Control de Costos: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Monitoreo: EVM mensual (PV, EV, AC, CPI, SPI)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Umbrales: Verde &lt;5% | Amarillo 5-15% | Rojo &gt;15% → escalar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Herramienta: Excel vinculado a datos del XML de ProjectLibre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Responsable: PM (Pablo Flores), con supervisión del asesor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599"/>
            <a:ext cx="5029200" cy="3062177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" rIns="68580" rtlCol="0" anchor="ctr"/>
          <a:lstStyle/>
          <a:p>
            <a:pPr algn="ctr">
              <a:spcAft>
                <a:spcPts val="3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rPr dirty="0" err="1"/>
              <a:t>Reservas</a:t>
            </a:r>
            <a:r>
              <a:rPr dirty="0"/>
              <a:t> e </a:t>
            </a:r>
            <a:r>
              <a:rPr dirty="0" err="1"/>
              <a:t>Indicadores</a:t>
            </a:r>
            <a:r>
              <a:rPr dirty="0"/>
              <a:t> EVM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Reserva</a:t>
            </a:r>
            <a:r>
              <a:rPr dirty="0"/>
              <a:t> de </a:t>
            </a:r>
            <a:r>
              <a:rPr dirty="0" err="1"/>
              <a:t>Contingencia</a:t>
            </a:r>
            <a:r>
              <a:rPr dirty="0"/>
              <a:t>: Q 20,846.00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rPr dirty="0"/>
              <a:t>• Origen: Suma EMV de 25 </a:t>
            </a:r>
            <a:r>
              <a:rPr dirty="0" err="1"/>
              <a:t>riesgos</a:t>
            </a:r>
            <a:r>
              <a:rPr dirty="0"/>
              <a:t> </a:t>
            </a:r>
            <a:r>
              <a:rPr dirty="0" err="1"/>
              <a:t>identificados</a:t>
            </a:r>
            <a:endParaRPr dirty="0"/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rPr dirty="0"/>
              <a:t>• Uso: Solo para </a:t>
            </a:r>
            <a:r>
              <a:rPr dirty="0" err="1"/>
              <a:t>riesgos</a:t>
            </a:r>
            <a:r>
              <a:rPr dirty="0"/>
              <a:t> </a:t>
            </a:r>
            <a:r>
              <a:rPr dirty="0" err="1"/>
              <a:t>materializados</a:t>
            </a:r>
            <a:r>
              <a:rPr dirty="0"/>
              <a:t>; </a:t>
            </a:r>
            <a:r>
              <a:rPr dirty="0" err="1"/>
              <a:t>requiere</a:t>
            </a:r>
            <a:r>
              <a:rPr dirty="0"/>
              <a:t> </a:t>
            </a:r>
            <a:r>
              <a:rPr dirty="0" err="1"/>
              <a:t>aprobación</a:t>
            </a:r>
            <a:r>
              <a:rPr dirty="0"/>
              <a:t> del </a:t>
            </a:r>
            <a:r>
              <a:rPr dirty="0" err="1"/>
              <a:t>asesor</a:t>
            </a:r>
            <a:endParaRPr dirty="0"/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Reserva</a:t>
            </a:r>
            <a:r>
              <a:rPr dirty="0"/>
              <a:t> de </a:t>
            </a:r>
            <a:r>
              <a:rPr dirty="0" err="1"/>
              <a:t>Gestión</a:t>
            </a:r>
            <a:r>
              <a:rPr dirty="0"/>
              <a:t>: Q 700.00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rPr dirty="0"/>
              <a:t>• Uso: Acciones de </a:t>
            </a:r>
            <a:r>
              <a:rPr dirty="0" err="1"/>
              <a:t>mitigación</a:t>
            </a:r>
            <a:r>
              <a:rPr dirty="0"/>
              <a:t> </a:t>
            </a:r>
            <a:r>
              <a:rPr dirty="0" err="1"/>
              <a:t>proactivas</a:t>
            </a:r>
            <a:r>
              <a:rPr dirty="0"/>
              <a:t>; </a:t>
            </a:r>
            <a:r>
              <a:rPr dirty="0" err="1"/>
              <a:t>autorizado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PM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Indicadores</a:t>
            </a:r>
            <a:r>
              <a:rPr dirty="0"/>
              <a:t> EVM: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rPr dirty="0"/>
              <a:t>• PV = Costo </a:t>
            </a:r>
            <a:r>
              <a:rPr dirty="0" err="1"/>
              <a:t>planificado</a:t>
            </a:r>
            <a:r>
              <a:rPr dirty="0"/>
              <a:t> del </a:t>
            </a:r>
            <a:r>
              <a:rPr dirty="0" err="1"/>
              <a:t>trabajo</a:t>
            </a:r>
            <a:r>
              <a:rPr dirty="0"/>
              <a:t> </a:t>
            </a:r>
            <a:r>
              <a:rPr dirty="0" err="1"/>
              <a:t>programado</a:t>
            </a:r>
            <a:endParaRPr dirty="0"/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rPr dirty="0"/>
              <a:t>• EV = Costo </a:t>
            </a:r>
            <a:r>
              <a:rPr dirty="0" err="1"/>
              <a:t>planificado</a:t>
            </a:r>
            <a:r>
              <a:rPr dirty="0"/>
              <a:t> del </a:t>
            </a:r>
            <a:r>
              <a:rPr dirty="0" err="1"/>
              <a:t>trabajo</a:t>
            </a:r>
            <a:r>
              <a:rPr dirty="0"/>
              <a:t> </a:t>
            </a:r>
            <a:r>
              <a:rPr dirty="0" err="1"/>
              <a:t>completado</a:t>
            </a:r>
            <a:endParaRPr dirty="0"/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rPr dirty="0"/>
              <a:t>• AC = Costo real </a:t>
            </a:r>
            <a:r>
              <a:rPr dirty="0" err="1"/>
              <a:t>incurrido</a:t>
            </a:r>
            <a:endParaRPr dirty="0"/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rPr dirty="0"/>
              <a:t>• CPI = EV/AC (&gt;1 = bajo </a:t>
            </a:r>
            <a:r>
              <a:rPr dirty="0" err="1"/>
              <a:t>presupuesto</a:t>
            </a:r>
            <a:r>
              <a:rPr dirty="0"/>
              <a:t>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rPr dirty="0"/>
              <a:t>• SPI = EV/PV (&gt;1 = adelantado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cronograma</a:t>
            </a:r>
            <a:r>
              <a:rPr dirty="0"/>
              <a:t>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rPr dirty="0"/>
              <a:t>• EAC = BAC/CPI (</a:t>
            </a:r>
            <a:r>
              <a:rPr dirty="0" err="1"/>
              <a:t>estimación</a:t>
            </a:r>
            <a:r>
              <a:rPr dirty="0"/>
              <a:t> al </a:t>
            </a:r>
            <a:r>
              <a:rPr dirty="0" err="1"/>
              <a:t>finalizar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52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REGISTRO DE RIESGOS — ANÁLISIS POR TAREA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Calibri"/>
              </a:defRPr>
            </a:pPr>
            <a:r>
              <a:t>25 riesgos mapeados a tareas del cronograma | Contingencia total: Q 20,846 | PMBOK 8va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751841"/>
              </p:ext>
            </p:extLst>
          </p:nvPr>
        </p:nvGraphicFramePr>
        <p:xfrm>
          <a:off x="91440" y="1280160"/>
          <a:ext cx="11750041" cy="53399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94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9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67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94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91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92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163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3846">
                <a:tc>
                  <a:txBody>
                    <a:bodyPr/>
                    <a:lstStyle/>
                    <a:p>
                      <a:pPr>
                        <a:defRPr sz="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Tarea</a:t>
                      </a:r>
                    </a:p>
                    <a:p>
                      <a:pPr>
                        <a:defRPr sz="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UID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Riesgo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Descripción del Riesgo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Prob.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Impacto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CE (Q)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Respuesta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846"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R-01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Demora en resolución institucional por procesos administrativos 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3,120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1,248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Escalar con Director; enviar recordatorios formales cad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846"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Retraso en asignación de asesor por disponibilidad limitada de 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2,520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882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Contactar múltiples candidatos simultáneamente; escaler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846"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R-03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Escasez de literatura específica sobre LoRA aplicado a HDL/Verilo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1,840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460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Ampliar búsqueda a papers de PEFT generales y transfer 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846"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Rechazo del anteproyecto por comité evaluador por alcance excesiv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Reducir alcance a una sola estrategia de preprocesamien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3846"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R-05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Arquitectura experimental no viable con hardware M1 8GB (batch=1 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5,000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1,500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Evaluar QLoRA 4-bit con MLX; considerar gradient checkp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3846"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encontrar datasets HDL/QA de calidad suficiente para fine-tuni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3,000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Generar dataset sintético con GPT-4; usar VerilogEval 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3846"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R-07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Datasets corruptos o enlaces rotos en repositorios públicos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560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140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Verificar checksums; descargar desde múltiples mirrors;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3846"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Datos de entrenamiento con corrupción no detectada afecta converg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3,000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Implementar pipeline de validación automatizada; revisi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3846"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R-09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Incompatibilidad de MLX / HuggingFace con MacBook M1 (errores de 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1,500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375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Usar entorno Conda; probar versiones estables documenta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3846"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Modelo base Qwen3-4B no carga en 8GB RAM (OOM al inicializar)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Usar quantización 4-bit GGUF; probar modelos más pequeñ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3846"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R-11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Entrenamiento piloto diverge o produce NaN en pérdida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2,500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875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Reducir learning rate; aumentar warmup steps; revisar 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3846"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Tiempo de entrenamiento excede estimado por thermal throttling 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3,000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1,350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Entrenar en horarios nocturnos; usar ventilador externo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3846"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R-13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Entrenamiento final interrumpido por falla de hardware (sobrecale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6,000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1,500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Implementar checkpointing cada 100 steps; respaldo en i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3846"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Resultados del modelo final no superan baseline (fine-tuning sin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Ajustar rank LoRA (r=16→64); probar diferentes learning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3846"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R-15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VerilogEval v2 no ejecuta correctamente en entorno ARM/M1 (depend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2,500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750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Compilar dependencias nativas para ARM; usar Rosetta 2;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3846"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Memoria insuficiente para ejecutar benchmark con modelo fine-tune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1,840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644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Cerrar aplicaciones; reiniciar sistema; evaluar por lot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3846"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R-17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Modelos SOTA publicados usan hardware GPU/A100 no reproducible en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2,000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800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Documentar limitaciones de hardware; comparar normaliza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3846"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R-18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Metodología requiere cambios mayores tras revisión del asesor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3,000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Mantener reuniones quincenales; enviar borradores por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3846"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R-19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Retroalimentación del asesor demora más de 2 semanas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1,840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552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Establecer SLA de respuesta; enviar recordatorios; agen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3846"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Observaciones extensas del asesor requieren reescritura de capítu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1,250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Anticipar observaciones revisando tesis previas del 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03846"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R-21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Asesor cancela reuniones semanales recurrentemente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1,500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300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Agendar con 1 semana de anticipación; confirmar 24h ant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03846"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R-22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Cambios aprobados requieren reprocesamiento de datos o re-entrena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3,000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Versionar todo código y datos; mantener checkpoints; 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03846"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R-23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Asesor no aprueba documento final por calidad insuficiente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3,000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450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Revisión previa en múltiples iteraciones; checklist de 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03846"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R-24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Defensa oral no exitosa por falta de preparación o jurado exigent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Ensayos con familiares; preparar respuestas a preguntas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03850"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R-25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Error en impresión/empastado con plazo de entrega inminente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800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120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dirty="0" err="1"/>
                        <a:t>Verificar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formato</a:t>
                      </a:r>
                      <a:r>
                        <a:rPr dirty="0"/>
                        <a:t> PDF antes de </a:t>
                      </a:r>
                      <a:r>
                        <a:rPr dirty="0" err="1"/>
                        <a:t>imprimir</a:t>
                      </a:r>
                      <a:r>
                        <a:rPr dirty="0"/>
                        <a:t>; </a:t>
                      </a:r>
                      <a:r>
                        <a:rPr dirty="0" err="1"/>
                        <a:t>reservar</a:t>
                      </a:r>
                      <a:r>
                        <a:rPr dirty="0"/>
                        <a:t> 2 día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53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REPORTE DE RIESGOS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Resumen ejecutivo de la situación de riesgos | PMBOK 8va, Riesgos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599"/>
            <a:ext cx="5486400" cy="2838893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Resumen General de Riesgos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Total riesgos identificados: 25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Riesgos con plan de respuesta activo (CE &gt; Q 1,500): 12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Riesgos en monitoreo pasivo (CE &lt; Q 500): 5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Riesgos escalables al Director: 3 (R-01, R-02, R-04)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Costo Esperado Total (EMV): Q 20,846.00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Reserva de contingencia recomendada: Q 20,846.00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Reserva de gestión: Q 700.00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Perfil de riesgo del proyecto: MODERADO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La mayoría de riesgos son técnicos (15/25 = 60%)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Los riesgos organizacionales tienen alto impacto pero baja probabilidad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No hay riesgos catastróficos (impacto &gt; Q 10,000) identificados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599"/>
            <a:ext cx="5029200" cy="2838893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000" b="1">
                <a:solidFill>
                  <a:srgbClr val="1A2744"/>
                </a:solidFill>
                <a:latin typeface="Calibri"/>
              </a:defRPr>
            </a:pPr>
            <a:r>
              <a:rPr dirty="0" err="1"/>
              <a:t>Distribución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Categoría</a:t>
            </a:r>
            <a:endParaRPr dirty="0"/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rPr dirty="0"/>
              <a:t>Técnico: 15 </a:t>
            </a:r>
            <a:r>
              <a:rPr dirty="0" err="1"/>
              <a:t>riesgos</a:t>
            </a:r>
            <a:r>
              <a:rPr dirty="0"/>
              <a:t> | CE: Q 13,994 (67.1%)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rPr dirty="0"/>
              <a:t>  → </a:t>
            </a:r>
            <a:r>
              <a:rPr dirty="0" err="1"/>
              <a:t>Principales</a:t>
            </a:r>
            <a:r>
              <a:rPr dirty="0"/>
              <a:t>: R-10 (OOM), R-05 (hardware), R-13 (</a:t>
            </a:r>
            <a:r>
              <a:rPr dirty="0" err="1"/>
              <a:t>falla</a:t>
            </a:r>
            <a:r>
              <a:rPr dirty="0"/>
              <a:t> HW)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Organizacional</a:t>
            </a:r>
            <a:r>
              <a:rPr dirty="0"/>
              <a:t>: 7 </a:t>
            </a:r>
            <a:r>
              <a:rPr dirty="0" err="1"/>
              <a:t>riesgos</a:t>
            </a:r>
            <a:r>
              <a:rPr dirty="0"/>
              <a:t> | CE: Q 4,950 (23.7%)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rPr dirty="0"/>
              <a:t>  → </a:t>
            </a:r>
            <a:r>
              <a:rPr dirty="0" err="1"/>
              <a:t>Principales</a:t>
            </a:r>
            <a:r>
              <a:rPr dirty="0"/>
              <a:t>: R-20 (</a:t>
            </a:r>
            <a:r>
              <a:rPr dirty="0" err="1"/>
              <a:t>reescritura</a:t>
            </a:r>
            <a:r>
              <a:rPr dirty="0"/>
              <a:t>), R-01 (</a:t>
            </a:r>
            <a:r>
              <a:rPr dirty="0" err="1"/>
              <a:t>demora</a:t>
            </a:r>
            <a:r>
              <a:rPr dirty="0"/>
              <a:t> inst.)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rPr dirty="0"/>
              <a:t>Calidad: 1 </a:t>
            </a:r>
            <a:r>
              <a:rPr dirty="0" err="1"/>
              <a:t>riesgo</a:t>
            </a:r>
            <a:r>
              <a:rPr dirty="0"/>
              <a:t> | CE: Q 900 (4.3%)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rPr dirty="0"/>
              <a:t>  → R-08: </a:t>
            </a:r>
            <a:r>
              <a:rPr dirty="0" err="1"/>
              <a:t>Corrupción</a:t>
            </a:r>
            <a:r>
              <a:rPr dirty="0"/>
              <a:t> de </a:t>
            </a:r>
            <a:r>
              <a:rPr dirty="0" err="1"/>
              <a:t>datos</a:t>
            </a:r>
            <a:r>
              <a:rPr dirty="0"/>
              <a:t> de </a:t>
            </a:r>
            <a:r>
              <a:rPr dirty="0" err="1"/>
              <a:t>entrenamiento</a:t>
            </a:r>
            <a:endParaRPr dirty="0"/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Recursos</a:t>
            </a:r>
            <a:r>
              <a:rPr dirty="0"/>
              <a:t> Humanos: 1 </a:t>
            </a:r>
            <a:r>
              <a:rPr dirty="0" err="1"/>
              <a:t>riesgo</a:t>
            </a:r>
            <a:r>
              <a:rPr dirty="0"/>
              <a:t> | CE: Q 882 (4.2%)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rPr dirty="0"/>
              <a:t>  → R-02: </a:t>
            </a:r>
            <a:r>
              <a:rPr dirty="0" err="1"/>
              <a:t>Retraso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asignación</a:t>
            </a:r>
            <a:r>
              <a:rPr dirty="0"/>
              <a:t> de </a:t>
            </a:r>
            <a:r>
              <a:rPr dirty="0" err="1"/>
              <a:t>asesor</a:t>
            </a:r>
            <a:endParaRPr dirty="0"/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Operativo</a:t>
            </a:r>
            <a:r>
              <a:rPr dirty="0"/>
              <a:t>: 1 </a:t>
            </a:r>
            <a:r>
              <a:rPr dirty="0" err="1"/>
              <a:t>riesgo</a:t>
            </a:r>
            <a:r>
              <a:rPr dirty="0"/>
              <a:t> | CE: Q 120 (0.6%)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rPr dirty="0"/>
              <a:t>  → R-25: Error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impresión</a:t>
            </a:r>
            <a:r>
              <a:rPr dirty="0"/>
              <a:t>/</a:t>
            </a:r>
            <a:r>
              <a:rPr dirty="0" err="1"/>
              <a:t>empastado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457200" y="4540103"/>
            <a:ext cx="10972800" cy="16459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rPr dirty="0"/>
              <a:t>Top 5 </a:t>
            </a:r>
            <a:r>
              <a:rPr dirty="0" err="1"/>
              <a:t>Riesgos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Costo </a:t>
            </a:r>
            <a:r>
              <a:rPr dirty="0" err="1"/>
              <a:t>Esperado</a:t>
            </a:r>
            <a:endParaRPr dirty="0"/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rPr dirty="0"/>
              <a:t>1. R-10: Modelo OOM </a:t>
            </a:r>
            <a:r>
              <a:rPr dirty="0" err="1"/>
              <a:t>en</a:t>
            </a:r>
            <a:r>
              <a:rPr dirty="0"/>
              <a:t> 8GB RAM (CE: Q 1,600) → </a:t>
            </a:r>
            <a:r>
              <a:rPr dirty="0" err="1"/>
              <a:t>Mitigar</a:t>
            </a:r>
            <a:r>
              <a:rPr dirty="0"/>
              <a:t>: </a:t>
            </a:r>
            <a:r>
              <a:rPr dirty="0" err="1"/>
              <a:t>quantización</a:t>
            </a:r>
            <a:r>
              <a:rPr dirty="0"/>
              <a:t> 4-bit GGUF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rPr dirty="0"/>
              <a:t>2. R-05: </a:t>
            </a:r>
            <a:r>
              <a:rPr dirty="0" err="1"/>
              <a:t>Arquitectura</a:t>
            </a:r>
            <a:r>
              <a:rPr dirty="0"/>
              <a:t> no viable </a:t>
            </a:r>
            <a:r>
              <a:rPr dirty="0" err="1"/>
              <a:t>en</a:t>
            </a:r>
            <a:r>
              <a:rPr dirty="0"/>
              <a:t> M1 (CE: Q 1,500) → </a:t>
            </a:r>
            <a:r>
              <a:rPr dirty="0" err="1"/>
              <a:t>Mitigar</a:t>
            </a:r>
            <a:r>
              <a:rPr dirty="0"/>
              <a:t>: </a:t>
            </a:r>
            <a:r>
              <a:rPr dirty="0" err="1"/>
              <a:t>QLoRA</a:t>
            </a:r>
            <a:r>
              <a:rPr dirty="0"/>
              <a:t> 4-bit con MLX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rPr dirty="0"/>
              <a:t>3. R-13: Falla hardware </a:t>
            </a:r>
            <a:r>
              <a:rPr dirty="0" err="1"/>
              <a:t>durante</a:t>
            </a:r>
            <a:r>
              <a:rPr dirty="0"/>
              <a:t> </a:t>
            </a:r>
            <a:r>
              <a:rPr dirty="0" err="1"/>
              <a:t>entrenamiento</a:t>
            </a:r>
            <a:r>
              <a:rPr dirty="0"/>
              <a:t> (CE: Q 1,500) → </a:t>
            </a:r>
            <a:r>
              <a:rPr dirty="0" err="1"/>
              <a:t>Mitigar</a:t>
            </a:r>
            <a:r>
              <a:rPr dirty="0"/>
              <a:t>: checkpointing + backup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rPr dirty="0"/>
              <a:t>4. R-14: Modelo no </a:t>
            </a:r>
            <a:r>
              <a:rPr dirty="0" err="1"/>
              <a:t>supera</a:t>
            </a:r>
            <a:r>
              <a:rPr dirty="0"/>
              <a:t> baseline (CE: Q 1,500) → </a:t>
            </a:r>
            <a:r>
              <a:rPr dirty="0" err="1"/>
              <a:t>Mitigar</a:t>
            </a:r>
            <a:r>
              <a:rPr dirty="0"/>
              <a:t>: </a:t>
            </a:r>
            <a:r>
              <a:rPr dirty="0" err="1"/>
              <a:t>ajuste</a:t>
            </a:r>
            <a:r>
              <a:rPr dirty="0"/>
              <a:t> </a:t>
            </a:r>
            <a:r>
              <a:rPr dirty="0" err="1"/>
              <a:t>hiperparámetros</a:t>
            </a:r>
            <a:r>
              <a:rPr dirty="0"/>
              <a:t>, data augmentation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rPr dirty="0"/>
              <a:t>5. R-12: Thermal throttling M1 (CE: Q 1,350) → </a:t>
            </a:r>
            <a:r>
              <a:rPr dirty="0" err="1"/>
              <a:t>Mitigar</a:t>
            </a:r>
            <a:r>
              <a:rPr dirty="0"/>
              <a:t>: </a:t>
            </a:r>
            <a:r>
              <a:rPr dirty="0" err="1"/>
              <a:t>entrenamiento</a:t>
            </a:r>
            <a:r>
              <a:rPr dirty="0"/>
              <a:t> </a:t>
            </a:r>
            <a:r>
              <a:rPr dirty="0" err="1"/>
              <a:t>nocturno</a:t>
            </a:r>
            <a:r>
              <a:rPr dirty="0"/>
              <a:t> + </a:t>
            </a:r>
            <a:r>
              <a:rPr dirty="0" err="1"/>
              <a:t>ventilación</a:t>
            </a:r>
            <a:r>
              <a:rPr dirty="0"/>
              <a:t> externa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54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REGISTRO DE LECCIONES APRENDIDAS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  <a:latin typeface="Calibri"/>
              </a:defRPr>
            </a:pPr>
            <a:r>
              <a:t>Conocimiento para mejorar desempeño actual y futuro | PMBOK 8va, Riesgos y General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4300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539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Fase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Lección Aprendida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Causa Raíz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Recomendación para Futuro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Validar calendario antes de planificar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Crash ProjectLibre por &lt;Exceptions&gt; sin &lt;RecurrenceType&gt;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Probar XML en ProjectLibre antes de entregar; verificar compatibilidad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Planificación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Anticipar asignación de asesor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Demora en asignación afectó revisiones tempranas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Contactar candidatos desde la inscripción; tener opciones de respaldo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Ejecución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Validar hardware antes de diseñar arquitectura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8GB RAM obligó quantización agresiva (4-bit)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Hacer PoC de memoria antes de diseñar pipeline; probar modelo pequeño primero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Ejecución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Versionar datos y checkpoints desde inicio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Corrupción de datos requirió reprocesar 31h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Usar DVC/Git LFS; checkpointing automático cada 100 steps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M&amp;C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Documentar minutas de todas las reuniones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Observaciones verbales del asesor se olvidaron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Enviar minuta en 24h post-reunión; confirmar entendimiento por email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53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Cierre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Reservar margen para correcciones del jurado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Espera por nota y correcciones puede extenderse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Solicitar defensa con 2 semanas de anticipación; tener semana buffer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DIAGRAMAS DE RED DEL CRONOGRAMA DEL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  <a:latin typeface="Calibri"/>
              </a:defRPr>
            </a:pPr>
            <a:r>
              <a:t>Secuencia lógica de actividades y dependencias | PMBOK 8va, Cronograma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0972800" cy="12801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" rIns="68580" rtlCol="0" anchor="ctr"/>
          <a:lstStyle/>
          <a:p>
            <a:pPr algn="ctr">
              <a:spcAft>
                <a:spcPts val="3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Método de Diagramación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Método: Diagrama de Precedencia (PDM) con relaciones Finish-to-Start (FS) implementado en ProjectLibre 1.9.8.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La mayoría de las dependencias son obligatorias (duras): no se puede entrenar sin preprocesar datos; no se puede defender sin redactar el informe.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Los períodos de espera institucionales son parte de la ruta crítica porque son dependencias obligatorias externas.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834640"/>
            <a:ext cx="10972800" cy="38352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" rIns="68580" rtlCol="0" anchor="ctr"/>
          <a:lstStyle/>
          <a:p>
            <a:pPr algn="ctr">
              <a:spcAft>
                <a:spcPts val="300"/>
              </a:spcAft>
              <a:defRPr sz="1000" b="1">
                <a:solidFill>
                  <a:srgbClr val="1A2744"/>
                </a:solidFill>
                <a:latin typeface="Calibri"/>
              </a:defRPr>
            </a:pPr>
            <a:r>
              <a:t>Ruta Crítica del Proyecto (secuencia de dependencias FS desde el archivo XML)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INICIO DEL PROYECTO → Inscripción del Tema → Asignación de Asesor → Plan del Proyecto → FIN INICIO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   ↓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INICIO PLANIFICACIÓN → Anteproyecto → Diseño Metodológico → FIN PLANIFICACIÓN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   ↓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INICIO EJECUCIÓN → [Marco Teórico ∥ Preprocesamiento Datos] → Entrenamiento LoRA → Evaluación → Análisis → Informe → FIN EJECUCIÓN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   ↓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INICIO CIERRE → Correcciones Finales → Defensa Pública → Entrega y Cierre → FIN DEL PROYECTO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En paralelo durante todo el proyecto: MONITOREO Y CONTROL (seguimiento semanal + control de cambios bajo demanda)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Dependencias clave del XML: UID 4→5→6→7→8→9 (Inscripción secuencial) | UID 25→26→...→33 (Anteproyecto)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UID 44∥46∥47 (Marco teórico paralelo) | UID 63→68→71→73 (Entrenamiento iterativo) | UID 100→101→102→103 (Revisiones)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6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GRACIAS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6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8DCF0"/>
                </a:solidFill>
                <a:latin typeface="Calibri"/>
              </a:defRPr>
            </a:pPr>
            <a:r>
              <a:t>Plan de Dirección del Proyecto — LoRA-HDL-QA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49040"/>
            <a:ext cx="1036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DCF0"/>
                </a:solidFill>
                <a:latin typeface="Calibri"/>
              </a:defRPr>
            </a:pPr>
            <a:r>
              <a:t>56 diapositivas | PMBOK 8va Edición | 7 Dominios de Desempeño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1036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Pablo Rodolfo Alexander Flores Mollinedo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1036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DCF0"/>
                </a:solidFill>
                <a:latin typeface="Calibri"/>
              </a:defRPr>
            </a:pPr>
            <a:r>
              <a:t>Universidad del Istmo de Guatemala — FING | Abril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12590</Words>
  <Application>Microsoft Macintosh PowerPoint</Application>
  <PresentationFormat>Widescreen</PresentationFormat>
  <Paragraphs>2997</Paragraphs>
  <Slides>56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5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RODOLFO ALEXANDER FLORES MOLLINEDO</cp:lastModifiedBy>
  <cp:revision>3</cp:revision>
  <dcterms:created xsi:type="dcterms:W3CDTF">2013-01-27T09:14:16Z</dcterms:created>
  <dcterms:modified xsi:type="dcterms:W3CDTF">2026-05-01T20:45:17Z</dcterms:modified>
  <cp:category/>
</cp:coreProperties>
</file>