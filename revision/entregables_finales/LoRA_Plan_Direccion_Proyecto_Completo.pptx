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285F4"/>
                </a:solidFill>
                <a:latin typeface="Calibri"/>
              </a:defRPr>
            </a:pPr>
            <a:r>
              <a:t>UNIVERSIDAD DEL ISTMO DE GUATEMALA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3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CF0"/>
                </a:solidFill>
                <a:latin typeface="Calibri"/>
              </a:defRPr>
            </a:pPr>
            <a:r>
              <a:t>Facultad de Ingeniería (FING)  |  Ingeniería en Sistemas y 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PLAN DE DIRECCIÓN DEL PROYECTO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DCF0"/>
                </a:solidFill>
                <a:latin typeface="Calibri"/>
              </a:defRPr>
            </a:pPr>
            <a:r>
              <a:t>PMBOK 8va Edición — todos los documentos de iniciación y planificación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Proyecto: LoRA-HDL-QA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3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DCF0"/>
                </a:solidFill>
                <a:latin typeface="Calibri"/>
              </a:defRPr>
            </a:pPr>
            <a:r>
              <a:t>PM: Pablo Rodolfo Alexander Flores Mollinedo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3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CF0"/>
                </a:solidFill>
                <a:latin typeface="Calibri"/>
              </a:defRPr>
            </a:pPr>
            <a:r>
              <a:t>Febrero —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GOBERNANZA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DCF0"/>
                </a:solidFill>
                <a:latin typeface="Calibri"/>
              </a:defRPr>
            </a:pPr>
            <a:r>
              <a:t>Un modelo de gestión alineado con los objetivos institucionales. Define estructuras de autoridad, toma de decisiones, y mecanismos de control del proyecto.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ACTA DE CONSTITUCIÓN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Documento formal que autoriza el proyecto | PMBOK 8va, Gobernanza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Información General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Proyecto: LoRA-HDL-QA — Degradación Catastrófica en Fine-Tuning LoRA para HDL/QA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PM: Pablo R. A. Flores Mollinedo | Director: Ing. Estuardo Rodríguez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Asesor: Por asignar | Período: Feb — Oct 2026 (1,287 h planificadas)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Tipo: Proyecto de graduación FING/UNIS — trabajo individual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Caso de Negocio y Objetivos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Trabajo de graduación para cierre de pensum en Ingeniería en Sistemas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Investigar impacto de estrategias de preprocesamiento en fine-tuning LoRA para generación HDL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Contribuir al campo de ML aplicado a diseño de hardware con evidencia experimental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Objetivo: paper de investigación + repositorio reproducible + defensa oral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Entregables de Alto Nivel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Anteproyecto aprobado por comité evaluador FING (Mar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Paper de investigación comparativo (2 configuraciones LoRA evaluadas en VerilogEval v2)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Repositorio GitHub público con scripts, pesos .safetensors, y resultados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Informe final formato FING/IMRaD + defensa oral ante jurado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92608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Hitos Clave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Inicio: Feb 02 | Inscripción + asesor: Feb 02-16 | Plan proyecto: Feb 17-26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Anteproyecto: Feb 26 — Mar 25 | Diseño metodológico: Mar 25 — Abr 08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Ejecución (entrenamiento + evaluación): Abr 08 — Ago 17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Cierre (correcciones + defensa): Ago 17 — Sep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056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Presupuesto Estimado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Mano de obra: 1,287h × Q 80/hr = Q 102,960 directos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Equipo MacBook M1: Q 6,000 | Materiales: Q 800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Reserva de contingencia: Q 20,846 | Reserva de gestión: Q 700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TOTAL: Q 131,306 (incluye reservas)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48056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Interesados Clave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Director de Carrera: aprueba tema, supervisa defensa, resuelve conflictos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Asesor: orientación técnica, revisión de entregables, aprobación final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Comité evaluador: evalúa anteproyecto y defensa oral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Pablo Flores (PM/Tesista): ejecución total del proyecto, gestión y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0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  <a:latin typeface="Calibri"/>
              </a:defRPr>
            </a:pPr>
            <a:r>
              <a:t>Autoridad del PM: gestionar cronograma, presupuesto, y alcance. Escalar decisiones que afecten normativa UNIS al Director.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REGISTRO DE SUPUESTOS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Supuestos documentados durante la iniciación | PMBOK 8va, Gobernanza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303520"/>
                <a:gridCol w="914400"/>
                <a:gridCol w="2286000"/>
              </a:tblGrid>
              <a:tr h="44888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Supuesto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Certidumbre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Responsable de Validación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Disponibilidad de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 contará con un asesor asignado antes del 16 de febrero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 de Carrera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Hardware adecuado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MacBook Air M1 8GB es suficiente para fine-tuning LoRA con quantización 4-bit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PM/Tesista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Datasets públicos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Existen datasets HDL/QA públicos de calidad suficiente para fine-tuning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PM/Tesista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Normativa estable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 reglamento de graduación FING no cambiará durante 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 de Carrera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Disponibilidad del 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 tesista mantendrá disponibilidad 100% durante el período del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PM/Tesista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Acceso a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Python, HuggingFace, MLX, y librerías asociadas estarán disponibles sin costo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PM/Tesista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Plazos institucionales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Los tiempos de respuesta institucional no excederán 10 días hábiles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FING/UNIS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Modelo base accesible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Qwen3-4B será accesible en HuggingFace y cargable en 8GB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PM/Tesista</a:t>
                      </a:r>
                    </a:p>
                  </a:txBody>
                  <a:tcPr/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VerilogEval funcional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 benchmark VerilogEval v2 será ejecutable en entorno ARM/M1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PM/Tesista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 cambios mayores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habrá cambios en el alcance del proyecto una vez aprobado el anteproyecto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+ Asesor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INTERESADOS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DCF0"/>
                </a:solidFill>
                <a:latin typeface="Calibri"/>
              </a:defRPr>
            </a:pPr>
            <a:r>
              <a:t>Identificación, análisis, involucramiento y comunicación efectiva con todas las partes interesadas del proyecto.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REGISTRO DE INTERESADOS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Identificar, clasificar y documentar a todos los interesados | PMBOK 8va, Interesados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04241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1280160"/>
                <a:gridCol w="914400"/>
                <a:gridCol w="914400"/>
                <a:gridCol w="2743200"/>
              </a:tblGrid>
              <a:tr h="379827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Nombre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 en el Proyecto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Clasificación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Poder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Interés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Estrategia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Pablo Flores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/ Tesista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Gestionar de cerca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Orientador técnico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Gestionar de cerca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 de Carrera FING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Autoridad académica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Mantener satisfecho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Comité Evaluador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Aprobación anteproyecto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Mantener satisfecho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Jurado de Defensa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Evaluación final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Mantener satisfecho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Coordinador de Tesis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Procesos administrativos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Gestionar de cerca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Biblioteca FING/UNIS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Recepción y archivo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Estudiantes 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Audiencia académica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Monitorear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Comunidad ML/HW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Investigadores en HDL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HuggingFace /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Plataformas de publicación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Mantener informado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UNIS — Rectoría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Aval institucional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Familia 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Apoyo logístico y moral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Mantener informado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DEL INVOLUCRAMIENTO DE LOS INTERESADOS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Estrategias por grupo para promover participación productiva | PMBOK 8va, Interesados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77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Pablo Flores (PM)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Líder, ejecutor, controlador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Frecuencia: 100% diario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Reportes de avance, reuniones semanales, actualización cronograma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1277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Asesor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Revisor técnico, mentor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Frecuencia: Reunión semanal 1h + revisión hitos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Minutas de reunión, borradores para revisión, reportes de avance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11277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Director de Carrera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Aprobador, escalamiento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Frecuencia: Hitos: inicio, anteproyecto, defensa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Solicitudes formales, notificaciones de hitos, reportes de estado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11277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Comité Evaluador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Evaluador de anteproyecto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Frecuencia: Marzo 2026 (único)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Documento de anteproyecto impreso y digital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11277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Jurado de Defensa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Evaluador final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Frecuencia: Septiembre 2026 (único)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Informe final, presentación defensa, demo técnico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943600"/>
            <a:ext cx="112776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Coordinador de Tesis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Rol: Gestor de trámites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Frecuencia: Según necesidad administrativa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Formularios, solicitudes, constancias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DE LAS COMUNICACIONES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Políticas para gestionar comunicaciones | PMBOK 8va, Interesados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59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2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0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61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1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Comunicación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 → Para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Frecuencia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Medio / Canal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Entregable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Receptor Final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Reunión semanal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Semanal (1h)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Presencial / Zoom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Minuta en 24h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Reporte de avance mensual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Asesor +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Mensual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+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EVM: SPI, SV, CPI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Director, Asesor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Notificación de hitos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Asesor + Director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 completar hitos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formal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Acta o documento del hito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Director,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Solicitud de cambio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Según necesidad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Formato estándar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Evaluación en 5 días hábiles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Asesor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Notificación de riesgos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 detectarse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/ WhatsApp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Registro de riesgos actualizado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Entrega de 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Asesor / Comité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 completar versiones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PDF + impreso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Acuse de recibo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Director, Comité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oral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Jurado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Sep 2026 (único)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Presencial UNIS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Presentación + demo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Jurado, Director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Publicación en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 → Comunidad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Post-defensa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Repositorio público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README + instrucciones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Comunidad ML/HW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MATRIZ DE COMUNICACIONES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Detalle de flujos de información entre interesados | PMBOK 8va, Interesados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59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8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18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77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84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Medio/Canal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Frecuencia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Formato/Entregable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Audiencia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Responsable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Reunión semanal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Presencial/Zoom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Semanal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Minuta de reunión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PM,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Avance mensual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+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Mensual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Informe de avance (EVM)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PM, Asesor,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Alerta de riesgo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WhatsApp/Email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Inmediato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Notificación de riesgo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PM,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Cualquiera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Solicitud de cambio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Formato + 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Según necesidad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RFC (Request for Change)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PM,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Convocatoria defensa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 formal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Una vez (Sep 2026)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Carta de convocatoria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PM, Director, Jurado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Publicación 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GitHub / HuggingFace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Post-defensa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README + paper + pesos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Comunidad 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Consulta normativa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Según necesidad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Solicitud formal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PM, Coordinador Tesis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DCF0"/>
                </a:solidFill>
                <a:latin typeface="Calibri"/>
              </a:defRPr>
            </a:pPr>
            <a:r>
              <a:t>Definición, validación y control del alcance del proyecto y del producto. Incluye requisitos, EDT, y trazabilidad.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DEL 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Define cómo se planificará, gestionará y controlará el alcance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Proceso de Definición del Alcance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1. Recopilar requisitos: entrevistas con asesor, análisis de normativa FING, revisión de literatura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2. Elaborar Enunciado del Alcance: descripción, entregables, criterios de aceptación, exclusiones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3. Crear EDT/WBS: descomposición jerárquica hasta nivel 4 (paquetes de trabajo de 3-31h)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4. Validar alcance con asesor y Director de Carrera antes de congelar línea 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Control del Alcance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Línea base congelada tras aprobación del anteproyecto (Mar 2026)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Cualquier cambio requiere Solicitud de Cambio formal → evaluación asesor → aprobación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Métricas: % de paquetes EDT completados vs planificados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Verificación: entregables validados contra criterios de aceptación documentados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109728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Exclusiones del Alcance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No incluye desarrollo de hardware (FPGA/ASIC) ni pruebas en silicio real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No incluye entrenamiento en clusters GPU multi-nodo (limitado a hardware M1 8GB local)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No incluye implementación de un IDE o herramienta de software interactiva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No cubre fine-tuning de modelos mayores a 4B parámetros (restricción de RAM)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No incluye publicación en revistas indexadas (solo repositorio público y defensa oral FING)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DE REQUISITOS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Define cómo se recopilarán, analizarán y gestionarán los requisitos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Recopilación de Requisitos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Fuentes: normativa FING, guía de tesis UNIS, reuniones con asesor, papers de referencia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Técnicas: entrevistas estructuradas con asesor, análisis documental, benchmark de proyectos similares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Clasificación: RF (Funcionales), RNF (No Funcionales), RP (Procedimentales)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Priorización: MoSCoW — Must have (M), Should have (S), Could have (C), Won't have (W)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Trazabilidad y Validación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Matriz de trazabilidad: cada requisito vinculado a EDT, entregable y criterio de aceptación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Validación: revisión con asesor en hitos de planificación y cierre de fase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Verificación: scripts de prueba automatizados para requisitos técnicos (RNF-01, RF-01)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Control de cambios: modificaciones a requisitos siguen proceso formal de gestión de cambios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109728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Métricas y KPIs de Requisitos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Cobertura de trazabilidad: 100% de requisitos con EDT, entregable y criterio de aceptación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Tasa de aprobación: % de requisitos validados por asesor vs total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Estabilidad: número de cambios a requisitos post-aprobación del anteproyecto (meta: &lt;3)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Cumplimiento: % de criterios de aceptación satisfechos al cierre de cada fase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DOCUMENTACIÓN DE 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Registro y clasificación de requerimientos | PMBOK 8va, Alcance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064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640080"/>
                <a:gridCol w="914400"/>
                <a:gridCol w="1645920"/>
                <a:gridCol w="3474720"/>
              </a:tblGrid>
              <a:tr h="38686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Propósito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Prioridad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Origen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Entregable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 de Aceptación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configuraciones fine-tuning LoRA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Comparar chunking vs filtrado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E-04, E-05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archivos .safetensors de pesos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Evaluar con VerilogEval v2 (156 prob.)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Benchmark estandarizado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 ejecutable + JSON 156 entradas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Cuantificar corrupción en datos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Reproducir hallazgo del paper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E-04, E-06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verify_paper_numbers.py ejecutable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Scripts verificación reproducción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Reproducibilidad científica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Scripts sin errores en entorno limpio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Hardware real (M1 8GB)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Condición experimental real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Logs con ID hardware confirmado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Informe formato FING + IMRaD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Requisito de grado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E-07, E-10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Aprobación asesor + tribunal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Repositorio estructura clara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Divulgación científica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README instrucciones reproducción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Cronograma máximo 360h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Restricción institucional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Registro horas ≤ 360 (foco)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Inscripción + asesor (Feb.)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Procedimiento FING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Constancia + carta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 aprobado (Mar.)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Procedimiento 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Visto bueno Director + Asesor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Avances ejecución (Abr-Ago)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Procedimiento FING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E-03, E-07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Documentos entregados y revisados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+ entrega final (Sep.)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Procedimiento 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E-09, E-10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Acta defensa + constancia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ENUNCIADO DEL ALCANCE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Descripción detallada del alcance, entregables, criterios de aceptación y exclusiones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09728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A2744"/>
                </a:solidFill>
                <a:latin typeface="Calibri"/>
              </a:defRPr>
            </a:pPr>
            <a:r>
              <a:t>Descripción del Alcance del Producto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Investigación científica documentada sobre el impacto del preprocesamiento de datos de entrenamiento en la degradación catastrófica de fine-tuning LoRA para generación de HDL.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Dos configuraciones experimentales: (a) filtrado de datasets por calidad, (b) chunking estratégico del corpus de entrenamiento.</a:t>
            </a:r>
          </a:p>
          <a:p>
            <a:pPr>
              <a:spcAft>
                <a:spcPts val="1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Evaluación comparativa usando VerilogEval v2 (156 problemas) con métricas BLEU, exactitud sintáctica, y PASS@k.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548640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Entregables del Proyecto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E-01: Inscripción formal del tema (Feb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E-02: Anteproyecto aprobado (Mar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E-03: Avances de ejecución (Abr-Ago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E-04: Scripts y repositorio (Ago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E-05: Modelos LoRA fine-tuned (.safetensors)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E-06: Resultados de benchmark (JSON + gráficas)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E-07: Informe final formato FING/IMRaD (Ago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E-08: Cronograma y registro de horas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E-09: Defensa oral (Sep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E-10: Entrega final a Biblioteca FING (Sep 2026)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34640"/>
            <a:ext cx="5029200" cy="914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Criterios de Aceptación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Anteproyecto: aprobado por comité evaluador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Informe final: aprobado por asesor y tribunal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Repositorio: README + instrucciones de reproducción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Scripts: ejecutables sin errores en entorno limpio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931920"/>
            <a:ext cx="5029200" cy="914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Restricciones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Hardware: MacBook Air M1 8GB RAM (no GPU dedicada)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Tiempo: máximo 360 horas de esfuerzo efectivo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Presupuesto: Q 6,800 máximo en no-humanos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Alcance: 2 configuraciones LoRA comparativas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109728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Exclusiones Explícitas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No incluye desarrollo de hardware (FPGA/ASIC) | No incluye implementación de herramienta de software | No cubre modelos &gt;4B parámetros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No incluye publicación en revistas indexadas | No incluye entrenamiento multi-GPU | No cubre más de 2 configuraciones experimentales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EDT / WBS — ESTRUCTURA DE DESGLOSE DEL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Descomposición jerárquica del alcance total | PMBOK 8va, Alcance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0972800" cy="6400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Nivel 2 — Fases del Proyecto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1.1 INICIO (148h): Inscripción + Asesor + Plan del Proyecto  |  1.2 PLANIFICACIÓN (235h): Anteproyecto + Diseño Metodológico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1.3 EJECUCIÓN (744h): Marco Teórico + Preprocesamiento + Entrenamiento LoRA + Evaluación + Análisis + Informe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1.4 MONITOREO Y CONTROL (86h): Seguimiento + Control de Cambios  |  1.5 CIERRE (160h): Correcciones + Defensa + Entrega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210312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1.1 INICIO (148h)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1.1.1 Inscripción (78h)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1.1.2 Asignación Asesor (80h)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1.1.3 Plan del Proyecto (60h)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194560"/>
            <a:ext cx="210312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1.2 PLANIFICACIÓN (235h)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1.2.1 Anteproyecto (152h)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1.2.2 Diseño Metodológico (83h)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194560"/>
            <a:ext cx="210312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1.3 EJECUCIÓN (744h)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1.3.1 Marco Teórico (161h)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1.3.2 Preprocesamiento (136h)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1.3.3 Entrenamiento LoRA (227h)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1.3.4 Evaluación Benchmark (106h)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1.3.5 Análisis Resultados (90h)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1.3.6 Redacción Informe (175h)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194560"/>
            <a:ext cx="210312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1.4 M&amp;C (86h)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1.4.1 Seguimiento (86h)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1.4.2 Control de Cambios (68h)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2194560"/>
            <a:ext cx="210312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1.5 CIERRE (160h)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1.5.1 Correcciones Finales (75h)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1.5.2 Defensa Pública (59h)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1.5.3 Entrega y Cierre (26h)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0972800" cy="6400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Nivel 4 — Paquetes de Trabajo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16 paquetes de trabajo desglosados en 110 actividades nivel 4. Rango: 3h a 31h cada una. Total: 1,287h planificadas.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Ver Diccionario de la EDT para detalle de cada paquete.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7432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432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7432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7432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7432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1.5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DICCIONARIO DE LA EDT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Detalle de cada paquete de trabajo | PMBOK 8va, Alcance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597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6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3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6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431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43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583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EDT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Paquete de Trabajo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Horas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Entregable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Supuestos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1.1.1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Inscripción del Tema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Formalizar el tema de tesis ante FING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Constancia de inscripción firmada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Reglamento FING vigente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Asignación de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Identificar y formalizar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Carta de asignación de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Disponibilidad docente FING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1.1.3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 del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plan de dirección completo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 aprobado por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PMBOK 8va Edición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y presentar anteproyecto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 aprobado por comité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Guía de anteproyecto FING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1.2.2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Diseño Metodológico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Diseñar experimentos y métricas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Documento metodológico aprobado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Papers de referencia LoRA/HDL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Marco Teórico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Fundamentos LLM, LoRA, HDL,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Capítulo 2 del informe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Artículos científicos revisados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Preprocesamiento de Datos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Limpiar, tokenizar y validar datasets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136h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Datasets procesados y documentados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Datasets HDL/QA públicos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Entrenamiento LoRA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Fine-tuning con 2 configuraciones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adaptadores LoRA (.safetensors)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MacBook M1 8GB, quantización 4-bit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Evaluación Benchmark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VerilogEval v2 y comparar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106h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Resultados benchmark (JSON + gráficas)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VerilogEval v2, scripts evaluación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Análisis de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Analizar y comparar métricas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Capítulo 4 del informe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Datos de benchmark recopilados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Redacción del Informe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informe en formato IMRaD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Informe completo revisado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Normativa UNIS, guía IMRaD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Seguimiento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Monitorear avance y reuniones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Reportes de avance mensuales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Cronograma base, minutas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1.4.2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Control de Cambios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Gestionar solicitudes de cambio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 de cambios aprobados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 de gestión de cambios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Correcciones Finales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Aplicar correcciones del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Documento final aprobado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Retroalimentación del asesor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1.5.2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Pública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Preparar y realizar defensa oral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59h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Acta de defensa aprobatoria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Reglamento de defensa FING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584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Entrega y 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Entregar a biblioteca y cerrar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Constancia de Biblioteca 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Normas de entrega UNIS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MATRIZ DE TRAZABILIDAD DE REQUERIMIENTOS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Trazabilidad bidireccional requisitos → EDT → entregables → criterios | PMBOK 8va, Alcance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597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0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0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76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76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281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169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Origen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EDT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Entregable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 de Aceptación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configuraciones fine-tuning LoRA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1.3.2, 1.3.3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E-04, E-05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 adaptadores con pesos .safetensors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Evaluar con VerilogEval v2 (156 prob.)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 benchmark; JSON 156 entradas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Cuantificar corrupción en datos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1.3.2, 1.3.5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E-04, E-06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verify_paper_numbers.py ejecutable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RF-04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Scripts verificación reproducción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Scripts sin errores en entorno limpio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RNF-01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Hardware real (M1 8GB)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Logs con ID hardware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RNF-02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Informe formato FING + IMRaD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1.3.6, 1.5.1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E-07, E-10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Aprobación asesor y tribunal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RNF-03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Repositorio estructura clara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README + instrucciones reproducción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RNF-04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Cronograma máximo 360h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Registro horas ≤ 360 (foco ejecución)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RP-01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Inscripción + asesor (Feb.)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1.1.1, 1.1.2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Constancia inscripción + carta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RP-02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 aprobado (Mar.)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Visto bueno Director + Asesor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RP-03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Avances ejecución (Abr-Ago)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1.3.1, 1.3.6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E-03, E-07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Docs entregados y revisados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169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RP-04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+ entrega final (Sep.)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1.5.2, 1.5.3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E-09, E-10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Acta defensa + constancia Biblioteca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" y="6030000"/>
            <a:ext cx="1188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  <a:latin typeface="Calibri"/>
              </a:defRPr>
            </a:pPr>
            <a:r>
              <a:t>Cobertura: 12 requerimientos trazados a entregables y criterios de aceptación. Trazabilidad bidireccional 100%.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DE CAMBIOS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Proceso formal para solicitar, evaluar y aprobar cambios | PMBOK 8va, Alcance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Proceso de Control de Cambios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 IDENTIFICAR: Cualquier interesado detecta necesidad de cambio en alcance, tiempo, costo o calidad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 REGISTRAR: Completar formato de Solicitud de Cambio (RFC) con: descripción, justificación, impacto estimado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3. EVALUAR: PM analiza impacto en triple restricción (alcance/cronograma/costo) y riesgos asociados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4. REVISAR: Asesor revisa RFC en máximo 5 días hábiles, puede solicitar más información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5. DECIDIR: Aprobar (implementar), Rechazar (documentar razón), o Diferir (re-evaluar en próxima fase)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6. IMPLEMENTAR: Actualizar línea base, EDT, cronograma, y documentos afectados. Comunicar a interesados.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Autoridad de Aprobación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Cambios ≤5% desviación: PM puede aprobar directamente (informar al asesor)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Cambios 5-15% desviación: Requiere aprobación del asesor con revisión técnica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Cambios &gt;15% desviación o que afecten normativa: Escalar al Director de Carrera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Emergencias (riesgo crítico): PM implementa respuesta inmediata, documenta post-facto en 48h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66160"/>
            <a:ext cx="10972800" cy="8229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Herramientas y Registros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Formato RFC en Excel/Google Sheets vinculado al cronograma | Log de cambios con trazabilidad a EDT | Revisión en reuniones quincenales | Actualización de línea base solo tras aprobación formal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SOLICITUD DE CAMBIO (RFC) — FORMATO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Formato estándar para solicitudes de cambio | PMBOK 8va, Alcance (opcional según normativa)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RFC ID: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71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RFC-NNN (auto-incremental)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Fecha Solicitud: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DD/MM/YYYY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Solicitante: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Nombre y 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Prioridad: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Alta / Media / Baja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Descripción del Cambio: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Justificación: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468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¿Por qué es necesario el cambio?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34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Impacto en Alcance: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834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Paquetes EDT afectados, entregables modificados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00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Impacto en Cronograma: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200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Δ horas estimadas, nueva fecha de finalización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66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Impacto en Costo: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566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Δ costo estimado en 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Impacto en Riesgos: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931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Nuevos riesgos o modificación de existentes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Alternativas Consideradas: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297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Otras opciones evaluadas y razón de descarte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Decisión: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6634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Aprobado / Rechazado / Diferido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663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Fecha Decisión: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663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DD/MM/YYYY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2744"/>
                </a:solidFill>
                <a:latin typeface="Calibri"/>
              </a:defRPr>
            </a:pPr>
            <a:r>
              <a:t>Firmas: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029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Calibri"/>
              </a:defRPr>
            </a:pPr>
            <a:r>
              <a:t>Solicitante: ______  |  PM: ______  |  Asesor: ______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ESTRATEGIA DE ADQUISICIONES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Estrategia para adquirir recursos externos | PMBOK 8va, Alcance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09728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Estrategia General de Adquisiciones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Contexto: Proyecto académico individual de graduación. La naturaleza del proyecto (investigación + desarrollo experimental) implica que la mayoría de los recursos son internos (esfuerzo del tesista, hardware propio, software open-source).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Adquisiciones requeridas: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Equipo: MacBook Air M1 2020 — ya adquirido (costo hundido Q 6,000). Alternativa: usar laboratorio FING si falla hardware.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Software: Python, HuggingFace, MLX, VerilogEval — todo open-source sin costo de licencia.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Datasets: Repositorios públicos (HuggingFace datasets, GitHub) — descarga gratuita.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Materiales: Impresión y empastado (3 copias × Q 150 = Q 450) — proveedor local, cotización simple.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Papelería y misceláneos: Q 350 — compra directa sin licitación.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Estrategia: Compra directa por bajo monto (&lt; Q 5,000). No se requiere proceso de licitación formal por ser proyecto académico. El PM tiene autoridad para adquirir materiales menores. Equipamiento se usa recurso propio existente.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ADQUISICIONES — DECISIONES DE INTERNALIZACIÓN O EXTERNALIZACIÓN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Análisis Make-or-Buy | PMBOK 8va, Alcance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597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1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1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474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Recurso/Actividad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Justificación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Entrenamiento LoRA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 (Tesista)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Conocimiento técnico del tesista; hardware propio; control total del proceso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Evaluación 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 (Tesista)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Scripts propios; ejecución local; reproducibilidad científica requerida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Redacción de informe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 (Tesista)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Requisito de grado; debe ser trabajo original del estudiante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técnica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 (Asesor)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Honorarios institucionales 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Asesor designado por FING; costo cubierto por la universidad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Impresión y empastado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 (Proveedor)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450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Servicio especializado; bajo costo; 3 copias requeridas por normativa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Corrección de estilo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 (Tesista)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Cubierto en fase de correcciones finales (EDT 1.5.1); sin costo adicional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Software y herramientas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Externo (Open-source)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Gratuito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Python, HuggingFace, MLX: licencias libres; descarga directa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Hardware computacional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Interno (Propio)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6,000 (costo hundido)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MacBook M1 ya adquirido; si falla, alternativa: laboratorio FING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ADQUISICIONES — CRITERIOS DE SELECCIÓN DE FUENTES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Criterios para evaluar y seleccionar proveedores | PMBOK 8va, Alcance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1945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Criterios de Selección — Proveedores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Para servicios de impresión y empastado: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 Calidad: muestras de trabajos previos (portadas, encuadernación)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 Precio: cotización ≤ Q 200 por copia completa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3. Tiempo de entrega: ≤ 3 días hábiles por copia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4. Ubicación: cercanía a campus UNIS o zona 15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5. Referencias: recomendaciones de tesistas previos FING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Proveedores evaluados (ejemplo):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Copistería UNIS: Q 150/copia, 2 días, en campus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PrintCenter Z15: Q 180/copia, 1 día, a 2km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TesisExpress Online: Q 200/copia, 5 días, envío incluido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1945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Criterios de Selección — Recursos Digitales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Para datasets y modelos: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 Licencia: open-source (MIT, Apache 2.0, CC-BY) verificable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 Calidad: documentación, papers asociados, benchmarks conocidos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3. Comunidad: actividad en GitHub, issues, actualizaciones recientes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4. Compatibilidad: formato compatible con HuggingFace datasets/datasets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5. Tamaño: factible de procesar en M1 8GB (≤ 1GB por dataset)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Datasets seleccionados: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VerilogEval v2 (156 problemas, GitHub, MIT license)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HDL dataset de HuggingFace (código VHDL/Verilog etiquetado)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Dataset sintético generado con GPT-4 (como respaldo)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CRONOGRAMA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DCF0"/>
                </a:solidFill>
                <a:latin typeface="Calibri"/>
              </a:defRPr>
            </a:pPr>
            <a:r>
              <a:t>Planificación, desarrollo, monitoreo y control del cronograma. Incluye definición de actividades, secuenciación, estimación de duraciones y línea 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DEL CRONOGRAMA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Políticas, procedimientos y documentación para gestionar el cronograma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Metodología y Herramientas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Método: Bottom-up estimating desde EDT nivel 4 (110 actividades)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Herramienta: ProjectLibre (CPM + baseline + exportación Gantt)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Calendario: Guatemala 2026 — lun-sáb 8h/día (08:00-12:00, 13:00-17:00)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Unidades: Horas de trabajo efectivas. Precisión ±10% en nivel 4 EDT.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5486400" cy="10972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Umbrales de Control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Verde: &lt;5% de desviación — normal, sin acción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Amarillo: 5-15% desviación — plan de recuperación en 1 semana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Rojo: &gt;15% desviación — escalamiento al Director de Carrera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0292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Formato de Reporte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S-curve mensual (PV, EV, AC) para seguimiento visual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EVM: SPI, SV para medir eficiencia del cronograma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Actualización: quincenal con asesor, registro de cambios en 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834640"/>
            <a:ext cx="5029200" cy="10972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Revisión y Aprobación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Quincenal con asesor en reuniones de seguimiento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Registro de cambios en log de cronograma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Línea base congelada post-aprobación anteproyecto (Mar 2026)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LÍNEA BASE DEL CRONOGRAMA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Cronograma aprobado contra el cual se mide el desempeño | PMBOK 8va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59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1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8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0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50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5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Período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Horas (LB)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Alcance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Inicio LB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 LB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02 → Feb 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Inscripción, asesor, plan de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02,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26,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26 → Abr 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Anteproyecto, diseño metodológico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26,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Abr 08,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Abr 08 → Ago 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744h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Marco teórico, entrenamiento, evaluación, informe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Abr 08,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Ago 17,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MONITOREO 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26 → Mar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86h*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Seguimiento y control de cambios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26,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 13, 2026*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Ago 17 → Sep 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160h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Correcciones, defensa, entrega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Ago 17,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Sep 14,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297680"/>
            <a:ext cx="109728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Notas sobre la Línea Base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La línea base del cronograma es la versión aprobada del cronograma que se utiliza para comparar el desempeño real.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Fecha de congelamiento: posterior a la aprobación del anteproyecto por el comité evaluador (~Mar 25, 2026).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La línea base solo se modifica mediante solicitudes de cambio aprobadas formalmente.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* M&amp;C tiene actividades distribuidas a lo largo del proyecto; el bloque principal está en Feb-Mar.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Duración total del proyecto: 225 días calendario (Feb 02 → Sep 14, 2026). Horas efectivas: 1,287h.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Se utiliza calendario Guatemala 2026 (lun-sáb 8h/día). Domingos y feriados no laborables.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CRONOGRAMA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Resumen gráfico de fases y duraciones | Feb — Sep 2026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2103120" cy="256032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INICIO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Feb 02 → Feb 26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156h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371600"/>
            <a:ext cx="2103120" cy="256032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PLANIFICACIÓN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Feb 27 → Abr 08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248h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371600"/>
            <a:ext cx="2103120" cy="256032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EJECUCIÓN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Abr 08 → Ago 17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784h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371600"/>
            <a:ext cx="2103120" cy="2560320"/>
          </a:xfrm>
          <a:prstGeom prst="roundRect">
            <a:avLst/>
          </a:prstGeom>
          <a:solidFill>
            <a:srgbClr val="C8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MONITOREO Y CONTROL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Feb 27 → Mar 13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88h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371600"/>
            <a:ext cx="2103120" cy="2560320"/>
          </a:xfrm>
          <a:prstGeom prst="roundRect">
            <a:avLst/>
          </a:prstGeom>
          <a:solidFill>
            <a:srgbClr val="428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CIERRE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Ago 17 → Sep 14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160h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389120"/>
            <a:ext cx="10972800" cy="9144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DATOS DEL CRONOGRAMA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Métricas clave y datos de soporte del modelo de cronograma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Estadísticas del Cronograma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Total de actividades en el modelo: 150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Actividades de trabajo (nivel 4): 110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Actividades de resumen (niveles 1-3): 27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Hitos (duración 0): 13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Duración total: 1,287 horas efectivas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Período: 2026-02-02 al 2026-09-14 (225 días calendario)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Método de planificación: Ruta Crítica (CPM)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Calendario aplicado: Guatemala 2026 (lun-sáb, 8h/día)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Software: ProjectLibre 1.9.8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Ruta Crítica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La ruta crítica atraviesa las fases de: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INICIO → Inscripción → Asignación Asesor → Plan del Proyecto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→ PLANIFICACIÓN → Anteproyecto → Diseño Metodológico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→ EJECUCIÓN → Entrenamiento LoRA → Evaluación → Informe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→ CIERRE → Correcciones → Defensa → Entrega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Holgura total estimada: ~10% (principalmente en M&amp;C)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Los períodos de espera institucionales son parte de la ruta crítica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10972800" cy="10972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Períodos de Espera (no laborables pero incluidos en el cronograma)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Resolución institucional (UID 8): 39h | Aprobación comité (UID 33): 31h | Retroalimentación 1ra (UID 100): 23h | Retroalimentación 2da (UID 102): 39h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Resolución jurado (UID 127): 23h | Total esperas institucionales: ~155h (12% del total de horas)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CALENDARIOS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Calendario guatemalteco completo 2026 con feriados oficiales | PMBOK 8va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Calendario Base — Guatemala 2026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Días laborables: Lunes a Sábado — Horario: 08:00-12:00 y 13:00-17:00 (8h/día efectivas)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Domingo: No laborable (descanso obligatorio por ley)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FERIADOS OFICIALES 2026 (no laborables):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1 de Enero — Año Nuevo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2-4 de Abril — Semana Santa (Jueves, Viernes, Sábado Santo)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1 de Mayo — Día del Trabajo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30 de Junio — Día del Ejército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15 de Septiembre — Día de la Independencia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20 de Octubre — Día de la Revolución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1 de Noviembre — Día de Todos los Santos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24 de Diciembre — Nochebuena (½ día)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25 de Diciembre — Navidad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31 de Diciembre — Fin de Año (½ día)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Feriados que afectan al proyecto (Feb—Sep 2026):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Semana Santa (2-4 Abr), Día del Trabajo (1 May),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Día del Ejército (30 Jun), Independencia (15 Sep)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Recurso — Pablo Flores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Disponibilidad: 100% (tiempo completo)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Máximo: 8h/día laborable estándar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Flexibilidad: hasta 10h/día en semanas críticas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Período activo: Feb 02 — Sep 14, 2026 (225 días)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Total horas planificadas: 1,287h efectivas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Promedio: ~5.7h/día (incluye esperas y buffers)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Nota técnica (ProjectLibre 1.9.8):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Bug con &lt;Exceptions&gt; sin &lt;RecurrenceType&gt;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causa crash. Feriados documentados aquí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pero NO en el XML por compatibilidad.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Ajustar fechas manualmente en seguimiento.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80000"/>
            <a:ext cx="10972800" cy="2560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Períodos de Espera Institucionales (modelados como tareas en el cronograma)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Resolución institucional: 39h (Feb 6 → Feb 13) | • Aprobación comité: 31h (Mar 19 → Mar 25)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Retroalimentación 1ra revisión: 23h (Jul 29 → Ago 3) | • Retroalimentación 2da revisión: 39h (Ago 6 → Ago 12)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Resolución jurado: 23h (Sep 4 → Sep 9)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Total esperas: ~155h (12% del total de horas). Estas esperas son tiempo calendario, no trabajo activo del tesista.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Impacto en cronograma: Las esperas institucionales están en la ruta crítica.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Cualquier extensión en estas esperas afecta directamente la fecha de finalización del proyecto.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Plan de contingencia: Si la espera supera 2 semanas sobre lo planificado, escalar al Director de Carrera.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LISTA DE ACTIVIDADES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37 de 110 actividades nivel 4 | PMBOK 8va, Cronograma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149840" cy="5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48640"/>
                <a:gridCol w="5029200"/>
                <a:gridCol w="457200"/>
                <a:gridCol w="1828800"/>
                <a:gridCol w="1828800"/>
              </a:tblGrid>
              <a:tr h="139473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Actividad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Dur.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Revisar normativo y reglamento de graduación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Delimitar el tema de investigación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2026-02-04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Preparar formularios y documentación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Presentar solicitud formal ante la facultad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2026-02-06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Período de espera — resolución institucional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Recibir aprobación formal del 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2026-02-13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Identificar y evaluar candidatos a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Contactar y reunirse con candidatos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2026-02-04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Seleccionar asesor definitivo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Formalizar carta de asignación del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2026-02-16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Primera reunión de trabajo con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Definir alcance, supuestos y restricciones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2026-02-18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Elaborar EDT (WBS) del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Elaborar cronograma y línea base de tiempo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2026-02-24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Identificar y evaluar riesgos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Elaborar plan de comunicación y seguimiento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2026-02-23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y aprobación del plan con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de literatura sobre el problema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2026-03-03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planteamiento del problema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Definir objetivos general y específicos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2026-03-10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Plantear hipótesis de investigación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Escribir justificación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2026-03-11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documento completo de anteproyecto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del anteproyecto con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2026-03-18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Presentar anteproyecto ante comité evaluador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Período de espera — aprobación del comité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2026-03-25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Revisar y comparar metodologías de investigación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2026-03-25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Seleccionar y justificar metodología adoptada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2026-03-31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Diseñar arquitectura general del experimento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2026-03-31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Identificar y seleccionar datasets HDL /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2026-04-02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Planificar pipeline de entrenamiento y evaluación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Definir métricas y criterios de éxito del 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2026-04-03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y aprobar diseño metodológico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Rev. bibliográfica: LLMs y arquitecturas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2026-04-13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Rev. bibliográfica: LoRA y métodos PEFT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Rev. bibliográfica: HDL — VHDL / Verilog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2026-04-16</a:t>
                      </a:r>
                    </a:p>
                  </a:txBody>
                  <a:tcPr/>
                </a:tc>
              </a:tr>
              <a:tr h="13949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Rev. bibliográfica: QA en diseño digital y EDA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LISTA DE ACTIVIDADES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37 de 110 actividades nivel 4 | PMBOK 8va, Cronograma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149840" cy="5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48640"/>
                <a:gridCol w="5029200"/>
                <a:gridCol w="457200"/>
                <a:gridCol w="1828800"/>
                <a:gridCol w="1828800"/>
              </a:tblGrid>
              <a:tr h="139473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Actividad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Dur.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sección — Fundamentos teóricos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sección — LoRA aplicado a generación HDL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2026-05-01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sección — Estado del arte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2026-04-30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del marco teórico con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2026-05-05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Corrección y ajuste del marco teórico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Catalogar datasets HDL / QA disponibles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2026-04-10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Descargar y verificar integridad de datasets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Análisis exploratorio de datos (EDA)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2026-04-15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Limpieza y depuración de datos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2026-04-15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Tokenización y formateo para fine-tuning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2026-04-24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Transformación y normalización de datos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Validación de calidad e integridad del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2026-04-30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pipeline de preprocesamiento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Configurar entorno Python / HuggingFace en MacBook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2026-05-08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Instalar y verificar librerías PEFT / LoRA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Seleccionar y cargar modelo base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2026-05-12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Implementar cargador de datos HDL personalizado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Configurar parámetros LoRA (r, alpha, dropout)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2026-05-19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entrenamiento piloto (sanity check)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2026-05-19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Analizar métricas de pérdida y accuracy del piloto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2026-05-25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Ajustar hiperparámetros — iteración 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2026-05-25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entrenamiento optimizado iteración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2026-05-28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2026-06-02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Ajustar hiperparámetros — iteración 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entrenamiento final (modelo definitivo)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2026-06-11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Guardar, versionar y respaldar modelo entrenado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proceso de entrenamiento completo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2026-06-16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Revisar benchmarks existentes para LLM / HDL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Definir métricas: BLEU, exactitud sintáctica, PASS@k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2026-06-17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Implementar scripts de evaluación automatizada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benchmark — modelo LoRA fine-tuned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2026-06-24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Ejecutar benchmark — modelo base (baseline)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Comparar y analizar: LoRA vs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2026-06-29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resultados del benchmark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2026-06-29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Compilar y consolidar todas las métricas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2026-07-02</a:t>
                      </a:r>
                    </a:p>
                  </a:txBody>
                  <a:tcPr/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Análisis estadístico descriptivo de resultados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3947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Visualizar resultados (gráficas y tablas)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2026-07-08</a:t>
                      </a:r>
                    </a:p>
                  </a:txBody>
                  <a:tcPr/>
                </a:tc>
              </a:tr>
              <a:tr h="139499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Comparar con modelos del estado del arte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LISTA DE ACTIVIDADES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36 de 110 actividades nivel 4 | PMBOK 8va, Cronograma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149840" cy="5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48640"/>
                <a:gridCol w="5029200"/>
                <a:gridCol w="457200"/>
                <a:gridCol w="1828800"/>
                <a:gridCol w="1828800"/>
              </a:tblGrid>
              <a:tr h="143243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Actividad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Dur.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Identificar fortalezas, limitaciones y trabajo futuro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análisis e interpretación de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2026-07-16</a:t>
                      </a:r>
                    </a:p>
                  </a:txBody>
                  <a:tcPr/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Definir estructura y capítulos del informe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cap. 1 — Introducción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2026-07-21</a:t>
                      </a:r>
                    </a:p>
                  </a:txBody>
                  <a:tcPr/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Integrar cap. 2 — Marco teórico (ajustar)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cap. 3 — Metodología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2026-07-22</a:t>
                      </a:r>
                    </a:p>
                  </a:txBody>
                  <a:tcPr/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cap. 4 — Resultados y análisis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Redactar cap. 5 — Conclusiones y recomendaciones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2026-07-24</a:t>
                      </a:r>
                    </a:p>
                  </a:txBody>
                  <a:tcPr/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Elaborar referencias bibliográficas (APA / IEEE)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Revisar formato y estilo según normativo UNIS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2026-07-29</a:t>
                      </a:r>
                    </a:p>
                  </a:txBody>
                  <a:tcPr/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Primera revisión con asesor (espera retroalim.)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2026-07-29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Aplicar primera ronda de correcciones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2026-08-06</a:t>
                      </a:r>
                    </a:p>
                  </a:txBody>
                  <a:tcPr/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Segunda revisión con asesor (espera retroalim.)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Aplicar segunda ronda de correcciones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2026-08-17</a:t>
                      </a:r>
                    </a:p>
                  </a:txBody>
                  <a:tcPr/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Planificar agenda y protocolo de reuniones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Conducir reuniones semanales con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79h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2026-03-13</a:t>
                      </a:r>
                    </a:p>
                  </a:txBody>
                  <a:tcPr/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Elaborar reportes de avance mensuales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Actualizar y monitorear cronograma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2026-03-03</a:t>
                      </a:r>
                    </a:p>
                  </a:txBody>
                  <a:tcPr/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Registrar solicitudes de cambio formales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Evaluar y aprobar cambios con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2026-03-05</a:t>
                      </a:r>
                    </a:p>
                  </a:txBody>
                  <a:tcPr/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Implementar cambios aprobados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2026-03-09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lecciones aprendidas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2026-03-11</a:t>
                      </a:r>
                    </a:p>
                  </a:txBody>
                  <a:tcPr/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Recibir retroalimentación final del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Aplicar correcciones finales al documento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2026-08-21</a:t>
                      </a:r>
                    </a:p>
                  </a:txBody>
                  <a:tcPr/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Revisión de ortografía, gramática y estilo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Formatear documento final según normativo UNIS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2026-08-26</a:t>
                      </a:r>
                    </a:p>
                  </a:txBody>
                  <a:tcPr/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Aprobación final y firma del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2026-08-31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Preparar presentación PowerPoint para defensa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2026-09-02</a:t>
                      </a:r>
                    </a:p>
                  </a:txBody>
                  <a:tcPr/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Elaborar material de apoyo y demo técnico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Realizar ensayos de presentación (mínimo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2026-09-03</a:t>
                      </a:r>
                    </a:p>
                  </a:txBody>
                  <a:tcPr/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oral ante el jurado evaluador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Período de espera — resolución y nota del jurado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2026-09-09</a:t>
                      </a:r>
                    </a:p>
                  </a:txBody>
                  <a:tcPr/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Aplicar correcciones indicadas por el jurado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2026-09-09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Imprimir, empastar y preparar copias finales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2026-09-11</a:t>
                      </a:r>
                    </a:p>
                  </a:txBody>
                  <a:tcPr/>
                </a:tc>
              </a:tr>
              <a:tr h="143243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Entrega formal a biblioteca y facultad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43252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 administrativo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ATRIBUTOS DE LA ACTIVIDAD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Campos que describen cada actividad del cronograma | PMBOK 8va, Cronograma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1556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3657600"/>
              </a:tblGrid>
              <a:tr h="37982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Atributo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Valores de Ejemplo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UID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Identificador único en el XML de ProjectLibre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Ej: 4, 5, 68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Nombre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Descripción de la actividad (verbo + objeto)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Revisar normativo y reglamento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Nivel EDT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1=Proyecto, 2=Fase, 3=Entregable, 4=Paquete trabajo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 2, 3, o 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Código WBS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Código de la EDT al que pertenece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1.1.1.4 (Inscripción del Tema)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Duración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Horas de trabajo efectivas (formato ISO 8601)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PT8H0M0S = 8 horas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Fecha 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Fecha/hora de inicio planificada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2026-02-02T08:00:00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Fecha Fin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Fecha/hora de finalización planificada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2026-02-02T17:00:00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Predecesoras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Tareas previas (relación Finish-to-Start)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4FS (termina UID 4, inicia esta)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Recurso Asignado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Recurso que ejecuta la tarea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Pablo Flores (UID 1)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Tipo de Tarea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Fixed Work / Fixed Duration / Fixed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Fixed Work (todas)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Calendario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Calendario aplicable a la tarea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UID 11: Guatemala - Feriados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TRUE si duración = 0, FALSE si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FALSE (110 tareas de trabajo)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BASE DE LAS ESTIMACIONES Y ESTIMACIONES DE DURACIÓN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Fundamento de cada estimación + resumen por fase | PMBOK 8va, Cronograma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Base de las Estimaciones — Duraciones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Metodología: Bottom-up desde EDT nivel 4. Unidad: horas efectivas (netas).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Fuentes: Juicio de expertos (asesor FING), análoga (proyectos previos 150-360h),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paramétrica (~15h por sección de 5pp), descomposición (3-31h por paquete).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Ajustes: Productividad 8h/día netas, lun-sáb, +20% buffer en tareas nuevas,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hardware M1 con batch=1 (2-3x tiempo vs GPU). Precisión: ±10% nivel 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Estimaciones de Duración por Fase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INICIO (148h): Inscripción 78h + Asesor 80h + Plan 60h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PLANIFICACIÓN (235h): Anteproyecto 152h + Diseño Metodológico 83h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EJECUCIÓN (744h): Marco Teórico 161h + Preprocesamiento 136h +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Entrenamiento LoRA 227h + Evaluación 106h + Análisis 90h + Informe 175h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M&amp;C (86h): Seguimiento + Control Cambios (solapados)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CIERRE (160h): Correcciones 75h + Defensa 59h + Entrega 26h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109728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Ejemplos de Cálculo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Investigación: 2-3h/paper → 23h = ~10 papers | Redacción: 15h/sección 5pp | Programación: 15-23h/módulo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Entrenamiento ML: 31h = ~3 épocas M1 8GB batch=1 modelo 4B | Revisión: 15h/ronda (leer+corregir+verificar)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Períodos espera: 31-39h (3-5 días hábiles FING) modelados como tareas de duración fija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LISTA DE HITOS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Hitos principales con fechas planificadas y criterios de aceptación | PMBOK 8va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657600"/>
                <a:gridCol w="1828800"/>
                <a:gridCol w="5029200"/>
              </a:tblGrid>
              <a:tr h="37982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Hito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Fecha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 de Aceptación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Proyecto de Graduación Completado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Aprobación formal por tribunal y constancia Biblioteca FING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Carta de inscripción firmada por Director de Carrera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INICIO: 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Tema aprobado + asesor identificado formalmente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FIN: 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 de proyecto aprobado por el asesor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INICIO: PLANIFICACION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 formal del anteproyecto con asesor asignado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FIN: PLANIFICACION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 y diseño metodológico aprobados por comité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INICIO: EJECUCION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2026-04-08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 formal de experimentos y marco teórico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FIN: EJECUCION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Informe final completo revisado y aprobado por asesor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INICIO: M&amp;C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2026-02-26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Primera reunión de seguimiento con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FIN: M&amp;C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2026-03-13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 formal de actividades de seguimiento intensivo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INICIO: 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2026-08-17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 de correcciones finales post-revisión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798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FIN: 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2026-09-14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Documento final depositado en Biblioteca FING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DCF0"/>
                </a:solidFill>
                <a:latin typeface="Calibri"/>
              </a:defRPr>
            </a:pPr>
            <a:r>
              <a:t>Identificación, adquisición y gestión de los recursos necesarios para ejecutar el proyecto. Incluye recursos humanos, equipamiento, materiales e infraestructura.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PLAN DE GESTIÓN DE 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Define cómo se estimarán, adquirirán y gestionarán los recursos | PMBOK 8va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Identificación y Estimación de Recursos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Fuente primaria: EDT nivel 4 — cada una de las 110 actividades tiene recurso asignado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Método: Bottom-up — suma de horas por recurso desde actividades nivel 4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Recurso Humano: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Pablo Flores (PM/Tesista) — 1,287h planificadas @ Q 80/hr = Q 102,960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Asesor FING — ~40h estimadas para revisión técnica (sin costo directo para el proyecto)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Recursos Físicos: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MacBook Air M1 2020 (8GB/256GB) — Q 6,000 (costo hundido, ya adquirido)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Internet 10Mbps (~Q 250/mes) y electricidad (~Q 300 total) — costos absorbidos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Materiales: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Impresión 3 copias × Q 150 = Q 450 | Posters defensa: Q 200 | Papelería: Q 150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Total materiales: Q 800 — compra directa por bajo monto, sin licitación requerida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Estrategia de Gestión de Recursos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Asignación: PM dedicado 100% al proyecto (225 días, 1,287h efectivas)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Calendario: lun-sáb 8h/día, flexibilidad ±2h en semanas críticas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Adquisiciones: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MacBook ya adquirido — no requiere proceso de compra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Materiales: compra directa por bajo monto (&lt; Q 1,000), sin licitación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Monitoreo y Control: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Registro de horas reales vs planificadas como parte del EVM mensual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Reporte mensual de utilización de recursos al asesor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Contingencias: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Si MacBook falla → usar laboratorio de cómputo FING (costo: Q 0)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Si PM enfrenta indisponibilidad &gt; 48h → ajustar cronograma, notificar asesor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Optimización: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Bloques de trabajo de 2-4h enfocados (técnica Pomodoro adaptada)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Entrenamiento ML en horarios nocturnos para menor temperatura ambiente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CARTA DEL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Valores, normas y acuerdos de trabajo | PMBOK 8va, Recursos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0972800" cy="5029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Carta del Equipo — Proyecto LoRA-HDL-QA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Contexto: Proyecto de graduación individual. El 'equipo' está compuesto por: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Pablo Flores — PM/Tesista (ejecutor principal, 100% del trabajo técnico y de gestión)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Asesor (por asignar) — Revisor técnico (~40h totales, sin costo directo para el proyecto)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Director de Carrera — Autoridad de aprobación y escalamiento de decisiones críticas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Valores del Trabajo: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Excelencia académica: rigor científico en experimentación y documentación de resultados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Transparencia: reportar avances y desviaciones en tiempo real al asesor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Responsabilidad: cumplir hitos y plazos acordados; notificar riesgos con anticipación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Reproducibilidad: todo código, datos y resultados deben ser reproducibles por terceros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Normas de Trabajo: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Reuniones: semanal con asesor (1h fija), quincenal de seguimiento formal con minuta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Comunicación: email para documentos formales, WhatsApp para coordinación ágil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Documentación: minutas de reunión en máximo 24h, reportes de avance mensuales con EVM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Código: versionado en GitHub, commits atómicos con mensajes descriptivos en español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Conflictos: escalar al Director de Carrera si PM y asesor no llegan a acuerdo en 5 días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Nota: Por ser proyecto unipersonal, esta carta establece normas de trabajo entre el PM y el asesor.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No se requiere team charter tradicional (no hay equipo multidisciplinario que gestionar).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MATRIZ RACI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Responsabilidades por paquete de trabajo EDT | PMBOK 8va, Recursos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825429"/>
              </p:ext>
            </p:extLst>
          </p:nvPr>
        </p:nvGraphicFramePr>
        <p:xfrm>
          <a:off x="457200" y="1345140"/>
          <a:ext cx="11277597" cy="511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2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8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8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86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86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08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Paquete de Trabajo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Pablo Flores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Asesor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Director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FING/UNIS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Inscripción del Tema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Asignación de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 del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Anteproyecto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Diseño Metodológico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Marco Teórico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Preprocesamiento de Datos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Entrenamiento LoRA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Evaluación Benchmark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Análisis de Resultados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Redacción Informe Final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Seguimiento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Control de Cambios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Correcciones Finales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0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Defensa Pública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08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Entrega y 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5700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66666"/>
                </a:solidFill>
                <a:latin typeface="Calibri"/>
              </a:defRPr>
            </a:pPr>
            <a:r>
              <a:t>R = Responsible (ejecuta)  |  A = Accountable (aprueba/responde)  |  C = Consulted (aporta criterio)  |  I = Informed (recibe información)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REQUISITOS DE RECURSOS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Humanos, equipamiento y materiales necesarios | PMBOK 8va, Recursos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15733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Recursos Humanos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Pablo Flores (PM/Tesista)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• 1,287 horas planificadas @ Q 80/hr = Q 102,960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• Disponibilidad 100% (tiempo completo)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• Rol: ejecución total del proyecto + gestión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Asesor (por asignar por FING)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• ~40 horas estimadas (revisión técnica y reuniones)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• Honorarios cubiertos por FING/UNIS (sin costo directo)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• Rol: orientación técnica, revisión de calidad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Director de Carrera / Comité / Jurado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• &lt;10 horas totales (evaluación en hitos)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• Sin costo directo para el proyecto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415733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rPr dirty="0" err="1"/>
              <a:t>Equipamiento</a:t>
            </a:r>
            <a:r>
              <a:rPr dirty="0"/>
              <a:t> e </a:t>
            </a:r>
            <a:r>
              <a:rPr dirty="0" err="1"/>
              <a:t>Infraestructura</a:t>
            </a: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MacBook Air M1 2020 (8GB/256GB)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  • Costo </a:t>
            </a:r>
            <a:r>
              <a:rPr dirty="0" err="1"/>
              <a:t>adquisición</a:t>
            </a:r>
            <a:r>
              <a:rPr dirty="0"/>
              <a:t>: Q 6,000 (</a:t>
            </a:r>
            <a:r>
              <a:rPr dirty="0" err="1"/>
              <a:t>costo</a:t>
            </a:r>
            <a:r>
              <a:rPr dirty="0"/>
              <a:t> </a:t>
            </a:r>
            <a:r>
              <a:rPr dirty="0" err="1"/>
              <a:t>hundido</a:t>
            </a:r>
            <a:r>
              <a:rPr dirty="0"/>
              <a:t>,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adquirido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  • ~1,000h de </a:t>
            </a:r>
            <a:r>
              <a:rPr dirty="0" err="1"/>
              <a:t>uso</a:t>
            </a:r>
            <a:r>
              <a:rPr dirty="0"/>
              <a:t> </a:t>
            </a:r>
            <a:r>
              <a:rPr dirty="0" err="1"/>
              <a:t>estimadas</a:t>
            </a:r>
            <a:r>
              <a:rPr dirty="0"/>
              <a:t> para </a:t>
            </a:r>
            <a:r>
              <a:rPr dirty="0" err="1"/>
              <a:t>entrenamiento</a:t>
            </a:r>
            <a:r>
              <a:rPr dirty="0"/>
              <a:t> y </a:t>
            </a:r>
            <a:r>
              <a:rPr dirty="0" err="1"/>
              <a:t>desarrollo</a:t>
            </a: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Software (</a:t>
            </a:r>
            <a:r>
              <a:rPr dirty="0" err="1"/>
              <a:t>todo</a:t>
            </a:r>
            <a:r>
              <a:rPr dirty="0"/>
              <a:t> open-source, sin </a:t>
            </a:r>
            <a:r>
              <a:rPr dirty="0" err="1"/>
              <a:t>costo</a:t>
            </a:r>
            <a:r>
              <a:rPr dirty="0"/>
              <a:t>):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  • Python, </a:t>
            </a:r>
            <a:r>
              <a:rPr dirty="0" err="1"/>
              <a:t>HuggingFace</a:t>
            </a:r>
            <a:r>
              <a:rPr dirty="0"/>
              <a:t> Transformers, PEFT, MLX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ProjectLibre</a:t>
            </a:r>
            <a:r>
              <a:rPr dirty="0"/>
              <a:t> 1.9.8 (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proyecto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  • Git/GitHub (control de </a:t>
            </a:r>
            <a:r>
              <a:rPr dirty="0" err="1"/>
              <a:t>versiones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Infraestructura</a:t>
            </a:r>
            <a:r>
              <a:rPr dirty="0"/>
              <a:t>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  • Internet 10Mbps (~Q 250/</a:t>
            </a:r>
            <a:r>
              <a:rPr dirty="0" err="1"/>
              <a:t>mes</a:t>
            </a:r>
            <a:r>
              <a:rPr dirty="0"/>
              <a:t>, </a:t>
            </a:r>
            <a:r>
              <a:rPr dirty="0" err="1"/>
              <a:t>costo</a:t>
            </a:r>
            <a:r>
              <a:rPr dirty="0"/>
              <a:t> </a:t>
            </a:r>
            <a:r>
              <a:rPr dirty="0" err="1"/>
              <a:t>absorbido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Electricidad</a:t>
            </a:r>
            <a:r>
              <a:rPr dirty="0"/>
              <a:t> (~Q 300 total, </a:t>
            </a:r>
            <a:r>
              <a:rPr dirty="0" err="1"/>
              <a:t>costo</a:t>
            </a:r>
            <a:r>
              <a:rPr dirty="0"/>
              <a:t> </a:t>
            </a:r>
            <a:r>
              <a:rPr dirty="0" err="1"/>
              <a:t>absorbido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  • Google Drive 100GB (EDU, </a:t>
            </a:r>
            <a:r>
              <a:rPr dirty="0" err="1"/>
              <a:t>gratuito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 err="1"/>
              <a:t>Materiales</a:t>
            </a:r>
            <a:r>
              <a:rPr dirty="0"/>
              <a:t>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Impresión</a:t>
            </a:r>
            <a:r>
              <a:rPr dirty="0"/>
              <a:t> 3 </a:t>
            </a:r>
            <a:r>
              <a:rPr dirty="0" err="1"/>
              <a:t>copias</a:t>
            </a:r>
            <a:r>
              <a:rPr dirty="0"/>
              <a:t> × Q 150 = Q 450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  • Material defensa (posters): Q 200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rPr dirty="0"/>
              <a:t>  • </a:t>
            </a:r>
            <a:r>
              <a:rPr dirty="0" err="1"/>
              <a:t>Papelería</a:t>
            </a:r>
            <a:r>
              <a:rPr dirty="0"/>
              <a:t> y </a:t>
            </a:r>
            <a:r>
              <a:rPr dirty="0" err="1"/>
              <a:t>misceláneos</a:t>
            </a:r>
            <a:r>
              <a:rPr dirty="0"/>
              <a:t>: Q 150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BASE DE LAS ESTIMACIONES — RECURSOS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Fundamento de las estimaciones de recursos | PMBOK 8va, Recursos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Recurso Humano — PM/Tesista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Tarifa: Q 80/hora — basada en tarifa de investigador junior en Guatemala (referencia: SENACYT)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Horas: 1,287h — suma bottom-up de las 110 actividades nivel 4 del cronograma XML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Disponibilidad: 100% — el tesista no tiene otras obligaciones laborales durante el período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Productividad: 8h/día netas — basado en experiencia previa en proyectos académicos similares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Fuente de la tarifa: promedio de estipendio de investigación + costo de vida en Guatemala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Nota: el costo de mano de obra es principalmente costo de oportunidad, no erogación en efectivo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Equipamiento y Materiales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MacBook M1: Q 6,000 — precio de mercado Guatemala (2025), depreciado a 2 años de uso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Impresión: Q 150/copia — cotización de Copistería UNIS (zona 15, 2025)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Internet: Q 250/mes — tarifa Tigo residencial 10Mbps, costo absorbido (no incremental)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Electricidad: 30W × 1,000h × Q 1/kWh ≈ Q 300 — cálculo basado en consumo del M1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Materiales: Q 350 — estimación empírica de proyectos de graduación previos en FING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66160"/>
            <a:ext cx="10972800" cy="914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Reservas y Contingencias en Recursos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Contingencia de recurso humano: +10% de horas en tareas técnicas críticas (entrenamiento LoRA, evaluación benchmark) = ~70h de buffer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Contingencia de equipamiento: si MacBook falla, utilizar laboratorio de cómputo FING (costo: Q 0, pero requiere coordinación de horario)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Las estimaciones siguen el principio de 'estimación más probable' con un buffer separado, no inflado en cada tarea individual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ESTRUCTURA DE DESGLOSE DE RECURSOS (RBS)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Descomposición jerárquica de recursos del proyecto | PMBOK 8va, Recursos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1. Recursos Humanos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1.1 PM / Tesista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Pablo Flores (100%)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1.2 Asesoría Técnica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Asesor FING (~40h)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1.3 Autoridades Académicas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Director de Carrera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Comité Evaluador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Jurado de Defensa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2. Equipamiento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2.1 Hardware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MacBook Air M1 8GB/256GB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2.2 Periféricos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Monitor externo (opcional)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Teclado y mouse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2.3 Respaldo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Disco externo 1TB (backup)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65760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3. Software y Servicios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3.1 Desarrollo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Python, HuggingFace, MLX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3.2 Gestión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ProjectLibre, Excel, Git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3.3 Infraestructura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Internet 10Mbps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Google Drive 100GB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54864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4. Materiales y Consumibles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4.1 Impresión y Empastado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3 copias informe final × Q 150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4.2 Material de Defensa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Posters, handouts, bolígrafos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4.3 Papelería General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Cuadernos, post-its, impresiones parciales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840480"/>
            <a:ext cx="50292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5. Servicios Externos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5.1 Imprenta / Copistería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Copistería UNIS o PrintCenter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5.2 Soporte Técnico FING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Laboratorio de cómputo (contingencia)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5.3 Revisión de Estilo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    • Interno (tesista)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CALENDARIOS DE 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Disponibilidad de cada recurso a lo largo del proyecto | PMBOK 8va, Recursos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5603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Calendario del Recurso Principal — Pablo Flores (PM/Tesista)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Período: Feb 02 — Sep 14, 2026 (225 días calendario)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Días laborables: Lunes a Sábado (6 días/semana)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Horario estándar: 08:00-12:00 y 13:00-17:00 (8h/día efectivas)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Horas máximas por semana: 48h (6 días × 8h)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Excepciones (no laborable para el recurso):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Todos los domingos del período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Jueves 2 — Sábado 4 de Abril (Semana Santa)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Viernes 1 de Mayo (Día del Trabajo)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Martes 30 de Junio (Día del Ejército, ½ día opcional)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Disponibilidad real: ~190 días laborables × 8h = ~1,520h disponibles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Horas planificadas: 1,287h → utilización del ~85% del tiempo disponible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Calendario del Equipamiento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MacBook Air M1: Disponible 24/7, compartido con uso personal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Ventanas óptimas para entrenamiento ML: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Horario nocturno (18:00-06:00): menor temperatura ambiente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Fines de semana: bloques de 8-12h continuos disponibles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Horas estimadas de uso: ~1,000h para el proyecto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54864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Calendario del Asesor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Disponibilidad: Sujeta a carga académica del docente en FING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Reuniones: 1h/semana en día y hora fijos (por acordar al inicio)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Revisiones de hitos: bajo demanda, con 5 días hábiles de anticipación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Período de mayor carga docente: inicio de semestre (Ene, Jul)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Planificar revisiones de documentos extensos con 1-2 semanas de anticipación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COSTOS / FINANZAS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DCF0"/>
                </a:solidFill>
                <a:latin typeface="Calibri"/>
              </a:defRPr>
            </a:pPr>
            <a:r>
              <a:t>Planificación, estimación, presupuestación, financiamiento y control de los costos del proyecto. Incluye EVM y análisis de valor ganado.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FINANCIERA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Políticas, procedimientos y documentación para gestionar costos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Políticas de Estimación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Método: Bottom-up desde EDT nivel 4 (horas × Q 80/hr)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Moneda: Quetzales (GTQ). Tipo de cambio fijo: Q 7.80/USD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Precisión: ±10% en paquetes nivel 4; ±15% en costo total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Reestimación: mensual durante fase de ejecución (o ante cambios aprobados)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Costo de mano de obra: costo de oportunidad, no erogación en efectivo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Control de Costos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Monitoreo: EVM mensual (PV, EV, AC, CPI, SPI)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Umbrales: Verde &lt;5% | Amarillo 5-15% | Rojo &gt;15%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Herramienta: Excel vinculado a datos del XML de ProjectLibre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Responsable: PM (Pablo Flores), con supervisión del asesor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Reporte: mensual, incluido en informe de avance para asesor y Director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54864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Reservas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Contingencia: Q 20,846.00 — calculado como suma de Costo Esperado (CE = P × I) de los 25 riesgos identificados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Gestión: Q 700.00 — para acciones de mitigación no anticipadas y gastos administrativos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Uso de contingencia: solo para riesgos materializados; aprobación del asesor requerida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Uso de gestión: autorizado por el PM para acciones proactivas de mitigación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17520"/>
            <a:ext cx="50292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Indicadores EVM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PV (Planned Value) = Costo planificado del trabajo programado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EV (Earned Value) = Costo planificado del trabajo completado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AC (Actual Cost) = Costo real incurrido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CPI = EV/AC (eficiencia de costo: &gt;1 = bajo presupuesto)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SPI = EV/PV (eficiencia de cronograma: &gt;1 = adelantado)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EAC = BAC/CPI (estimación al finalizar)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TCPI = (BAC−EV)/(BAC−AC) (índice requerido para cumplir BAC)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ESTIMACIONES DE 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Desglose por fase basado en datos reales del XML | PMBOK 8va, Costos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59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1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5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7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83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Concepto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Horas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del Total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148h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11,840.00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8.3%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18,800.00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744h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59,520.00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41.9%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MONITOREO 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6,880.00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160h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12,800.00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9.0%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Subtotal Mano de Obra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1,373h*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109,840.00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77.3%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MacBook M1 (costo hundido)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6,000.00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Materiales (impresión, posters)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800.00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Subtotal Directos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116,640.00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82.1%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Reserva de Contingencia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20,846.00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Reserva de Gestión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700.00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83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COSTO DEL PROYECTO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138,186.00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97.3%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con MacBook (costo hundido)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144,186.00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101.5%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59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4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1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Período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Horas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Acumulado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Febrero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211h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16,880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16,880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Marzo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46,240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Abril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374h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29,920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76,160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Mayo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13,760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89,920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Junio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190h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15,200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105,120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Julio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18,080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123,200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Agosto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160h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12,800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136,000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Septiembre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10,400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146,400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BASE DE LAS ESTIMACIONES — 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Fundamento y metodología de cada estimación de costo | PMBOK 8va, Costos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Mano de Obra — Q 80/hora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Tarifa basada en: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Estipendio promedio de investigador junior en Guatemala (SENACYT 2025): Q 12,800/mes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Asumiendo 160h/mes productivas: Q 80/hora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Incluye costo de vida (alimentación, transporte, servicios) en Ciudad de Guatemala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• Es costo de oportunidad (el tesista no recibe salario por el proyecto)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Horas por fase: suma directa de duraciones del XML de ProjectLibre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Validación cruzada: ~1,373h totales vs 1,287h del XML (+86h de buffer implícito en tareas de resumen)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Equipamiento y Materiales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MacBook M1: Q 6,000 — precio de mercado en Guatemala (nov 2025, MacBook Air M1 2020 usado)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Depreciación: 2 años de uso personal previo, valor residual ~Q 3,000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Impresión: Q 150/copia × 3 = Q 450 — cotización Copistería UNIS (ene 2026)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Posters defensa: Q 200 — impresión a color tamaño A1 (2 posters)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Papelería: Q 150 — cuadernos, post-its, bolígrafos, impresiones parciales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66160"/>
            <a:ext cx="10972800" cy="18288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Reservas de Contingencia — Cálculo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Método: Valor Monetario Esperado (EMV) = Σ (Probabilidad × Impacto Máximo) para cada uno de los 25 riesgos identificados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EMV total = Q 20,846.00 (ver Registro de Riesgos en Excel LoRA_Risk_Register_Analysis.xlsx)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Reserva de gestión: 0.5% del costo directo ≈ Q 700 — para gastos no anticipados ni modelados como riesgos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Las reservas NO están incluidas en la línea base de costos (BAC = Q 116,640). Se añaden para el presupuesto total.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Cualquier uso de la reserva de contingencia requiere documentación del riesgo materializado y aprobación del asesor.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LÍNEA BASE DE 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Presupuesto aprobado contra el cual se mide el desempeño de costos | PMBOK 8va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0972800" cy="9144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Definición de Línea Base de Costos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BAC (Budget at Completion) = Q 116,640.00 — incluye mano de obra directa (Q 109,840) + equipamiento y materiales (Q 6,800). No incluye reservas de contingencia ni gestión. La línea base se congela tras la aprobación del anteproyecto (Mar 2026).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468880"/>
          <a:ext cx="11277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1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1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7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Período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PV Mensual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PV Acumulado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BAC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16,880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16,880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14.5%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46,240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39.6%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29,920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76,160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65.3%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May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13,760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89,920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77.1%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Jun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15,200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105,120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90.1%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18,080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105.6%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12,800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136,000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116.6%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Sep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10,400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146,400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125.5%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2468880"/>
            <a:ext cx="4114800" cy="36576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Indicadores de Línea Base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BAC = Q 116,640.00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Presupuesto total (incluye reservas):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Q 116,640 + Q 20,846 + Q 700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= Q 138,186.00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Curva S: perfil de gasto front-loaded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con pico en Mar-Abr 2026 (planif. + inicio ejec.)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Desembolso: el costo de mano de obra es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costo de oportunidad. Solo equipamiento y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materiales requieren desembolso en efectivo: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Q 6,800 (ya erogado el MacBook).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REQUISITOS DE FINANCIAMIENTO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Flujo de fondos necesario por período | PMBOK 8va, Costos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59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0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5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6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6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76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Período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Horas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Mano de Obra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Erogaciones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Período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Acumulado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Febrero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211h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16,880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6,000 (MacBook)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22,880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22,880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Marzo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367h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52,240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Abril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374h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29,920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29,920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82,160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Mayo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13,760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13,760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95,920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Junio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190h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15,200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15,200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111,120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Julio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226h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18,080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18,080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129,200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Agosto 2026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160h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12,800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12,800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142,000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Septiembre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130h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10,400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800 (materiales)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153,200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Contingencia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20,846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174,046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Gestión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700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174,746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6032880"/>
            <a:ext cx="10972800" cy="7315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Notas sobre Financiamiento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Fuente de fondos: recursos propios del tesista. No hay financiamiento externo (beca, patrocinio, o subvención).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La mano de obra es costo de oportunidad (no erogación). Las erogaciones reales son solo Q 6,800 (MacBook + materiales).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El flujo de fondos es front-loaded: 65% del presupuesto se concentra en Feb-Abr 2026 (fases de inicio, planificación y arranque de ejecución).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ESTRATEGIA DE FINANCIAMIENTO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Cómo se obtendrán y administrarán los fondos | PMBOK 8va, Costos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Estrategia de Financiamiento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Fuente primaria: Recursos propios del tesista (Pablo Flores)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El proyecto no requiere financiamiento externo porque: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El hardware principal (MacBook M1) ya fue adquirido previamente (costo hundido)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El software es 100% open-source y gratuito (Python, HuggingFace, MLX, ProjectLibre)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La mano de obra es aportada por el tesista como parte de su formación académica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Los costos de materiales son menores a Q 1,000 (impresión, empastado, posters)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Estructura de costos: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Costos hundidos (ya incurridos): MacBook M1 Q 6,000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Costos futuros de materiales: Q 800 (impresión 3 copias, posters, papelería)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Costos recurrentes absorbidos: internet Q 250/mes, electricidad ~Q 300 total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Costo de oportunidad (mano de obra): 1,287h × Q 80/hr = Q 102,960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Total erogación en efectivo requerida durante el proyecto: Q 800 (materiales fase cierre)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No se requiere plan de financiamiento con bancos, inversionistas, ni patrocinadores.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El proyecto es autofinanciado por el tesista con recursos ya disponibles.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5029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Administración de Fondos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Responsable: PM (Pablo Flores)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Mecanismo de pago: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Cuenta bancaria personal existente (no se requiere cuenta dedicada)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Pago directo a proveedores (copistería) contra entrega del servicio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Control financiero: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Registro de gastos en Excel vinculado al EVM mensual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Facturas y recibos escaneados y archivados en Google Drive del proyecto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Conciliación mensual: gasto real vs presupuesto planificado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Flujo de fondos: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Feb 2026: Q 0 (MacBook ya fue pagado previamente)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Sep 2026: Q 800 (impresión de 3 copias + posters para defensa)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Reservas: no requieren depósito previo (solo se usan si se materializan riesgos)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Cierre financiero (Sep 2026):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Conciliación final de gastos reales vs presupuesto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Documentación de lecciones aprendidas en gestión financiera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Informe final de costos para el expediente del proyecto de graduación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274320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DOMINIO DE DESEMPEÑO:</a:t>
            </a:r>
            <a:br/>
            <a:r>
              <a:t>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C8DCF0"/>
                </a:solidFill>
                <a:latin typeface="Calibri"/>
              </a:defRPr>
            </a:pPr>
            <a:r>
              <a:t>Identificación, análisis cualitativo y cuantitativo, planificación de respuestas, implementación y monitoreo de riesgos del proyecto.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PLAN DE GESTIÓN DE RIESGOS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Calibri"/>
              </a:defRPr>
            </a:pPr>
            <a:r>
              <a:t>Define cómo se gestionarán los riesgos del proyecto | PMBOK 8va, Riesgos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Metodología de Gestión de Riesgos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Enfoque: Cualitativo-cuantitativo iterativo (PMBOK 8va)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Frecuencia de identificación: quincenal (en reuniones con asesor)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Análisis: Probabilidad × Impacto monetario = Costo Esperado (CE)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Umbral de respuesta: CE &gt; Q 1,500 requiere plan de respuesta documentado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Herramientas: Excel (LoRA_Risk_Register_Analysis.xlsx), matriz Prob-Impacto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Categorías de riesgo: Técnico, Organizacional, Recursos Humanos, Calidad, Operativo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146304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Estrategias de Respuesta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EVITAR: Cambiar enfoque/metodología si el riesgo es inaceptable (ej: cambiar modelo base si Qwen no carga)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MITIGAR: Reducir probabilidad (checkpointing, backups, revisiones anticipadas) y/o impacto (plan B)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TRANSFERIR: No aplica en proyecto académico individual (no hay seguros ni terceros que absorban riesgo)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ACEPTAR: Riesgos con CE &lt; Q 500 — monitorear sin plan de respuesta activo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ESCALAR: Al Director de Carrera si el riesgo impacta normativa FING o plazos institucionales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54864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Roles en Gestión de Riesgos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Identificación: PM + Asesor (en reuniones quincenales)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Análisis cualitativo: PM (matriz Prob-Impacto)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Análisis cuantitativo (EMV): PM (Excel), validado por asesor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Planificación de respuestas: PM propone, asesor aprueba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Implementación: PM ejecuta las respuestas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Monitoreo: Revisión quincenal del registro de riesgos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17520"/>
            <a:ext cx="50292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8580" bIns="685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Indicadores Clave de Riesgo (KRI)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KRI-1: Espera respuesta asesor &gt; 10 días → escalar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KRI-2: Loss NaN en entrenamiento → detener y revisar datos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KRI-3: Temperatura MacBook &gt; 85°C → pausar y refrigerar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KRI-4: Desviación cronograma &gt; 15% → plan de recuperación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KRI-5: Datasets con &gt; 5% de datos corruptos → reprocesar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REGISTRO DE 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25 riesgos identificados | Contingencia total: Q 20,846.00 | PMBOK 8va, Riesgos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98755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822960"/>
                <a:gridCol w="548640"/>
                <a:gridCol w="914400"/>
                <a:gridCol w="640080"/>
                <a:gridCol w="3657600"/>
              </a:tblGrid>
              <a:tr h="314325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Descripción del Riesgo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Cat.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Prob.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Impacto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 (Q)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Respuesta Planificada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Modelo base no carga en 8GB RAM (OOM)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Técnico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4,000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1,600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Quantización 4-bit GGUF; probar modelos más pequeños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Arquitectura experimental no viable con hardware 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Técnico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QLoRA 4-bit con MLX; gradient checkpointing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Entrenamiento final interrumpido por falla hardware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Técnico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6,000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1,500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Checkpointing cada 100 steps; respaldo en nube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Resultados del modelo final no superan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Técnico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Ajustar rank LoRA (r=16→64); data augmentation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Tiempo de entrenamiento excede estimado (throttling)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Técnico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1,350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Entrenar horarios nocturnos; ventilador externo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Observaciones extensas del asesor requieren reescritura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Organizacional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Redacción iterativa temprana; anticipar correcciones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Demora en resolución institucional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Organizacional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3,120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1,248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Escalar con Director; recordatorios cada 5 días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Rechazo del anteproyecto por comité evaluador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Organizacional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Reducir alcance; revisión previa con Director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encontrar datasets HDL/QA de calidad suficiente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Técnico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900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Generar dataset sintético con GPT-4; web scraping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Datos de entrenamiento con corrupción no detectada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Pipeline de validación automatizada; revisión manual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Retraso en asignación de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Recursos Humanos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2,520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882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Contactar múltiples candidatos simultáneamente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Entrenamiento piloto diverge o produce 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Técnico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Reducir learning rate; aumentar warmup steps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Modelos SOTA publicados usan GPU/A100 no reproducible en M1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Técnico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800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limitaciones; normalizar por recursos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VerilogEval v2 no ejecuta en entorno ARM/M1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Técnico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Compilar dependencias nativas ARM; usar Rosetta 2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Metodología requiere cambios mayores tras revisión asesor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Organizacional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3,000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 750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Reuniones quincenales; enviar borradores por secciones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REPORTE DE RIESGOS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Resumen ejecutivo de la situación de riesgos | PMBOK 8va, Riesgos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5603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Resumen General de Riesgos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Total riesgos identificados: 25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Riesgos con plan de respuesta activo (CE &gt; Q 1,500): 12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Riesgos en monitoreo pasivo (CE &lt; Q 500): 5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Riesgos escalables al Director: 3 (demora institucional, asignación asesor, rechazo anteproyecto)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Costo Esperado Total (EMV): Q 20,846.00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Reserva de contingencia recomendada: Q 20,846.00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Reserva de gestión: Q 700.00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Perfil de riesgo del proyecto: MODERADO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La mayoría de riesgos son técnicos (15/25 = 60% del total)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Los riesgos organizacionales tienen alto impacto pero baja probabilidad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No se identificaron riesgos catastróficos (impacto &gt; Q 10,000)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• El proyecto es manejable con las reservas calculadas y planes de respuesta activos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25603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Distribución por Categoría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Técnico: 15 riesgos | CE: Q 13,994 (67.1%)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→ Críticos: OOM en 8GB, hardware M1 insuficiente, falla HW, no supera baseline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Organizacional: 7 riesgos | CE: Q 4,950 (23.7%)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→ Críticos: Reescritura por observaciones, demora institucional, rechazo comité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Calidad: 1 riesgo | CE: Q 900 (4.3%)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→ Corrupción no detectada en datos de entrenamiento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Recursos Humanos: 1 riesgo | CE: Q 882 (4.2%)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→ Retraso en asignación de asesor por disponibilidad limitada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Operativo: 1 riesgo | CE: Q 120 (0.6%)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→ Error en impresión/empastado con plazo de entrega inminente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0972800" cy="201168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Top 5 Riesgos por Costo Esperado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1. Modelo OOM en 8GB RAM (CE: Q 1,600) → Quantización 4-bit GGUF, probar modelos más pequeños como Qwen3-1.5B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2. Arquitectura no viable en M1 (CE: Q 1,500) → Evaluar QLoRA 4-bit con MLX; implementar gradient checkpointing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3. Falla hardware durante entrenamiento (CE: Q 1,500) → Checkpointing cada 100 steps; backup automático en iCloud/Google Drive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4. Modelo no supera baseline (CE: Q 1,500) → Ajuste de hiperparámetros (r=16→64, learning rates); data augmentation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5. Thermal throttling en M1 (CE: Q 1,350) → Entrenamiento en horarios nocturnos; ventilador externo; dividir en sub-épocas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REGISTRO DE LECCIONES APRENDIDAS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Conocimiento para mejorar desempeño actual y futuro | PMBOK 8va, Riesgos y General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7160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743200"/>
                <a:gridCol w="3291840"/>
                <a:gridCol w="4206240"/>
              </a:tblGrid>
              <a:tr h="70539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Fase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Lección Aprendida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Causa Raíz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Recomendación para Futuro</a:t>
                      </a:r>
                    </a:p>
                  </a:txBody>
                  <a:tcPr>
                    <a:solidFill>
                      <a:srgbClr val="4285C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Inicio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Validar calendario antes de planificar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Crash ProjectLibre por &lt;Exceptions&gt; sin &lt;RecurrenceType&gt;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Probar XML en ProjectLibre antes de entregar; verificar compatibilidad de herramientas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Planificación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Anticipar asignación de asesor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Demora en asignación afectó revisiones tempranas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Contactar candidatos desde la inscripción del tema; tener opciones de respaldo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Ejecución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Validar hardware antes de diseñar arquitectura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8GB RAM obligó quantización agresiva (4-bit)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Hacer PoC de memoria antes de diseñar pipeline completo; probar con modelo pequeño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Ejecución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Versionar datos y checkpoints desde el inicio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Corrupción de datos requirió reprocesar 31h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Usar DVC/Git LFS; checkpointing automático cada 100 steps; backup en nube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M&amp;C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Documentar minutas de todas las reuniones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Observaciones verbales del asesor se olvidaron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Enviar minuta en 24h post-reunión; confirmar entendimiento con el asesor por email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Reservar margen para correcciones del jurado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Espera por nota y correcciones puede extenderse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Solicitar defensa con 2 semanas de anticipación; tener semana buffer post-defensa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1" name="Rectangl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228600" y="182880"/>
            <a:ext cx="548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Calibri"/>
              </a:defRPr>
            </a:pPr>
            <a:r>
              <a:t>DIAGRAMAS DE RED DEL CRONOGRAMA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Calibri"/>
              </a:defRPr>
            </a:pPr>
            <a:r>
              <a:t>Secuencia lógica de actividades y dependencias | PMBOK 8va, Cronograma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0972800" cy="11887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100" b="1">
                <a:solidFill>
                  <a:srgbClr val="1A2744"/>
                </a:solidFill>
                <a:latin typeface="Calibri"/>
              </a:defRPr>
            </a:pPr>
            <a:r>
              <a:t>Método de Diagramación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Método: Diagrama de Precedencia (PDM) con relaciones Finish-to-Start (FS) implementado en ProjectLibre.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  <a:latin typeface="Calibri"/>
              </a:defRPr>
            </a:pPr>
            <a:r>
              <a:t>La mayoría de las dependencias son obligatorias (duras): no se puede entrenar sin preprocesar datos; no se puede defender sin redactar.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10972800" cy="3835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8580" rIns="68580"/>
          <a:lstStyle/>
          <a:p>
            <a:pPr algn="ctr">
              <a:spcAft>
                <a:spcPts val="300"/>
              </a:spcAft>
              <a:defRPr sz="1000" b="1">
                <a:solidFill>
                  <a:srgbClr val="1A2744"/>
                </a:solidFill>
                <a:latin typeface="Calibri"/>
              </a:defRPr>
            </a:pPr>
            <a:r>
              <a:t>Ruta Crítica del Proyecto (secuencia de dependencias FS desde el XML)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INICIO PROYECTO → Inscripción Tema → Asignación Asesor → Plan Proyecto → FIN INICIO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 ↓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INICIO PLANIFICACIÓN → Anteproyecto → Diseño Metodológico → FIN PLANIFICACIÓN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 ↓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INICIO EJECUCIÓN → [Marco Teórico ∥ Preprocesamiento Datos] → Entrenamiento LoRA → Evaluación → Análisis → Informe → FIN EJECUCIÓN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   ↓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INICIO CIERRE → Correcciones Finales → Defensa Pública → Entrega y Cierre → FIN DEL PROYECTO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En paralelo durante todo el proyecto: MONITOREO Y CONTROL (seguimiento semanal + control de cambios bajo demanda)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Dependencias clave del XML: UID 4→5→6→7→8→9 (Inscripción secuencial) | UID 25→26→...→33 (Anteproyecto)</a:t>
            </a:r>
          </a:p>
          <a:p>
            <a:pPr>
              <a:spcAft>
                <a:spcPts val="100"/>
              </a:spcAft>
              <a:defRPr sz="800">
                <a:solidFill>
                  <a:srgbClr val="333333"/>
                </a:solidFill>
                <a:latin typeface="Calibri"/>
              </a:defRPr>
            </a:pPr>
            <a:r>
              <a:t>UID 44∥46∥47 (Marco teórico paralelo) | UID 63→68→71→73 (Entrenamiento iterativo) | UID 100→101→102→103 (Revisiones)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11528</Words>
  <Application>Microsoft Macintosh PowerPoint</Application>
  <PresentationFormat>Widescreen</PresentationFormat>
  <Paragraphs>2194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RODOLFO ALEXANDER FLORES MOLLINEDO</cp:lastModifiedBy>
  <cp:revision>4</cp:revision>
  <dcterms:created xsi:type="dcterms:W3CDTF">2013-01-27T09:14:16Z</dcterms:created>
  <dcterms:modified xsi:type="dcterms:W3CDTF">2026-05-01T01:58:08Z</dcterms:modified>
  <cp:category/>
</cp:coreProperties>
</file>