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5"/>
    <p:sldId id="275" r:id="rId4"/>
    <p:sldId id="276" r:id="rId3"/>
    <p:sldId id="277" r:id="rId2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20.xml"/><Relationship Id="rId5" Type="http://schemas.openxmlformats.org/officeDocument/2006/relationships/slide" Target="slides/slide1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1036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285F4"/>
                </a:solidFill>
                <a:latin typeface="Calibri"/>
              </a:defRPr>
            </a:pPr>
            <a:r>
              <a:t>UNIVERSIDAD DEL ISTMO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Facultad de Ingeniería (FING)  |  Ingeniería en Sistemas y 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PLAN DE DIRECCIÓN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PMBOK 8va Edición — todos los documentos de iniciación y planificación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Proyecto: LoRA-HDL-QA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PM: Pablo Rodolfo Alexander Flores Mollinedo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Febrero —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GOBERNANZA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Un modelo de gestión alineado con los objetivos institucionales. Define estructuras de autoridad, toma de decisiones, y mecanismos de control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ACTA DE CONSTITUCIÓN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Documento formal que autoriza el proyecto | PMBOK 8va, Gobernanza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Información General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Proyecto: LoRA-HDL-QA — Degradación Catastrófica en Fine-Tuning LoRA para HDL/QA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PM: Pablo R. A. Flores Mollinedo | Director: Ing. Estuardo Rodríguez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Por asignar | Período: Feb — Oct 2026 (1,287 h planificadas)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Tipo: Proyecto de graduación FING/UNIS — trabajo individual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Caso de Negocio y Objetivos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Trabajo de graduación para cierre de pensum en Ingeniería en Sistemas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Investigar impacto de estrategias de preprocesamiento en fine-tuning LoRA para generación HDL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Contribuir al campo de ML aplicado a diseño de hardware con evidencia experimental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Objetivo: paper de investigación + repositorio reproducible + defensa oral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Entregables de Alto Nivel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 aprobado por comité evaluador FING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Paper de investigación comparativo (2 configuraciones LoRA evaluadas en VerilogEval v2)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 GitHub público con scripts, pesos .safetensors, y resultados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 formato FING/IMRaD + defensa oral ante jurado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Hitos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Inicio: Feb 02 | Inscripción + asesor: Feb 02-16 | Plan proyecto: Feb 17-26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Feb 26 — Mar 25 | Diseño metodológico: Mar 25 — Abr 08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Ejecución (entrenamiento + evaluación): Abr 08 — Ago 17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(correcciones + defensa): Ago 17 — Sep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Presupuesto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Mano de obra: 1,287h × Q 80/hr = Q 102,960 directos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Equipo MacBook M1: Q 6,000 | Materiales: Q 800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contingencia: Q 20,846 | Reserva de gestión: Q 700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TOTAL: Q 131,306 (incluye reservas)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Interesados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Director de Carrera: aprueba tema, supervisa defensa, resuelve conflictos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orientación técnica, revisión de entregables, aprobación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Comité evaluador: evalúa anteproyecto y defensa oral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(PM/Tesista): ejecución total del proyecto, gestión y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0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Autoridad del PM: gestionar cronograma, presupuesto, y alcance. Escalar decisiones que afecten normativa UNIS al Director.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SUPUESTOS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Supuestos documentados durante la iniciación | PMBOK 8va, Gobernanza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303520"/>
                <a:gridCol w="914400"/>
                <a:gridCol w="2286000"/>
              </a:tblGrid>
              <a:tr h="44888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Certidumbre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 de Validación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 contará con un asesor asignado antes del 16 de 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adecuado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Air M1 8GB es suficiente para fine-tuning LoRA con quantización 4-bit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Existen datasets HDL/QA públicos de calidad suficiente para fine-tuning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estable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reglamento de graduación FING no cambiará durante 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del 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tesista mantendrá disponibilidad 100% durante el período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Acceso a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MLX, y librerías asociadas estarán disponibles sin costo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Plazos institucionales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Los tiempos de respuesta institucional no excederán 10 días hábiles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accesible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Qwen3-4B será accesible en HuggingFace y cargable en 8GB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funcional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benchmark VerilogEval v2 será ejecutable en entorno ARM/M1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Sin cambios mayores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habrá cambios en el alcance del proyecto una vez aprobado el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+ Asesor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INTERESADOS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análisis, involucramiento y comunicación efectiva con todas las partes interesadas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INTERESADOS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Identificar, clasificar y documentar a todos los interesados | PMBOK 8va, Interesados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280160"/>
                <a:gridCol w="914400"/>
                <a:gridCol w="914400"/>
                <a:gridCol w="2743200"/>
              </a:tblGrid>
              <a:tr h="379827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 en el Proyecto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Poder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Interés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Estrategia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/ 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Orientador 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Autoridad académica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Comité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 de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Coordinador de Tesis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Procesos administrativos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Biblioteca 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Recepción y archivo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Estudiantes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Audiencia académica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Investigadores en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HuggingFace /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Plataformas de publicación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UNIS — Rectoría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Aval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Familia 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Apoyo logístico y 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DEL INVOLUCRAMIENTO DE LOS INTERESADOS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Estrategias por grupo para promover participación productiva | PMBOK 8va, Interesados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Pablo Flores (PM)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Líder, ejecutor, controlador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100% diario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Reportes de avance, reuniones semanales, actualización cronograma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Revisor técnico, mentor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Reunión semanal 1h + revisión hitos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Minutas de reunión, borradores para revisión, reportes de avance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Aprobador, escalamiento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Hitos: inicio, anteproyecto,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Solicitudes formales, notificaciones de hitos, reportes de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de anteproyecto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Marzo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Documento de anteproyecto impreso y digital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Jurado de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Septiembre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Informe final, presentación defensa, demo técnico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943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Coordinador de Tesis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Gestor de trámites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Según necesidad administrativa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Formularios, solicitudes, constancias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LAS COMUNICACIONES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 para gestionar comunicaciones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1828800"/>
                <a:gridCol w="2560320"/>
                <a:gridCol w="1645920"/>
              </a:tblGrid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Comunicación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→ Para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 / 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Receptor Final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 (1h)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/ 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en 24h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 de 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EVM: SPI, SV, CPI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o documento del hito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en 5 días hábiles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detectarse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/ WhatsApp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de riesgos actualizado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de documento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/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PDF + impreso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Acuse de recibo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Comité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 (único)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Presentación + demo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Jurado,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en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Comunidad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público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MATRIZ DE COMUNICACIONES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Detalle de flujos de información entre interesados | PMBOK 8va, Interesados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2560320"/>
                <a:gridCol w="2560320"/>
                <a:gridCol w="1188720"/>
              </a:tblGrid>
              <a:tr h="5715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Medio/Canal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Formato/Entregable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Audiencia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Presencial/Zoom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de reunión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de avance (EVM)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Asesor,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Alerta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WhatsApp/Email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Inmediato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+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RFC (Request for Change)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Convocatoria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Una vez (Sep 2026)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convocatoria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Director,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/ HuggingFace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paper + pesos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Consulta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Coordinador Tesis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Definición, validación y control del alcance del proyecto y del producto. Incluye requisitos, EDT, y trazabilidad.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planificará, gestionará y controlará el alcance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Proceso de Definición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1. Recopilar requisitos: entrevistas con asesor, análisis de normativa FING, revisión de literatura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2. Elaborar Enunciado del Alcance: descripción, entregables, criterios de aceptación, exclusiones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3. Crear EDT/WBS: descomposición jerárquica hasta nivel 4 (paquetes de trabajo de 3-31h)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4. Validar alcance con asesor y Director de Carrera antes de congelar línea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Control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Línea base congelada tras aprobación del anteproyecto (Mar 2026)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Cualquier cambio requiere Solicitud de Cambio formal → evaluación asesor → aprobación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Métricas: % de paquetes EDT completados vs planificados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Verificación: entregables validados contra criterios de aceptación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Exclusiones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desarrollo de hardware (FPGA/ASIC) ni pruebas en silicio real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entrenamiento en clusters GPU multi-nodo (limitado a hardware M1 8GB local)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implementación de un IDE o herramienta de software interactiva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cubre fine-tuning de modelos mayores a 4B parámetros (restricción de RAM)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publicación en revistas indexadas (solo repositorio público y defensa oral FING)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recopilarán, analizarán y gestionarán los requisitos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Recopilación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Fuentes: normativa FING, guía de tesis UNIS, reuniones con asesor, papers de referencia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Técnicas: entrevistas estructuradas con asesor, análisis documental, benchmark de proyectos similares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Clasificación: RF (Funcionales), RNF (No Funcionales), RP (Procedimentales)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Priorización: MoSCoW — Must have (M), Should have (S), Could have (C), Won't have (W)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Trazabilidad y Validación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Matriz de trazabilidad: cada requisito vinculado a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Validación: revisión con asesor en hitos de planificación y cierre de fase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Verificación: scripts de prueba automatizados para requisitos técnicos (RNF-01, RF-01)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Control de cambios: modificaciones a requisitos siguen proceso formal de gestión de cambios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Métricas y KPIs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Cobertura de trazabilidad: 100% de requisitos con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Tasa de aprobación: % de requisitos validados por asesor vs total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Estabilidad: número de cambios a requisitos post-aprobación del anteproyecto (meta: &lt;3)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Cumplimiento: % de criterios de aceptación satisfechos al cierre de cada fase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DOCUMENTACIÓN DE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Registro y clasificación de requerimientos | PMBOK 8va, Alcance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640080"/>
                <a:gridCol w="914400"/>
                <a:gridCol w="1645920"/>
                <a:gridCol w="3474720"/>
              </a:tblGrid>
              <a:tr h="386861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Propósito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chunking vs filtrado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archivos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Benchmark estandarizado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+ JSON 156 entradas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Reproducir hallazgo del paper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Reproducibilidad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Condición experimental real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+ tribunal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Divulgación científica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Restricción institucional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ENUNCIADO DEL ALCANCE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Descripción detallada del alcance, entregables, criterios de aceptación y exclusiones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Descripción del Alcance del Producto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Investigación científica documentada sobre el impacto del preprocesamiento de datos de entrenamiento en la degradación catastrófica de fine-tuning LoRA para generación de HDL.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Dos configuraciones experimentales: (a) filtrado de datasets por calidad, (b) chunking estratégico del corpus de entrenamiento.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Evaluación comparativa usando VerilogEval v2 (156 problemas) con métricas BLEU, exactitud sintáctica, y PASS@k.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Entregables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E-01: Inscripción formal del tema (Feb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E-02: Anteproyecto aprobado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E-03: Avances de ejecución (Abr-Ago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E-04: Scripts y repositorio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E-05: Modelos LoRA fine-tuned (.safetensors)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E-06: Resultados de benchmark (JSON + gráficas)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E-07: Informe final formato FING/IMRaD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E-08: Cronograma y registro de horas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E-09: Defensa oral (Sep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E-10: Entrega final a Biblioteca FING (Sep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83464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Aceptación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aprobado por 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final: aprobado por asesor y tribunal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Repositorio: README + instrucciones de reproducción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Scripts: ejecutables sin errores en entorno limpio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93192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Restricciones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Hardware: MacBook Air M1 8GB RAM (no GPU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Tiempo: máximo 360 horas de esfuerzo efectivo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Presupuesto: Q 6,800 máximo en no-humanos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Alcance: 2 configuraciones LoRA comparativas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Exclusiones Explícitas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desarrollo de hardware (FPGA/ASIC) | No incluye implementación de herramienta de software | No cubre modelos &gt;4B parámetros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publicación en revistas indexadas | No incluye entrenamiento multi-GPU | No cubre más de 2 configuraciones experimentales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EDT / WBS — ESTRUCTURA DE DESGLOSE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Descomposición jerárquica del alcance total en 16 paquetes de trabajo | PMBOK 8va,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744"/>
                </a:solidFill>
                <a:latin typeface="Calibri"/>
              </a:defRPr>
            </a:pPr>
            <a:r>
              <a:t>Diagrama EDT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2743200" cy="41148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Proyecto de Graduación</a:t>
            </a:r>
          </a:p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LoRA-HDL-QA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000" y="2286000"/>
            <a:ext cx="2100000" cy="5300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1.1 INICIO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8000" y="2286000"/>
            <a:ext cx="2100000" cy="5300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1.2 PLANIFICACIÓN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235h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4000" y="2286000"/>
            <a:ext cx="2100000" cy="5300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1.3 EJECUCIÓN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744h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86000"/>
            <a:ext cx="2100000" cy="5300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1.4 MONITOREO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Y CONTROL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86h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286000"/>
            <a:ext cx="2100000" cy="5300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1.5 CIERRE</a:t>
            </a:r>
          </a:p>
          <a:p>
            <a:pPr algn="l">
              <a:defRPr sz="800" b="1">
                <a:solidFill>
                  <a:srgbClr val="FFFFFF"/>
                </a:solidFill>
                <a:latin typeface="Calibri"/>
              </a:defRPr>
            </a:pPr>
            <a:r>
              <a:t>160h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233000" y="1965960"/>
            <a:ext cx="4710600" cy="32004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428000" y="1965960"/>
            <a:ext cx="2515600" cy="32004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684000" y="1965960"/>
            <a:ext cx="259600" cy="32004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1965960"/>
            <a:ext cx="1964400" cy="32004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943600" y="1965960"/>
            <a:ext cx="4158960" cy="32004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0000" y="3018000"/>
            <a:ext cx="5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1.1.1 Inscripción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del Tema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3018000"/>
            <a:ext cx="5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1.1.2 Asignación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de Asesor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0000" y="3018000"/>
            <a:ext cx="5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1.1.3 Plan del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Proyecto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70000" y="3018000"/>
            <a:ext cx="73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1.2.1 Anteproyecto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00000" y="3018000"/>
            <a:ext cx="73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1.2.2 Diseño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Metodológico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0000" y="3018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1.3.1 Marco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Teórico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30000" y="3018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1.3.2 Preproc.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de Datos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0000" y="3018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1.3.3 Entrenam.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LoRA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0000" y="3650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1.3.4 Evaluac.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Benchmark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0000" y="3650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1.3.5 Análisis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Resultados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0000" y="3650000"/>
            <a:ext cx="65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1.3.6 Redacción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Informe Final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20000" y="3650000"/>
            <a:ext cx="70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1.4.1 Seguimiento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0000" y="3650000"/>
            <a:ext cx="70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1.4.2 Control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de Cambios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20000" y="3018000"/>
            <a:ext cx="70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1.5.1 Correcc.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Finales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20000" y="3018000"/>
            <a:ext cx="70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1.5.2 Defensa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Pública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20000" y="3018000"/>
            <a:ext cx="700000" cy="45720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1.5.3 Entrega</a:t>
            </a:r>
          </a:p>
          <a:p>
            <a:pPr algn="l">
              <a:defRPr sz="600" b="1">
                <a:solidFill>
                  <a:srgbClr val="1A2744"/>
                </a:solidFill>
                <a:latin typeface="Calibri"/>
              </a:defRPr>
            </a:pPr>
            <a:r>
              <a:t>y Cierre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55000" y="2816000"/>
            <a:ext cx="678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175000" y="2816000"/>
            <a:ext cx="58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233000" y="2816000"/>
            <a:ext cx="562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835000" y="2816000"/>
            <a:ext cx="593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428000" y="2816000"/>
            <a:ext cx="237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5025000" y="2816000"/>
            <a:ext cx="659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5025000" y="2816000"/>
            <a:ext cx="659000" cy="834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684000" y="2816000"/>
            <a:ext cx="71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684000" y="2816000"/>
            <a:ext cx="71000" cy="834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684000" y="2816000"/>
            <a:ext cx="80100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84000" y="2816000"/>
            <a:ext cx="801000" cy="834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270000" y="2816000"/>
            <a:ext cx="638000" cy="834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908000" y="2816000"/>
            <a:ext cx="162000" cy="834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9470000" y="2816000"/>
            <a:ext cx="63256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102560" y="2816000"/>
            <a:ext cx="16744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02560" y="2816000"/>
            <a:ext cx="967440" cy="20200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DICCIONARIO DE LA EDT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Detalle de cada paquete de trabajo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103120"/>
                <a:gridCol w="2743200"/>
                <a:gridCol w="640080"/>
                <a:gridCol w="2743200"/>
                <a:gridCol w="2743200"/>
              </a:tblGrid>
              <a:tr h="2958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el tema de tesis ante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inscripción firmada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FING vigente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formalizar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docente FING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plan de dirección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aprobado por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PMBOK 8va Edición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y presentar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por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Guía de anteproyecto FING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experimentos y métricas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metodológico aprobado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Papers de referencia LoRA/HDL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Fundamentos LLM, LoRA, HDL,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2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Artículos científicos revisados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Limpiar, tokenizar y validar datasets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procesados y documentados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HDL/QA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Fine-tuning con 2 configuraciones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LoRA (.safetensors)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8GB, quantización 4-bit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VerilogEval v2 y comparar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benchmark (JSON + gráficas)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v2, scripts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y comparar métricas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4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benchmark recopilados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del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informe en formato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completo revisado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UNIS, guía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 avance y reuniones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Reportes de avance mensuales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base, minutas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solicitudes de cambio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 de cambios aprobados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gestión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aprobado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Retroalimentación del asesor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y realizar 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 defensa aprobatoria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de defensa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Entregar a biblioteca y cerrar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Biblioteca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Normas de entrega UNIS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DE TRAZABILIDAD DE REQUERIMIENTOS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Trazabilidad bidireccional requisitos → EDT → entregables → criterios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286000"/>
                <a:gridCol w="365760"/>
                <a:gridCol w="914400"/>
                <a:gridCol w="1645920"/>
                <a:gridCol w="1645920"/>
                <a:gridCol w="3657600"/>
              </a:tblGrid>
              <a:tr h="3516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con pesos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benchmark; JSON 156 entradas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1.3.6, 1.5.1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y tribunal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 (foco ejecución)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1.1.1, 1.1.2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inscripción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1.3.1, 1.3.6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1.5.2, 1.5.3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 Biblioteca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6030000"/>
            <a:ext cx="1188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Cobertura: 12 requerimientos trazados a entregables y criterios de aceptación. Trazabilidad bidireccional 100%.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CAMBIOS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Proceso formal para solicitar, evaluar y aprobar cambios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Proceso de Control de Cambios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IDENTIFICAR: Cualquier interesado detecta necesidad de cambio en alcance, tiempo, costo o calidad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REGISTRAR: Completar formato de Solicitud de Cambio (RFC) con: descripción, justificación, impacto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EVALUAR: PM analiza impacto en triple restricción (alcance/cronograma/costo) y riesgos asociados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REVISAR: Asesor revisa RFC en máximo 5 días hábiles, puede solicitar más información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DECIDIR: Aprobar (implementar), Rechazar (documentar razón), o Diferir (re-evaluar en próxima fase)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6. IMPLEMENTAR: Actualizar línea base, EDT, cronograma, y documentos afectados. Comunicar a interesados.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Autoridad de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≤5% desviación: PM puede aprobar directamente (informar al asesor)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5-15% desviación: Requiere aprobación del asesor con revisión técnica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&gt;15% desviación o que afecten normativa: Escalar al 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Emergencias (riesgo crítico): PM implementa respuesta inmediata, documenta post-facto en 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Herramientas y Registros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Formato RFC en Excel/Google Sheets vinculado al cronograma | Log de cambios con trazabilidad a EDT | Revisión en reuniones quincenales | Actualización de línea base solo tras aprobación formal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SOLICITUD DE CAMBIO (RFC) — FORMATO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Formato estándar para solicitudes de cambio | PMBOK 8va, Alcance (opcional según normativa)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RFC ID: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RFC-NNN (auto-incremental)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Solicitud: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Solicitante: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Nombre y 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Prioridad: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Alta / Media / Baja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Descripción del Cambio: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03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Justificación: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¿Por qué es necesario el cambio?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Alcance: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Paquetes EDT afectados, entregables modificados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Cronograma: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004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horas estimadas, nueva fecha de finalización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Costo: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costo estimado en 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Riesgos: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931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Nuevos riesgos o modificación de existentes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Alternativas Consideradas: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297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Otras opciones evaluadas y razón de descarte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Decisión: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6634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Aprobado / Rechazado / Diferido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663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Decisión: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Firmas: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029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Solicitante: ______  |  PM: ______  |  Asesor: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ESTRATEGIA DE ADQUISICIONES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 para adquirir recursos externos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General de Adquisiciones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Contexto: Proyecto académico individual de graduación. La naturaleza del proyecto (investigación + desarrollo experimental) implica que la mayoría de los recursos son internos (esfuerzo del tesista, hardware propio, software open-source).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Adquisiciones requeridas: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Equipo: MacBook Air M1 2020 — ya adquirido (costo hundido Q 6,000). Alternativa: usar laboratorio FING si falla hardware.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Software: Python, HuggingFace, MLX, VerilogEval — todo open-source sin costo de licencia.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Datasets: Repositorios públicos (HuggingFace datasets, GitHub) — descarga gratuita.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Materiales: Impresión y empastado (3 copias × Q 150 = Q 450) — proveedor local, cotización simple.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Papelería y misceláneos: Q 350 — compra directa sin licitación.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Estrategia: Compra directa por bajo monto (&lt; Q 5,000). No se requiere proceso de licitación formal por ser proyecto académico. El PM tiene autoridad para adquirir materiales menores. Equipamiento se usa recurso propio existente.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DECISIONES DE INTERNALIZACIÓN O EXTERNALIZACIÓN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Análisis Make-or-Buy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03120"/>
                <a:gridCol w="2103120"/>
                <a:gridCol w="45720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Recurso/Actividad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Justificación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Conocimiento técnico del tesista; hardware propio; control total del proceso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propios; ejecución local; reproducibilidad científica requerida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grado; debe ser trabajo original del estudiante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técnica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(Asesor)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Honorarios institucionales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designado por FING; costo cubierto por la universidad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Impresión y empastado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(Proveedor)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Servicio especializado; bajo costo; 3 copias requeridas por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de estilo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Cubierto en fase de correcciones finales (EDT 1.5.1); sin costo adicional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Software y herramientas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(Open-source)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Gratuito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MLX: licencias libres; descarga directa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computacional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(Propio)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ya adquirido; si falla, alternativa: laboratorio FING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CRITERIOS DE SELECCIÓN DE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Criterios para evaluar y seleccionar proveedores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Proveedores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servicios de impresión y empastado: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Calidad: muestras de trabajos previos (portadas, encuadernación)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Precio: cotización ≤ Q 200 por copia completa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Tiempo de entrega: ≤ 3 días hábiles por copia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Ubicación: cercanía a campus UNIS o zona 15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Referencias: recomendaciones de tesistas previos FING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Proveedores evaluados (ejemplo):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Copistería UNIS: Q 150/copia, 2 días, en campus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PrintCenter Z15: Q 180/copia, 1 día, a 2km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TesisExpress Online: Q 200/copia, 5 días, envío incluido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Recursos Digitales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datasets y modelos: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Licencia: open-source (MIT, Apache 2.0, CC-BY) verificable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Calidad: documentación, papers asociados, benchmarks conocidos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Comunidad: actividad en GitHub, issues, actualizaciones recientes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Compatibilidad: formato compatible con HuggingFace datasets/datasets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Tamaño: factible de procesar en M1 8GB (≤ 1GB por dataset)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Datasets seleccionados: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VerilogEval v2 (156 problemas, GitHub, MIT license)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HDL dataset de HuggingFace (código VHDL/Verilog etiquetado)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 sintético generado con GPT-4 (como respaldo)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Planificación, desarrollo, monitoreo y control del cronograma. Incluye definición de actividades, secuenciación, estimación de duraciones y línea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Políticas, procedimientos y documentación para gestionar el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Metodología y Herramientas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estimating desde EDT nivel 4 (110 actividades)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Herramienta: ProjectLibre (CPM + baseline + exportación Gantt)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Calendario: Guatemala 2026 — lun-sáb 8h/día (08:00-12:00, 13:00-17:00)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Unidades: Horas de trabajo efectivas. Precisión ±10% en nivel 4 EDT.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Umbrales de Control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Verde: &lt;5% de desviación — normal, sin acción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Amarillo: 5-15% desviación — plan de recuperación en 1 semana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Rojo: &gt;15% desviación — escalamiento al Director de Carrera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Formato de Reporte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S-curve mensual (PV, EV, AC) para seguimiento visual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EVM: SPI, SV para medir eficiencia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Actualización: quincenal con asesor, registro de cambios en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834640"/>
            <a:ext cx="50292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Revisión y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Quincenal con asesor en reuniones de seguimiento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Registro de cambios en log de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Línea base congelada post-aprobación anteproyecto (Mar 2026)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Cronograma aprobado contra el cual se mide el desempeño | PMBOK 8va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914400"/>
                <a:gridCol w="36576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 (LB)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 → Feb 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Inscripción, asesor, plan de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Abr 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Anteproyecto, diseño metodológico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 → Ago 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teórico, entrenamiento, evaluación,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Mar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 y control de cambios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13, 2026*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 → Sep 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Correcciones, defensa, entrega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14,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0972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Notas sobre la Línea Base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La línea base del cronograma es la versión aprobada que se utiliza para comparar el desempeño real.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Fecha de congelamiento: posterior a la aprobación del anteproyecto por el comité evaluador (~Mar 25, 2026).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La línea base solo se modifica mediante solicitudes de cambio aprobadas formalmente.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M&amp;C tiene actividades distribuidas a lo largo del proyecto; el bloque principal está en Feb-Mar 2026.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Duración total del proyecto: 225 días calendario (Feb 02 → Sep 14, 2026). Horas efectivas: 1,287h.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Se utiliza calendario Guatemala 2026 (lun-sáb 8h/día). Domingos y feriados no laborables.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Las estimaciones de duración provienen del archivo XML LoRA-HDL-QA_Proyecto_2026.xml.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CRONOGRAMA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gráfico de fases y duraciones | Feb — Sep 2026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INICIO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02 → Feb 26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156h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PLANIFICACIÓN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Abr 08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248h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EJECUCIÓN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Abr 08 → Ago 17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784h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71600"/>
            <a:ext cx="2103120" cy="25603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MONITOREO Y CONTROL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Mar 13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88h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CIERRE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Ago 17 → Sep 14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160h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89120"/>
            <a:ext cx="10972800" cy="914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DATOS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Métricas clave y datos de soporte del modelo de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Estadísticas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de actividades en el modelo: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trabajo (nivel 4): 110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resumen (niveles 1-3): 27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Hitos (duración 0): 13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Duración total: 1,287 horas efectivas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Período: 2026-02-02 al 2026-09-14 (225 días calendario)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 de planificación: Ruta Crítica (CPM)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 aplicado: Guatemala 2026 (lun-sáb, 8h/día)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Software: ProjectLibre 1.9.8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Ruta Crítica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ruta crítica atraviesa las fases de: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 → Inscripción → Asignación Asesor → Plan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PLANIFICACIÓN → Anteproyecto → Diseño Metodológico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EJECUCIÓN → Entrenamiento LoRA → Evaluación → Informe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CIERRE → Correcciones → Defensa →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Holgura total estimada: ~10% (principalmente en M&amp;C)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Los períodos de espera institucionales son parte de la ruta crítica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Períodos de Espera (no laborables pero incluidos en el cronograma)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institucional (UID 8): 39h | Aprobación comité (UID 33): 31h | Retroalimentación 1ra (UID 100): 23h | Retroalimentación 2da (UID 102): 39h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jurado (UID 127): 23h | Total esperas institucionales: ~155h (12% del total de horas)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CALENDARIOS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Calendario guatemalteco completo 2026 con feriados oficiales | PMBOK 8va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Base — Guatemala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Días laborables: Lunes a Sábado — Horario: 08:00-12:00 y 13:00-17:00 (8h/día efectivas)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Domingo: No laborable (descanso obligatorio por ley)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OFICIALES 2026 (no laborables):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Ene — Año Nuevo | • 2-4 Abr — Semana Santa (Jueves, Viernes, Sábado Santo)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May — Día del Trabajo | • 30 Jun — Día del Ejército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15 Sep — Día de la Independencia | • 20 Oct — Día de la Revolución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Nov — Día de Todos los Santos | • 24 Dic — Nochebuena (½ día)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25 Dic — Navidad | • 31 Dic — Fin de Año (½ día)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que afectan al proyecto (Feb—Sep 2026):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Semana Santa (2-4 Abr), Día del Trabajo (1 May), Día del Ejército (30 Jun), Independencia (15 Sep)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Recurso — Pablo Flores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100% (tiempo completo) | Máximo: 8h/día laborable | Flexibilidad: hasta 10h/día en semanas críticas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 activo: Feb 02 — Sep 14, 2026 (225 días) | Total horas planificadas: 1,287h efectivas | Promedio: ~5.7h/día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 técnica (ProjectLibre 1.9.8): Bug con &lt;Exceptions&gt; sin &lt;RecurrenceType&gt; causa crash.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documentados aquí pero NO en el XML por compatibilidad. Ajustar fechas manualmente en seguimiento.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80000"/>
            <a:ext cx="10972800" cy="2560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Períodos de Espera Institucionales (modelados como tareas en el cronograma)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Resolución institucional: 39h (Feb 6 → Feb 13) | • Aprobación comité: 31h (Mar 19 → Mar 25)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Retroalimentación 1ra revisión: 23h (Jul 29 → Ago 3) | • Retroalimentación 2da revisión: 39h (Ago 6 → Ago 12)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Resolución jurado: 23h (Sep 4 → Sep 9)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Total esperas: ~155h (12% del total). Estas esperas son tiempo calendario, no trabajo activo del tesista.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Impacto: Las esperas institucionales están en la ruta crítica. Cualquier extensión afecta la fecha de finalización.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Plan de contingencia: Si la espera supera 2 semanas sobre lo planificado, escalar al Director de Carrera.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(1/5)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Delimitar el tema de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formularios y documentación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solicitud formal ante la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aprobación formal del 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candidatos 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y reunirse con candidatos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asesor definitivo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carta de asignación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trabajo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alcance, supuestos y restricciones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EDT (WBS)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cronograma y línea base de 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plan de comunicación y 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y aprobación del plan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literatura sobre el 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planteamiento del problema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objetivos general y específicos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Plantear hipótesis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Escribir justificación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(2/5)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documento completo de anteproyecto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anteproyecto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anteproyecto ante comité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aprobación del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y comparar metodologías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justificar metodología adoptada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arquitectura general del experimento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seleccionar datasets HDL /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pipeline de entrenamiento y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 y criterios de éxito del 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y aprobar 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LLMs y arquitecturas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LoRA y métodos PEFT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HDL — VHDL / Verilog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QA en diseño digital y EDA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Fundamentos teóricos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LoRA aplicado a generación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marco teórico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y ajuste del 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Catalogar datasets HDL / QA disponibles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Descargar y verificar integridad de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(3/5)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exploratorio de datos (EDA)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Limpieza y depuración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Tokenización y formateo para fine-tuning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Transformación y normalización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Validación de calidad e integridad del dataset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pipeline de preprocesamiento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entorno Python / HuggingFace en MacBook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Instalar y verificar librerías PEFT /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cargar modelo base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cargador de datos HDL personalizado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parámetros LoRA (r, alpha, dropout)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piloto (sanity check)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métricas de pérdida y accuracy del piloto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2026-05-27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optimizado iteración 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final (modelo definitivo)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Guardar, versionar y respaldar modelo entrenado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proceso de entrenamiento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benchmarks existentes para LLM / HDL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métricas: BLEU, exactitud sintáctica, PASS@k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scripts de evaluación automatizada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(4/5)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LoRA fine-tuned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base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y analizar: LoRA vs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resultados del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y consolidar todas las métricas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estadístico descriptivo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Visualizar resultados (gráficas y tablas)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con modelos del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fortalezas, limitaciones y trabajo futuro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análisis e interpretación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estructura y capítulos del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1 — Introducción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Integrar cap. 2 — Marco teórico (ajustar)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3 — Metodología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4 — Resultados y análisis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5 — Conclusiones y recomendaciones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referencias bibliográficas (APA / IEEE)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formato y estilo según normativo UNIS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revisión con asesor (espera retroalim.)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primera ronda de correcciones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Segunda revisión con asesor (espera retroalim.)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segunda ronda de correcciones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(5/5)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agenda y protocolo de reuniones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Conducir reuniones semanales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reportes de avance mensuales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Actualizar y monitorear cronograma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Registrar solicitudes de cambio formales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y aprobar cambios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cambios aprobados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lecciones aprendidas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retroalimentación final del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finales al documento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ortografía, gramática y estilo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Formatear documento final según normativo UNIS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final y firma del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presentación PowerPoint para 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material de apoyo y demo 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Realizar ensayos de presentación (mínimo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 ante el jurado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y nota del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indicadas por el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Imprimir, empastar y preparar copias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formal a biblioteca y facultad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administrativo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ATRIBUTOS DE LA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Campos que describen cada actividad del cronograma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3657600"/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Atributo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Valores de Ejemplo / Notas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Identificador único en el XML de ProjectLibre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Ej: 4, 5, 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Descripción de la actividad (verbo + objeto)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Nivel EDT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1=Proyecto, 2=Fase, 3=Entregable, 4=Paquete trabajo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WBS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de la EDT al que pertenece la actividad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1.1.1.4 (Inscripción del Tema)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Duración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Horas de trabajo efectivas (formato ISO 8601)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PT8H0M0S = 8 horas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de inicio planificada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2026-02-02T08:00:00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Fin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de finalización planificada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2026-02-02T17:00:00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Predecesoras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Tareas que deben completarse antes (FS)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4FS (termina UID 4, inicia esta)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que ejecuta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 (UID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Tipo de Tarea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/ Fixed Duration / Fixed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(todas las tareas)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 aplicable 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 11: Guatemala - Feriados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TRUE si duración = 0, FALSE si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FALSE (110 tareas de trabajo)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BASE DE LAS ESTIMACIONES Y ESTIMACIONES DE DURACIÓN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Fundamento de cada estimación + resumen por fase | PMBOK 8va, Cronograma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3774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Base de las Estimaciones — Duraciones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Metodología: Bottom-up desde EDT nivel 4. Unidad: horas efectivas (netas, sin pausas).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Fuentes: Juicio de expertos (asesor FING), análoga (tesis previas 150-360h),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paramétrica (~15h por sección de 5pp), descomposición (paquetes de 3-31h).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Ajustes aplicados: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Productividad: 8h/día netas | Calendario: lun-sáb, excluye domingos y feriados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Curva de aprendizaje: +20% buffer en primeras tareas de cada fase nueva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Hardware M1 8GB: batch=1 → 2-3x tiempo vs GPU, quantización 4-bit obligatoria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Precisión: ±10% en paquetes nivel 4; ±15% en fases nivel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3774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Estimaciones de Duración por Fase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(148h): Inscripción Tema 78h + Asignación Asesor 80h + Plan Proyecto 60h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PLANIFICACIÓN (235h): Anteproyecto 152h + Diseño Metodológico 83h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EJECUCIÓN (744h): Marco Teórico 161h + Preprocesamiento 136h +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Entrenamiento LoRA 227h + Evaluación Benchmark 106h +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Análisis Resultados 90h + Redacción Informe 175h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M&amp;C (86h): Seguimiento + Control Cambios (actividades solapadas)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CIERRE (160h): Correcciones Finales 75h + Defensa Pública 59h + Entrega 26h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93192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Ejemplos de Cálculo de Duraciones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Investigación/Lectura: 2-3h/paper → 23h = ~10 papers | Redacción: 15h/sección 5pp | Programación: 15-23h/módulo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Entrenamiento ML: 31h = ~3 épocas M1 8GB batch=1 modelo 4B | Revisión: 15h/ronda completa (leer+corregir+verificar)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Períodos de espera: 31-39h (3-5 días hábiles FING) modelados como tareas de duración fija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HITOS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Hitos principales con fechas planificadas y criterios de aceptación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828800"/>
                <a:gridCol w="5029200"/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Proyecto de Graduación Completado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formal por tribunal y constancia Biblioteca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inscripción firmada por Director de Carrera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Tema aprobado + asesor identificado formalmente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proyecto aprobado por el asesor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PLANIFICACION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del anteproyecto con asesor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PLANIFICACION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y diseño metodológico aprobados por comité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EJECUCION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 experimentos y marco teórico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EJECUCION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final completo revisado y aprobado por asesor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seguimiento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formal de actividades de seguimiento intensivo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 correcciones finales post-revisión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depositado en Biblioteca FING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adquisición y gestión de los recursos necesarios para ejecutar el proyecto. Incluye recursos humanos, equipamiento, materiales e infraestructura.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PLAN DE GESTIÓN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Define cómo se estimarán, adquirirán y gestionarán los recursos | PMBOK 8va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Identificación y Estimación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primaria: EDT nivel 4 — cada una de las 110 actividades tiene recurso asignado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— suma de horas por recurso desde actividades nivel 4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 Humano: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Pablo Flores (PM/Tesista) — 1,287h planificadas @ Q 80/hr = Q 102,960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Asesor FING — ~40h estimadas para revisión técnica (sin costo directo para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Recursos Físicos: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MacBook Air M1 2020 (8GB/256GB) — Q 6,000 (costo hundido, ya adquirido)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Internet 10Mbps (~Q 250/mes) y electricidad (~Q 300 total) — costos absorbidos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Materiales: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Impresión 3 copias × Q 150 = Q 450 | Posters defensa: Q 200 | Papelería: Q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Total materiales: Q 800 — compra directa por bajo monto, sin licitación requerida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de Gestión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Asignación: PM dedicado 100% al proyecto (225 días, 1,287h efectivas)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Calendario: lun-sáb 8h/día, flexibilidad ±2h en semanas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Adquisiciones: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MacBook ya adquirido — no requiere proceso de compra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Materiales: compra directa por bajo monto (&lt; Q 1,000), sin licitación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Monitoreo y Control: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Registro de horas reales vs planificadas como parte del EVM mensual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Reporte mensual de utilización de recursos al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Contingencias: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Si MacBook falla → usar laboratorio de cómputo FING (costo: Q 0)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Si PM enfrenta indisponibilidad &gt; 48h → ajustar cronograma, notificar asesor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CARTA DEL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Valores, normas y acuerdos de trabajo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5029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Carta del Equipo — Proyecto LoRA-HDL-QA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Contexto: Proyecto de graduación individual. El 'equipo' está compuesto por: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Pablo Flores — PM/Tesista (ejecutor principal, 100% del trabajo técnico y de gestión)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Asesor (por asignar) — Revisor técnico (~40h totales, sin costo directo para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Director de Carrera — Autoridad de aprobación y escalamiento de decisiones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Valores del Trabajo: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Excelencia académica: rigor científico en experimentación y documentación de resultados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Transparencia: reportar avances y desviaciones en tiempo real al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Responsabilidad: cumplir hitos y plazos acordados; notificar riesgos con anticipación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Reproducibilidad: todo código, datos y resultados deben ser reproducibles por terceros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Normas de Trabajo: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Reuniones: semanal con asesor (1h fija), quincenal de seguimiento formal con minuta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Comunicación: email para documentos formales, WhatsApp para coordinación ágil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Documentación: minutas de reunión en máximo 24h, reportes de avance mensuales con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Código: versionado en GitHub, commits atómicos con mensajes descriptivos en español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Conflictos: escalar al Director de Carrera si PM y asesor no llegan a acuerdo en 5 días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Nota: Por ser proyecto unipersonal, esta carta establece normas de trabajo entre el PM y el asesor.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se requiere team charter tradicional (no hay equipo multidisciplinario que gestionar).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MATRIZ RACI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Responsabilidades por paquete de trabajo EDT | PMBOK 8va, Recursos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9692640" cy="511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554480"/>
                <a:gridCol w="1554480"/>
                <a:gridCol w="1554480"/>
                <a:gridCol w="1554480"/>
              </a:tblGrid>
              <a:tr h="3008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Informe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57000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666666"/>
                </a:solidFill>
                <a:latin typeface="Calibri"/>
              </a:defRPr>
            </a:pPr>
            <a:r>
              <a:t>R = Responsible (ejecuta) | A = Accountable (aprueba) | C = Consulted (aporta) | I = Informed (recibe información)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ESTRUCTURA DE DESGLOSE DE RECURSOS (RBS)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Descomposición jerárquica de recursos del proyecto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1. Recurso Humano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1.1 Pablo Flores — PM / 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Rol: Ejecución total del proyecto (gestión + investigación + desarrollo)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Tarifa: Q 80.00 / 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Base de tarifa: Investigador junior Guatemala (ref. SENACYT)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Dedicación: 100% (1,287h planificadas)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Período: Feb 02 — Sep 14, 2026 (225 días)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Costo total mano de obra: Q 102,960.00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1.2 Asesor (designado por FING)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~40h totales estimadas (sin costo directo)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Honorarios cubiertos por la universidad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2. Equipamiento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2.1 MacBook Air M1 2020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Especificaciones: Chip M1, 8GB RAM, 256GB SSD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Precio de adquisición: Q 6,000.00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Estado: Propiedad del tesista (costo hundido)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Horas estimadas de uso: ~1,000h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Uso: Entrenamiento LoRA, desarrollo, redacción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2.2 Periféricos y accesorios (propios, sin costo)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Monitor externo, teclado, mouse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Disco externo 1TB para backups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2.3 Software (100% open-source, sin costo)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Python, HuggingFace Transformers, PEFT,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ProjectLibre 1.9.8, Git/GitHub, Google Drive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97680"/>
            <a:ext cx="10972800" cy="1371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Resumen de Costos de Recursos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Mano de obra (Pablo Flores): 1,287h × Q 80/hr = Q 102,960.00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Equipamiento (MacBook Air M1 2020): Q 6,000.00 (ya adquirido, costo hundido)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(impresión, empastado, posters): Q 800.00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TOTAL RECURSOS DIRECTOS: Q 109,760.00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La mano de obra es costo de oportunidad. Solo equipamiento y materiales requieren desembolso en efectivo (Q 6,800.00).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CALENDARIOS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Disponibilidad de cada recurso a lo largo del proyecto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Recurso Principal — Pablo Flores (PM/Tesista)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Período: Feb 02 — Sep 14, 2026 (225 días calendario)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Días laborables: Lunes a Sábado (6 días/semana)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Horario estándar: 08:00-12:00 y 13:00-17:00 (8h/día efectivas)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máximas por semana: 48h (6 días × 8h)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Excepciones (no laborable para el recurso):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Todos los domingos del período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Semana Santa: Jueves 2 — Sábado 4 de Abril,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del Trabajo: Viernes 1 de Mayo,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del Ejército: Martes 30 de Junio, 2026 (½ día opcional)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 la Independencia: Martes 15 de Septiembre, 2026 (post-proyecto)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 real: ~190 días laborables efectivos × 8h = ~1,520h disponibles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planificadas: 1,287h → utilización del ~85% del tiempo disponible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0"/>
            <a:ext cx="54864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Equipamiento — MacBook Air M1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24/7, compartido con uso personal del tesista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Ventanas óptimas para entrenamiento ML: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Horario nocturno (18:00-06:00): menor temperatura ambiente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Fines de semana: bloques de 8-12h continuos disponibles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totales estimadas de uso para el proyecto: ~1,000h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no requiere calendario exclusivo; se comparte con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actividades personales fuera del horario de proyecto.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0292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Asesor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Sujeta a carga académica FING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Reuniones: 1h/semana (día y hora fijos por acordar)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Revisiones de hitos: bajo demanda, con 5 días de anticipación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 de mayor carga: inicio de semestre (Ene, Jul)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El asesor no tiene dedicación exclusiva.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Se debe planificar con 1-2 semanas de anticipación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para revisiones de documentos extensos.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COSTOS / FINANZAS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Planificación, estimación, presupuestación, financiamiento y control de los costos del proyecto. Incluye EVM y análisis de valor ganado.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REQUISITOS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Humanos, equipamiento y materiales necesarios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Recurso Humano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 / Tesista)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 planificadas: 1,287h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Tarifa: Q 80.00 / 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total: Q 102,960.00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Disponibilidad: 100% tiempo completo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Período: Feb 02 — Sep 14,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Horario: Lun-Sáb 8h/día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Flexibilidad: 10h/día en semanas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Investigación, desarrollo,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entrenamiento ML, redacción,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gestión del proyecto, defensa oral.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Equipamiento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MacBook Air M1 2020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Chip: Apple M1 (8-core CPU, 7-core GPU)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RAM: 8GB LPDDR4X unificada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Almacenamiento: 256GB SSD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Precio: Q 6,000.00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Estado: Propiedad del 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Uso estimado: ~1,000h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Limitación principal: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8GB RAM → quantización 4-bit,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batch=1, modelos ≤ 4B parámetros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Software y Materiales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Software (todo gratuito):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Python 3.11+, HuggingFace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PEFT / LoRA / MLX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ProjectLibre 1.9.8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Git / GitHub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Google Drive 100GB (EDU)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Impresión 3 copias: Q 450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Posters defensa: Q 200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Papelería: Q 150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Total materiales: Q 800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Infraestructura (absorbida):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Internet 10Mbps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Electricidad ~Q 300 total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ESTIMACIONES DE COSTOS — DESGLOSE POR TAREA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Costos directos por actividad | Tarifa: Q 80/hr | 110 tareas | PMBOK 8va, Costos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795528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914400"/>
                <a:gridCol w="5029200"/>
                <a:gridCol w="640080"/>
                <a:gridCol w="914400"/>
              </a:tblGrid>
              <a:tr h="115217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Tarea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Delimitar el tema de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1,280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formularios y documentación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solicitud formal ante la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aprobación formal del 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320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candidatos 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y reunirse con candidatos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asesor definitivo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carta de asignación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trabajo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alcance, supuestos y restricciones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EDT (WBS)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cronograma y línea base de 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plan de comunicación y 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y aprobación del plan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literatura sobre el 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planteamiento del problema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objetivos general y específicos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Plantear hipótesis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Escribir justificación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documento completo de anteproyecto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anteproyecto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anteproyecto ante comité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aprobación del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y comparar metodologías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justificar metodología adoptada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arquitectura general del experimento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seleccionar datasets HDL /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pipeline de entrenamiento y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 y criterios de éxito del 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y aprobar 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LLMs y arquitecturas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LoRA y métodos PEFT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HDL — VHDL / Verilog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QA en diseño digital y EDA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Fundamentos teóricos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LoRA aplicado a generación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marco teórico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y ajuste del 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Catalogar datasets HDL / QA disponibles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115217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Descargar y verificar integridad de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11523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exploratorio de datos (EDA)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45 de 110 tareas | Costo total mano de obra: Q 102,960 | Continúa en diapositiva 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ESTIMACIONES DE COSTOS (2/2) — BASE DE LAS ESTIMACIONES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Continuación + fundamento de estimaciones | PMBOK 8va, Costos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79552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914400"/>
                <a:gridCol w="5029200"/>
                <a:gridCol w="640080"/>
                <a:gridCol w="914400"/>
              </a:tblGrid>
              <a:tr h="89209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Tarea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Limpieza y depuración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Tokenización y formateo para fine-tuning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Transformación y normalización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Validación de calidad e integridad del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pipeline de preprocesamiento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entorno Python / HuggingFace en MacBook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Instalar y verificar librerías PEFT /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cargar modelo base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cargador de datos HDL personalizado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parámetros LoRA (r, alpha, 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piloto (sanity check)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métricas de pérdida y accuracy del piloto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optimizado iteración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final (modelo definitivo)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2,480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Guardar, versionar y respaldar modelo entrenado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proceso de entrenamiento completo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benchmarks existentes para LLM /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métricas: BLEU, exactitud sintáctica, PASS@k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scripts de evaluación automatizada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LoRA fine-tuned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base (baseline)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y analizar: LoRA vs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resultados del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y consolidar todas las métricas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estadístico descriptivo de resultados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Visualizar resultados (gráficas y tablas)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con modelos del estado del arte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fortalezas, limitaciones y trabajo futuro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análisis e interpretación de resultados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estructura y capítulos del informe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1 — Introducción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Integrar cap. 2 — Marco teórico (ajustar)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3 — Metodología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4 — Resultados y análisis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5 — Conclusiones y recomendaciones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referencias bibliográficas (APA / IEEE)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/>
                </a:tc>
              </a:tr>
              <a:tr h="89209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formato y estilo según normativo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92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revisión con asesor (espera retroalim.)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110000"/>
            <a:ext cx="109728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Base de las Estimaciones — Costos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Tarifa mano de obra Q 80/hr: basada en estipendio investigador junior Guatemala (ref. SENACYT 2025, ~Q 12,800/mes ÷ 160h).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Costo de oportunidad: el tesista no recibe salario. | MacBook M1: Q 6,000 precio mercado GT (2025, depreciado 2 años).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Q 800: cotización Copistería UNIS (Q 150/copia × 3) + posters Q 200 + papelería Q 150.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Precisión: ±10% en paquetes nivel 4. Contingencia calculada como EMV de 25 riesgos (ver Registro de Riesgos).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Presupuesto aprobado contra el cual se mide el desempeño de costos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Definición de Línea Base de Costos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BAC (Budget at Completion) = Q 116,640.00 — incluye mano de obra directa (Q 109,840) + equipamiento y materiales (Q 6,800). No incluye reservas de contingencia ni gestión. La línea base se congela tras la aprobación del anteproyecto (Mar 2026).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468880"/>
          <a:ext cx="11277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011680"/>
                <a:gridCol w="1645920"/>
              </a:tblGrid>
              <a:tr h="406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Mensual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BAC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39.6%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76,160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89,920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105,120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90.1%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123,200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105.6%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116.6%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2468880"/>
            <a:ext cx="41148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Indicadores de Línea Base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BAC = Q 116,640.00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Presupuesto total (incluye reservas):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116,640 + Q 20,846 + Q 700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= Q 138,186.00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Curva S: perfil de gasto front-loaded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con pico en Mar-Abr 2026 (planif. + inicio ejec.)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Desembolso: el costo de mano de obra 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costo de oportunidad. Solo equipamiento y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requieren desembolso en efectivo: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6,800 (ya erogado el MacBook).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REQUISITOS DE FINANCIAMIENTO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Flujo de fondos necesario por período | PMBOK 8va, Costos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828800"/>
                <a:gridCol w="2011680"/>
                <a:gridCol w="2011680"/>
                <a:gridCol w="2011680"/>
              </a:tblGrid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Mano de Obra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Erogaciones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Período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(MacBook)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Marzo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52,240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Abril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82,160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95,920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Junio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111,120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Julio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129,200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Agosto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Septiembre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 (materiales)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153,200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Contingencia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20,846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174,046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174,746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6032880"/>
            <a:ext cx="10972800" cy="731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Notas sobre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de fondos: recursos propios del tesista. No hay financiamiento externo (beca, patrocinio, o subvención).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mano de obra es costo de oportunidad (no erogación). Las erogaciones reales son solo Q 6,800 (MacBook + materiales).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flujo de fondos es front-loaded: 65% del presupuesto se concentra en Feb-Abr 2026 (fases de inicio, planificación y arranque de ejecución).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ESTRATEGIA DE FINANCIAMIENTO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Cómo se obtendrán y administrarán los fondos del proyecto | PMBOK 8va, Costos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de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primaria: Recursos propios del tesista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proyecto no requiere financiamiento externo ya que: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hardware principal (MacBook M1) ya fue adquirido previamente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software es 100% open-source y gratuito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mano de obra es aportada por el tesista como parte de su formación académica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costos de materiales son menores a Q 1,000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Estructura de costos: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hundidos (ya incurridos): MacBook M1 Q 6,000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futuros de materiales: Q 800 (impresión, empastado,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recurrentes absorbidos: internet Q 250/mes, electricidad ~Q 300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 de oportunidad (mano de obra): Q 109,840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erogación en efectivo requerida: Q 800 (materiales para fase de cierre)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se requiere plan de financiamiento con entidades bancarias, inversionistas, o patrocinadores.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Administración de Fondos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Responsable: PM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Mecanismo: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Cuenta bancaria personal existente (no se requiere cuenta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Pago directo a proveedores (copistería) contra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Control: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Registro de gastos en Excel vinculado al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Facturas/recibos escaneados y archivados en Google Drive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Flujo de fondos: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Feb 2026: Q 0 (MacBook ya pagado previamente)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Sep 2026: Q 800 (impresión +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Reservas: no requieren depósito previo (solo se usan si se materializan riesgos)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financiero: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Conciliación de gastos reales vs presupuesto en Sep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Documentación de lecciones aprendidas en gestión financiera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Informe final de costos para el expediente del proyecto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RIESGOS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análisis cualitativo y cuantitativo, planificación de respuestas, implementación y monitoreo de riesgos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PLAN DE GESTIÓN FINANCIERA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Políticas y procedimientos para gestionar los costos | PMBOK 8va, Costos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Políticas de Estimación y Control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desde EDT nivel 4 (horas × Q 80/hr)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Moneda: Quetzales (GTQ). Tipo de cambio: Q 7.80/USD (referencia)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Precisión: ±10% en paquetes nivel 4; ±15% en costo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Reestimación: mensual durante fase de ejecución (o ante cambios aprobados)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Control de Costos: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Monitoreo: EVM mensual (PV, EV, AC, CPI, SPI)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Umbrales: Verde &lt;5% | Amarillo 5-15% | Rojo &gt;15% → escalar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Herramienta: Excel vinculado a datos del XML de ProjectLibre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Responsable: PM (Pablo Flores), con supervisión del asesor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Reservas e Indicadores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Origen: Suma EMV de 25 riesgos identificados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Uso: Solo para riesgos materializados; requiere aprobación del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Q 700.00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Uso: Acciones de mitigación proactivas; autorizado por el PM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Indicadores EVM: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PV = Costo planificado del trabajo programado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EV = Costo planificado del trabajo completado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AC = Costo real incurrido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CPI = EV/AC (&gt;1 = bajo presupuesto)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SPI = EV/PV (&gt;1 = adelantado en cronograma)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EAC = BAC/CPI (estimación al finalizar)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RIESGOS — ANÁLISIS POR TAREA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25 riesgos mapeados a tareas del cronograma | Contingencia total: Q 20,846 | PMBOK 8va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280160"/>
          <a:ext cx="896112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57200"/>
                <a:gridCol w="2926080"/>
                <a:gridCol w="457200"/>
                <a:gridCol w="731520"/>
                <a:gridCol w="640080"/>
                <a:gridCol w="3291840"/>
              </a:tblGrid>
              <a:tr h="203846"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Tarea</a:t>
                      </a:r>
                    </a:p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Riesgo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 del Riesgo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Respuesta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resolución institucional por procesos administrativos 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1,248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Escalar con Director; enviar recordatorios formales cad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Retraso en asignación de asesor por disponibilidad limitada de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múltiples candidatos simultáneamente; escaler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Escasez de literatura específica sobre LoRA aplicado a HDL/Verilo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Ampliar búsqueda a papers de PEFT generales y transfer 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Rechazo del anteproyecto por comité evaluador por alcance excesiv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alcance a una sola estrategia de preprocesamien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Arquitectura experimental no viable con hardware M1 8GB (batch=1 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QLoRA 4-bit con MLX; considerar gradient checkp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encontrar datasets HDL/QA de calidad suficiente para fine-tuni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Generar dataset sintético con GPT-4; usar VerilogEval c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corruptos o enlaces rotos en repositorios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Verificar checksums; descargar desde múltiples mirrors;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entrenamiento con corrupción no detectada afecta converg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pipeline de validación automatizada; revisi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Incompatibilidad de MLX / HuggingFace con MacBook M1 (errores de 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375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Usar entorno Conda; probar versiones estables documenta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Qwen3-4B no carga en 8GB RAM (OOM al inicializar)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Usar quantización 4-bit GGUF; probar modelos más pequeñ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piloto diverge o produce NaN en pérdida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875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learning rate; aumentar warmup steps; revisar 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Tiempo de entrenamiento excede estimado por thermal throttling 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Entrenar en horarios nocturnos; usar ventilador externo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final interrumpido por falla de hardware (sobrecale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checkpointing cada 100 steps; respaldo en 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del modelo final no superan baseline (fine-tuning sin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rank LoRA (r=16→64); probar diferentes learning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 no ejecuta correctamente en entorno ARM/M1 (depend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dependencias nativas para ARM; usar Rosetta 2;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Memoria insuficiente para ejecutar benchmark con modelo fine-tune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Cerrar aplicaciones; reiniciar sistema; evaluar por lot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Modelos SOTA publicados usan hardware GPU/A100 no reproducible 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limitaciones de hardware; comparar normaliza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Metodología requiere cambios mayores tras revisión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reuniones quincenales; enviar borradores por s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Retroalimentación del asesor demora más de 2 semanas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1,840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Establecer SLA de respuesta; enviar recordatorios; agen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extensas del asesor requieren reescritura de capítu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Anticipar observaciones revisando tesis previas del ase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cancela reuniones semanales recurrentemente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Agendar con 1 semana de anticipación; confirmar 24h ant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Cambios aprobados requieren reprocesamiento de datos o re-entrena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Versionar todo código y datos; mantener checkpoints; es</a:t>
                      </a:r>
                    </a:p>
                  </a:txBody>
                  <a:tcPr/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no aprueba documento final por calidad insuficiente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previa en múltiples iteraciones; checklist de 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03846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 no exitosa por falta de preparación o jurado exigent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Ensayos con familiares; preparar respuestas a preguntas</a:t>
                      </a:r>
                    </a:p>
                  </a:txBody>
                  <a:tcPr/>
                </a:tc>
              </a:tr>
              <a:tr h="203850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Error en impresión/empastado con plazo de entrega inminente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Verificar formato PDF antes de imprimir; reservar 2 día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REPORTE DE 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ejecutivo de la situación de riesgos | PMBOK 8va, Riesgos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Resumen General de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riesgos identificados: 25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con plan de respuesta activo (CE &gt; Q 1,500): 12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en monitoreo pasivo (CE &lt; Q 500): 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escalables al Director: 3 (R-01, R-02, R-04)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Esperado Total (EMV):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 recomendada: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Q 700.00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Perfil de riesgo del proyecto: MODERADO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mayoría de riesgos son técnicos (15/25 = 60%)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riesgos organizacionales tienen alto impacto pero baja probabilidad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No hay riesgos catastróficos (impacto &gt; Q 10,000) identificados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Distribución por Categoría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Técnico: 15 riesgos | CE: Q 13,994 (67.1%)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R-10 (OOM), R-05 (hardware), R-13 (falla HW)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Organizacional: 7 riesgos | CE: Q 4,950 (23.7%)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R-20 (reescritura), R-01 (demora inst.)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Calidad: 1 riesgo | CE: Q 900 (4.3%)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R-08: Corrupción de datos de entrenamiento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Recursos Humanos: 1 riesgo | CE: Q 882 (4.2%)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R-02: Retraso en asignación de asesor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Operativo: 1 riesgo | CE: Q 120 (0.6%)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R-25: Error en impresión/empastado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Top 5 Riesgos por Costo Esperado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R-10: Modelo OOM en 8GB RAM (CE: Q 1,600) → Mitigar: quantización 4-bit GGUF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R-05: Arquitectura no viable en M1 (CE: Q 1,500) → Mitigar: QLoRA 4-bit con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R-13: Falla hardware durante entrenamiento (CE: Q 1,500) → Mitigar: checkpointing + backup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R-14: Modelo no supera baseline (CE: Q 1,500) → Mitigar: ajuste hiperparámetros, data augmentation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R-12: Thermal throttling M1 (CE: Q 1,350) → Mitigar: entrenamiento nocturno + ventilación externa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LECCIONES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Conocimiento para mejorar desempeño actual y futuro | PMBOK 8va, Riesgos y General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  <a:gridCol w="3291840"/>
                <a:gridCol w="4206240"/>
              </a:tblGrid>
              <a:tr h="70539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Lección Aprendida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Causa Raíz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Recomendación para Futuro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calendario antes de planificar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Crash ProjectLibre por &lt;Exceptions&gt; sin &lt;RecurrenceType&gt;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Probar XML en ProjectLibre antes de entregar; verificar compatibilidad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Anticipar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asignación afectó revisiones tempranas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candidatos desde la inscripción; tener opciones de respaldo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hardware antes de diseñar arquitectura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8GB RAM obligó quantización agresiva (4-bit)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Hacer PoC de memoria antes de diseñar pipeline; probar modelo pequeño primero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Versionar datos y checkpoints desde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Corrupción de datos requirió reprocesar 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Usar DVC/Git LFS; checkpointing automático cada 100 steps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minutas de todas las reuniones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verbales del asesor se olvidaron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Enviar minuta en 24h post-reunión; confirmar entendimiento por 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Reservar margen para correcciones del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Espera por nota y correcciones puede extenderse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Solicitar defensa con 2 semanas de anticipación; tener semana buffer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DIAGRAMAS DE RED DEL CRONOGRAMA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Secuencia lógica de actividades y dependencias | PMBOK 8va, Cronograma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Método de Diagramación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Diagrama de Precedencia (PDM) con relaciones Finish-to-Start (FS) implementado en ProjectLibre 1.9.8.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mayoría de las dependencias son obligatorias (duras): no se puede entrenar sin preprocesar datos; no se puede defender sin redactar el informe.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Los períodos de espera institucionales son parte de la ruta crítica porque son dependencias obligatorias externas.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10972800" cy="3835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Ruta Crítica del Proyecto (secuencia de dependencias FS desde el archivo XML)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DEL PROYECTO → Inscripción del Tema → Asignación de Asesor → Plan del Proyecto → FIN INICIO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PLANIFICACIÓN → Anteproyecto → Diseño Metodológico → FIN PLANIFICACIÓN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EJECUCIÓN → [Marco Teórico ∥ Preprocesamiento Datos] → Entrenamiento LoRA → Evaluación → Análisis → Informe → FIN EJECUCIÓN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CIERRE → Correcciones Finales → Defensa Pública → Entrega y Cierre → FIN DEL PROYECTO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 paralelo durante todo el proyecto: MONITOREO Y CONTROL (seguimiento semanal + control de cambios bajo demanda)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Dependencias clave del XML: UID 4→5→6→7→8→9 (Inscripción secuencial) | UID 25→26→...→33 (Anteproyecto)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UID 44∥46∥47 (Marco teórico paralelo) | UID 63→68→71→73 (Entrenamiento iterativo) | UID 100→101→102→103 (Revisiones)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DCF0"/>
                </a:solidFill>
                <a:latin typeface="Calibri"/>
              </a:defRPr>
            </a:pPr>
            <a:r>
              <a:t>Plan de Dirección del Proyecto — LoRA-HDL-QA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4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8DCF0"/>
                </a:solidFill>
                <a:latin typeface="Calibri"/>
              </a:defRPr>
            </a:pPr>
            <a:r>
              <a:t>56 diapositivas | PMBOK 8va Edición | 7 Dominios de Desempeño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Pablo Rodolfo Alexander Flores Mollinedo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8DCF0"/>
                </a:solidFill>
                <a:latin typeface="Calibri"/>
              </a:defRPr>
            </a:pPr>
            <a:r>
              <a:t>Universidad del Istmo de Guatemala — FING | Abril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4158</Words>
  <Application>Microsoft Macintosh PowerPoint</Application>
  <PresentationFormat>Widescreen</PresentationFormat>
  <Paragraphs>843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RODOLFO ALEXANDER FLORES MOLLINEDO</cp:lastModifiedBy>
  <cp:revision>2</cp:revision>
  <dcterms:created xsi:type="dcterms:W3CDTF">2013-01-27T09:14:16Z</dcterms:created>
  <dcterms:modified xsi:type="dcterms:W3CDTF">2026-04-28T06:05:20Z</dcterms:modified>
  <cp:category/>
</cp:coreProperties>
</file>