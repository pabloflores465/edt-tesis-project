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457200"/>
            <a:ext cx="1036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285F4"/>
                </a:solidFill>
                <a:latin typeface="Calibri"/>
              </a:defRPr>
            </a:pPr>
            <a:r>
              <a:t>UNIVERSIDAD DEL ISTMO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914400"/>
            <a:ext cx="1036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DCF0"/>
                </a:solidFill>
                <a:latin typeface="Calibri"/>
              </a:defRPr>
            </a:pPr>
            <a:r>
              <a:t>Facultad de Ingeniería (FING)  |  Ingeniería en Sistemas y CC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PLAN DE DIRECCIÓN DEL PROYECTO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DCF0"/>
                </a:solidFill>
                <a:latin typeface="Calibri"/>
              </a:defRPr>
            </a:pPr>
            <a:r>
              <a:t>PMBOK 8va Edición — todos los documentos de iniciación y planificación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Proyecto: LoRA-HDL-QA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6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DCF0"/>
                </a:solidFill>
                <a:latin typeface="Calibri"/>
              </a:defRPr>
            </a:pPr>
            <a:r>
              <a:t>PM: Pablo Rodolfo Alexander Flores Mollinedo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1036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DCF0"/>
                </a:solidFill>
                <a:latin typeface="Calibri"/>
              </a:defRPr>
            </a:pPr>
            <a:r>
              <a:t>Febrero — Septiembre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87079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DOMINIO DE DESEMPEÑO:</a:t>
            </a:r>
            <a:br/>
            <a:r>
              <a:t>GOBERNANZA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0484" y="3200400"/>
            <a:ext cx="105971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C8DCF0"/>
                </a:solidFill>
                <a:latin typeface="Calibri"/>
              </a:defRPr>
            </a:pPr>
            <a:r>
              <a:rPr dirty="0"/>
              <a:t>PMBOK 8va </a:t>
            </a:r>
            <a:r>
              <a:rPr dirty="0" err="1"/>
              <a:t>Edición</a:t>
            </a:r>
            <a:r>
              <a:rPr dirty="0"/>
              <a:t> — Un </a:t>
            </a:r>
            <a:r>
              <a:rPr dirty="0" err="1"/>
              <a:t>modelo</a:t>
            </a:r>
            <a:r>
              <a:rPr dirty="0"/>
              <a:t> de </a:t>
            </a:r>
            <a:r>
              <a:rPr dirty="0" err="1"/>
              <a:t>gestión</a:t>
            </a:r>
            <a:r>
              <a:rPr dirty="0"/>
              <a:t> </a:t>
            </a:r>
            <a:r>
              <a:rPr dirty="0" err="1"/>
              <a:t>alineado</a:t>
            </a:r>
            <a:r>
              <a:rPr dirty="0"/>
              <a:t> con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objetivos</a:t>
            </a:r>
            <a:r>
              <a:rPr dirty="0"/>
              <a:t> </a:t>
            </a:r>
            <a:r>
              <a:rPr dirty="0" err="1"/>
              <a:t>institucionales</a:t>
            </a:r>
            <a:r>
              <a:rPr dirty="0"/>
              <a:t>. Define </a:t>
            </a:r>
            <a:r>
              <a:rPr dirty="0" err="1"/>
              <a:t>estructuras</a:t>
            </a:r>
            <a:r>
              <a:rPr dirty="0"/>
              <a:t> de </a:t>
            </a:r>
            <a:r>
              <a:rPr dirty="0" err="1"/>
              <a:t>autoridad</a:t>
            </a:r>
            <a:r>
              <a:rPr dirty="0"/>
              <a:t>, </a:t>
            </a:r>
            <a:r>
              <a:rPr dirty="0" err="1"/>
              <a:t>toma</a:t>
            </a:r>
            <a:r>
              <a:rPr dirty="0"/>
              <a:t> de </a:t>
            </a:r>
            <a:r>
              <a:rPr dirty="0" err="1"/>
              <a:t>decisiones</a:t>
            </a:r>
            <a:r>
              <a:rPr dirty="0"/>
              <a:t>, y </a:t>
            </a:r>
            <a:r>
              <a:rPr dirty="0" err="1"/>
              <a:t>mecanismos</a:t>
            </a:r>
            <a:r>
              <a:rPr dirty="0"/>
              <a:t> de control del </a:t>
            </a:r>
            <a:r>
              <a:rPr dirty="0" err="1"/>
              <a:t>proyecto</a:t>
            </a:r>
            <a:r>
              <a:rPr dirty="0"/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ACTA DE CONSTITUCIÓN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Documento formal que autoriza el proyecto | PMBOK 8va, Gobernanza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Información General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Proyecto: LoRA-HDL-QA — Degradación Catastrófica en Fine-Tuning LoRA para HDL/QA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PM: Pablo R. A. Flores Mollinedo | Director: Ing. Estuardo Rodríguez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Asesor: Por asignar | Período: Feb — Oct 2026 (1,287 h planificadas)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Tipo: Proyecto de graduación FING/UNIS — trabajo individual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4864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Caso de Negocio y Objetivos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Trabajo de graduación para cierre de pensum en Ingeniería en Sistemas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Investigar impacto de estrategias de preprocesamiento en fine-tuning LoRA para generación HDL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Contribuir al campo de ML aplicado a diseño de hardware con evidencia experimental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Objetivo: paper de investigación + repositorio reproducible + defensa oral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26080"/>
            <a:ext cx="54864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Entregables de Alto Nivel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Anteproyecto aprobado por comité evaluador FING (Mar 2026)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Paper de investigación comparativo (2 configuraciones LoRA evaluadas en VerilogEval v2)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Repositorio GitHub público con scripts, pesos .safetensors, y resultados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Informe final formato FING/IMRaD + defensa oral ante jurado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926080"/>
            <a:ext cx="54864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Hitos Clave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Inicio: Feb 02 | Inscripción + asesor: Feb 02-16 | Plan proyecto: Feb 17-26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Anteproyecto: Feb 26 — Mar 25 | Diseño metodológico: Mar 25 — Abr 08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Ejecución (entrenamiento + evaluación): Abr 08 — Ago 17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Cierre (correcciones + defensa): Ago 17 — Sep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0560"/>
            <a:ext cx="54864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Presupuesto Estimado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Mano de obra: 1,287h × Q 80/hr = Q 102,960 directos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Equipo MacBook M1: Q 6,000 | Materiales: Q 800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Reserva de contingencia: Q 20,846 | Reserva de gestión: Q 700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TOTAL: Q 131,306 (incluye reservas)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480560"/>
            <a:ext cx="54864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Interesados Clave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Director de Carrera: aprueba tema, supervisa defensa, resuelve conflictos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Asesor: orientación técnica, revisión de entregables, aprobación final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Comité evaluador: evalúa anteproyecto y defensa oral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Pablo Flores (PM/Tesista): ejecución total del proyecto, gestión y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000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  <a:latin typeface="Calibri"/>
              </a:defRPr>
            </a:pPr>
            <a:r>
              <a:t>Autoridad del PM: gestionar cronograma, presupuesto, y alcance. Escalar decisiones que afecten normativa UNIS al Director.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REGISTRO DE SUPUESTOS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Supuestos documentados durante la iniciación | PMBOK 8va, Gobernanza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59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64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5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936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06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613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888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Supuesto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Certidumbre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Responsable de Validación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Disponibilidad de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 contará con un asesor asignado antes del 16 de febrero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Director de Carrera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Hardware adecuado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MacBook Air M1 8GB es suficiente para fine-tuning LoRA con quantización 4-bit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PM/Tesista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Datasets públicos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Existen datasets HDL/QA públicos de calidad suficiente para fine-tuning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PM/Tesista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Normativa estable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 reglamento de graduación FING no cambiará durante el 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Director de Carrera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Disponibilidad del PM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 tesista mantendrá disponibilidad 100% durante el período del proyecto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PM/Tesista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Acceso a software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Python, HuggingFace, MLX, y librerías asociadas estarán disponibles sin costo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PM/Tesista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AS-07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Plazos institucionales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Los tiempos de respuesta institucional no excederán 10 días hábiles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FING/UNIS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Modelo base accesible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Qwen3-4B (o equivalente) será accesible en HuggingFace y cargable en 8GB 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PM/Tesista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AS-09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VerilogEval funcional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 benchmark VerilogEval v2 será ejecutable en entorno ARM/M1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PM/Tesista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4889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Sin cambios mayores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habrá cambios en el alcance del proyecto una vez aprobado el anteproyecto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+ Asesor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6400000"/>
            <a:ext cx="1155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  <a:latin typeface="Calibri"/>
              </a:defRPr>
            </a:pPr>
            <a:r>
              <a:t>Revisión: quincenal durante la iniciación, mensual durante la ejecución. Si un supuesto se invalida, activar proceso de gestión de cambios.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87079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DOMINIO DE DESEMPEÑO:</a:t>
            </a:r>
            <a:br/>
            <a:r>
              <a:t>INTERESADOS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9822" y="3200400"/>
            <a:ext cx="97677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C8DCF0"/>
                </a:solidFill>
                <a:latin typeface="Calibri"/>
              </a:defRPr>
            </a:pPr>
            <a:r>
              <a:rPr dirty="0"/>
              <a:t>PMBOK 8va </a:t>
            </a:r>
            <a:r>
              <a:rPr dirty="0" err="1"/>
              <a:t>Edición</a:t>
            </a:r>
            <a:r>
              <a:rPr dirty="0"/>
              <a:t> — </a:t>
            </a:r>
            <a:r>
              <a:rPr dirty="0" err="1"/>
              <a:t>Identificación</a:t>
            </a:r>
            <a:r>
              <a:rPr dirty="0"/>
              <a:t>, </a:t>
            </a:r>
            <a:r>
              <a:rPr dirty="0" err="1"/>
              <a:t>análisis</a:t>
            </a:r>
            <a:r>
              <a:rPr dirty="0"/>
              <a:t>, </a:t>
            </a:r>
            <a:r>
              <a:rPr dirty="0" err="1"/>
              <a:t>involucramiento</a:t>
            </a:r>
            <a:r>
              <a:rPr dirty="0"/>
              <a:t> y </a:t>
            </a:r>
            <a:r>
              <a:rPr dirty="0" err="1"/>
              <a:t>comunicación</a:t>
            </a:r>
            <a:r>
              <a:rPr dirty="0"/>
              <a:t> </a:t>
            </a:r>
            <a:r>
              <a:rPr dirty="0" err="1"/>
              <a:t>efectiva</a:t>
            </a:r>
            <a:r>
              <a:rPr dirty="0"/>
              <a:t> con </a:t>
            </a:r>
            <a:r>
              <a:rPr dirty="0" err="1"/>
              <a:t>todas</a:t>
            </a:r>
            <a:r>
              <a:rPr dirty="0"/>
              <a:t> las partes </a:t>
            </a:r>
            <a:r>
              <a:rPr dirty="0" err="1"/>
              <a:t>interesadas</a:t>
            </a:r>
            <a:r>
              <a:rPr dirty="0"/>
              <a:t> del </a:t>
            </a:r>
            <a:r>
              <a:rPr dirty="0" err="1"/>
              <a:t>proyecto</a:t>
            </a:r>
            <a:r>
              <a:rPr dirty="0"/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REGISTRO DE INTERESADOS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Identificar, clasificar y documentar a todos los interesados | PMBOK 8va, Interesados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59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7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41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0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31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4318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5114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79827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Nombre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 en el Proyecto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Clasificación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Poder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Interés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Estrategia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SH-01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Pablo Flores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/ Tesista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Gestionar de cerca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SH-02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Asesor (por asignar)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Orientador técnico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Gestionar de cerca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SH-03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Director de Carrera FING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Autoridad académica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Mantener satisfecho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SH-04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Comité Evaluador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Aprobación anteproyecto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Mantener satisfecho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SH-05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Jurado de Defensa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Evaluación final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Mantener satisfecho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SH-06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Coordinador de Tesis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Procesos administrativos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Gestionar de cerca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SH-07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Biblioteca FING/UNIS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Recepción y archivo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Monitorear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SH-08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Estudiantes FING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Audiencia académica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Externo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Monitorear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SH-09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Comunidad ML/HW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Investigadores en HDL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Externo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Monitorear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SH-10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HuggingFace / 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Plataformas de publicación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Externo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Mantener informado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SH-11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UNIS — Rectoría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Aval institucional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Externo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Monitorear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983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SH-12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Familia 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Apoyo logístico y moral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Externo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Mantener informado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PLAN DEL INVOLUCRAMIENTO DE LOS INTERESADOS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Estrategias por grupo para promover participación productiva | PMBOK 8va, Interesados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77600" cy="822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Pablo Flores (PM)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Rol: Líder, ejecutor, controlador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Frecuencia: 100% diario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Enfoque: Reportes de avance, reuniones semanales, actualización cronograma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286000"/>
            <a:ext cx="11277600" cy="822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Asesor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Rol: Revisor técnico, mentor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Frecuencia: Reunión semanal 1h + revisión hitos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Enfoque: Minutas de reunión, borradores para revisión, reportes de avance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00400"/>
            <a:ext cx="11277600" cy="822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Director de Carrera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Rol: Aprobador, escalamiento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Frecuencia: Hitos: inicio, anteproyecto, defensa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Enfoque: Solicitudes formales, notificaciones de hitos, reportes de estado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114800"/>
            <a:ext cx="11277600" cy="822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Comité Evaluador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Rol: Evaluador de anteproyecto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Frecuencia: Marzo 2026 (único)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Enfoque: Documento de anteproyecto impreso y digital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029200"/>
            <a:ext cx="11277600" cy="822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Jurado de Defensa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Rol: Evaluador final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Frecuencia: Septiembre 2026 (único)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Enfoque: Informe final, presentación defensa, demo técnico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943600"/>
            <a:ext cx="11277600" cy="822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Coordinador de Tesis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Rol: Gestor de trámites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Frecuencia: Según necesidad administrativa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Enfoque: Formularios, solicitudes, constancias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PLAN DE GESTIÓN DE LAS COMUNICACIONES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Políticas para gestionar comunicaciones | PMBOK 8va, Interesados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598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76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00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25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900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061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1108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Comunicación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 → Para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Frecuencia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Medio / Canal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Entregable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Receptor Final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Reunión semanal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→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Semanal (1h)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Presencial / Zoom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Minuta en 24h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Reporte de avance mensual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→ Asesor + Director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Mensual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Email + 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EVM: SPI, SV, CPI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Director, Asesor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Notificación de hitos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→ Asesor + Director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 completar hitos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Email formal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Acta o documento del hito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Director,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Solicitud de cambio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→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Según necesidad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Formato estándar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Evaluación en 5 días hábiles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Asesor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Notificación de riesgos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→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 detectarse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Email / WhatsApp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Registro de riesgos actualizado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Entrega de documento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→ Asesor / Comité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 completar versiones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PDF + impreso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Acuse de recibo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Director, Comité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Defensa oral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→ Jurado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Sep 2026 (único)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Presencial UNIS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Presentación + demo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Jurado, Director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Publicación en 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→ Comunidad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Post-defensa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Repositorio público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README + instrucciones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Comunidad ML/HW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MATRIZ DE COMUNICACIONES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Detalle de flujos de información entre interesados | PMBOK 8va, Interesados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596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4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84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2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218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87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584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Tipo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Medio/Canal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Frecuencia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Formato/Entregable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Audiencia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Responsable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Reunión semanal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Presencial/Zoom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Semanal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Minuta de reunión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PM,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Avance mensual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Email + 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Mensual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Informe de avance (EVM)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PM, Asesor, Director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Alerta de riesgo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WhatsApp/Email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Inmediato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Notificación de riesgo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PM,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Cualquiera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Solicitud de cambio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Formato + 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Según necesidad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RFC (Request for Change)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PM,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Convocatoria defensa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Email formal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Una vez (Sep 2026)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Carta de convocatoria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PM, Director, Jurado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Publicación repo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GitHub / HuggingFace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Post-defensa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README + paper + pesos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Comunidad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Consulta normativa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Email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Según necesidad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Solicitud formal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PM, Coordinador Tesis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DOMINIO DE DESEMPEÑO:</a:t>
            </a:r>
            <a:br/>
            <a:r>
              <a:t>ALCANCE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6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C8DCF0"/>
                </a:solidFill>
                <a:latin typeface="Calibri"/>
              </a:defRPr>
            </a:pPr>
            <a:r>
              <a:t>PMBOK 8va Edición — Definición, validación y control del alcance del proyecto y del producto. Incluye requisitos, EDT, y trazabilidad.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PLAN DE GESTIÓN DEL ALCANCE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Define cómo se planificará, gestionará y controlará el alcance | PMBOK 8va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Proceso de Definición del Alcance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1. Recopilar requisitos: entrevistas con asesor, análisis de normativa FING, revisión de literatura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2. Elaborar Enunciado del Alcance: descripción, entregables, criterios de aceptación, exclusiones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3. Crear EDT/WBS: descomposición jerárquica hasta nivel 4 (paquetes de trabajo de 3-31h)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4. Validar alcance con asesor y Director de Carrera antes de congelar línea base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Control del Alcance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Línea base congelada tras aprobación del anteproyecto (Mar 2026)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Cualquier cambio requiere Solicitud de Cambio formal → evaluación asesor → aprobación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Métricas: % de paquetes EDT completados vs planificados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Verificación: entregables validados contra criterios de aceptación documentados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00400"/>
            <a:ext cx="10972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Exclusiones del Alcance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No incluye desarrollo de hardware (FPGA/ASIC) ni pruebas en silicio real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No incluye entrenamiento en clusters GPU multi-nodo (limitado a hardware M1 8GB local)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No incluye implementación de un IDE o herramienta de software interactiva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No cubre fine-tuning de modelos mayores a 4B parámetros (restricción de RAM)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No incluye publicación en revistas indexadas (solo repositorio público y defensa oral FING)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PLAN DE GESTIÓN DE REQUISITOS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Define cómo se recopilarán, analizarán y gestionarán los requisitos | PMBOK 8va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Recopilación de Requisitos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Fuentes: normativa FING, guía de tesis UNIS, reuniones con asesor, papers de referencia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Técnicas: entrevistas estructuradas con asesor, análisis documental, benchmark de proyectos similares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Clasificación: RF (Funcionales), RNF (No Funcionales), RP (Procedimentales)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Priorización: MoSCoW — Must have (M), Should have (S), Could have (C), Won't have (W)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Trazabilidad y Validación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Matriz de trazabilidad: cada requisito vinculado a EDT, entregable y criterio de aceptación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Validación: revisión con asesor en hitos de planificación y cierre de fase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Verificación: scripts de prueba automatizados para requisitos técnicos (RNF-01, RF-01)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Control de cambios: modificaciones a requisitos siguen proceso formal de gestión de cambios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108960"/>
            <a:ext cx="10972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Métricas y KPIs de Requisitos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Cobertura de trazabilidad: 100% de requisitos con EDT, entregable y criterio de aceptación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Tasa de aprobación: % de requisitos validados por asesor vs total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Estabilidad: número de cambios a requisitos post-aprobación del anteproyecto (meta: &lt;3)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Cumplimiento: % de criterios de aceptación satisfechos al cierre de cada fase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DOCUMENTACIÓN DE REQUISITOS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Registro y clasificación de requerimientos | PMBOK 8va, Alcance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597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7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74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55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85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91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68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18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686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Propósito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Prioridad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Origen (NE)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Entregable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Criterio de Aceptación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RF-01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 configuraciones fine-tuning LoRA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Comparar chunking vs filtrado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NE-02: Investigación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E-04, E-05: Adaptadores .safetensors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 archivos .safetensors de pesos LoRA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RF-02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Evaluar con VerilogEval v2 (156 prob.)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Benchmark estandarizado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NE-02: Investigación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E-06: Resultados benchmark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Script ejecutable + JSON 156 entradas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RF-03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Cuantificar corrupción en datos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Reproducir hallazgo del paper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NE-02: Investigación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E-04, E-06: Scripts verific.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verify_paper_numbers.py ejecutable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RF-04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Scripts verificación reproducción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Reproducibilidad científica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NE-02: Investigación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E-04: Scripts refinados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Scripts sin errores en entorno limpio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RNF-01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Hardware real (M1 8GB)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Condición experimental real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NE-02: Investigación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E-05: Modelo final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Logs con ID hardware confirmado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RNF-02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Informe formato FING + IMRaD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Requisito de grado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NE-03: Resultados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E-07, E-10: Informe 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Aprobación asesor + tribunal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RNF-03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Repositorio estructura clara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Divulgación científica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NE-02: Investigación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E-04: Repositorio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README con instrucciones reproducción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RNF-04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Cronograma máximo 360h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Restricción institucional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NE-01: Académico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E-08: Cronograma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Registro horas ≤ 360 (foco en ejecución)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RP-01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Inscripción + asesor (Feb.)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Procedimiento FING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NE-01: Académico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E-01: Inscripción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Constancia inscripción + carta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RP-02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Anteproyecto aprobado (Mar.)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Procedimiento FING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NE-01: Académico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E-02: Anteproyecto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Visto bueno Director + Asesor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RP-03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Avances ejecución (Abr-Ago)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Procedimiento FING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NE-01: Académico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E-03, E-07: Avances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Documentos entregados y revisados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868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RP-04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Defensa + entrega final (Sep.)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Procedimiento FING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NE-01: Académico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E-09, E-10: Defensa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Acta defensa + constancia Biblioteca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82880" y="6480000"/>
            <a:ext cx="1188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66666"/>
                </a:solidFill>
                <a:latin typeface="Calibri"/>
              </a:defRPr>
            </a:pPr>
            <a:r>
              <a:t>Prioridad: A=Alta, M=Media, B=Baja | Cobertura: 12 requisitos trazados a entregables y criterios de aceptación. Trazabilidad bidireccional 100%.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ENUNCIADO DEL ALCANCE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Descripción detallada del alcance, entregables, criterios de aceptación y exclusiones | PMBOK 8va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0972800" cy="12801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Descripción del Alcance del Producto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Investigación científica documentada sobre el impacto del preprocesamiento de datos de entrenamiento en la degradación catastrófica de fine-tuning LoRA para generación de HDL.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Dos configuraciones experimentales: (a) filtrado de datasets por calidad, (b) chunking estratégico del corpus de entrenamiento.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Evaluación comparativa usando VerilogEval v2 (156 problemas) con métricas BLEU, exactitud sintáctica, y PASS@k.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34640"/>
            <a:ext cx="548640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Entregables del Proyecto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E-01: Inscripción formal del tema (Feb 2026)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E-02: Anteproyecto aprobado (Mar 2026)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E-03: Avances de ejecución (Abr-Ago 2026)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E-04: Scripts y repositorio (Ago 2026)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E-05: Modelos LoRA fine-tuned (.safetensors)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E-06: Resultados de benchmark (JSON + gráficas)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E-07: Informe final formato FING/IMRaD (Ago 2026)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E-08: Cronograma y registro de horas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E-09: Defensa oral (Sep 2026)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E-10: Entrega final a Biblioteca FING (Sep 2026)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834640"/>
            <a:ext cx="5029200" cy="914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Criterios de Aceptación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Anteproyecto: aprobado por comité evaluador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Informe final: aprobado por asesor y tribunal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Repositorio: README + instrucciones de reproducción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Scripts: ejecutables sin errores en entorno limpio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931920"/>
            <a:ext cx="5029200" cy="914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Restricciones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Hardware: MacBook Air M1 8GB RAM (no GPU dedicada)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Tiempo: máximo 360 horas de esfuerzo efectivo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Presupuesto: Q 6,800 máximo en no-humanos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Alcance: 2 configuraciones LoRA comparativas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029200"/>
            <a:ext cx="10972800" cy="822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Exclusiones Explícitas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No incluye desarrollo de hardware (FPGA/ASIC) | No incluye implementación de herramienta de software | No cubre modelos &gt;4B parámetros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No incluye publicación en revistas indexadas | No incluye entrenamiento multi-GPU | No cubre más de 2 configuraciones experimentales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EDT / WBS — ESTRUCTURA DE DESGLOSE DEL TRABAJO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Descomposición jerárquica del alcance total | PMBOK 8va, Alcance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0972800" cy="6400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Nivel 2 — Fases del Proyecto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1.1 INICIO (148h): Inscripción + Asesor + Plan del Proyecto  |  1.2 PLANIFICACIÓN (235h): Anteproyecto + Diseño Metodológico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1.3 EJECUCIÓN (744h): Marco Teórico + Preprocesamiento + Entrenamiento LoRA + Evaluación + Análisis + Informe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1.4 MONITOREO Y CONTROL (86h): Seguimiento + Control de Cambios  |  1.5 CIERRE (160h): Correcciones + Defensa + Entrega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210312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1.1 INICIO (148h)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1.1.1 Inscripción (78h)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1.1.2 Asignación Asesor (80h)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1.1.3 Plan del Proyecto (60h)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94560"/>
            <a:ext cx="210312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1.2 PLANIFICACIÓN (235h)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1.2.1 Anteproyecto (152h)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1.2.2 Diseño Metodológico (83h)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194560"/>
            <a:ext cx="210312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1.3 EJECUCIÓN (744h)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1.3.1 Marco Teórico (161h)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1.3.2 Preprocesamiento (136h)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1.3.3 Entrenamiento LoRA (227h)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1.3.4 Evaluación Benchmark (106h)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1.3.5 Análisis Resultados (90h)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1.3.6 Redacción Informe (175h)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2194560"/>
            <a:ext cx="210312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1.4 M&amp;C (86h)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1.4.1 Seguimiento (86h)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1.4.2 Control de Cambios (68h)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0" y="2194560"/>
            <a:ext cx="210312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1.5 CIERRE (160h)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1.5.1 Correcciones Finales (75h)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1.5.2 Defensa Pública (59h)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1.5.3 Entrega y Cierre (26h)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389120"/>
            <a:ext cx="10972800" cy="6400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Nivel 4 — Paquetes de Trabajo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16 paquetes de trabajo desglosados en 110 actividades nivel 4. Rango: 3h a 31h cada una. Total: 1,287h planificadas.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Ver Diccionario de la EDT para detalle de cada paquete.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DICCIONARIO DE LA EDT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Detalle de cada paquete de trabajo | PMBOK 8va, Alcance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597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64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3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6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43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43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583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EDT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Paquete de Trabajo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Horas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Entregable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Supuestos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1.1.1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Inscripción del Tema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Formalizar el tema de tesis ante FING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78h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Constancia de inscripción firmada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Reglamento FING vigente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Asignación de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Identificar y formalizar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80h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Carta de asignación de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Disponibilidad docente FING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1.1.3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 del Proyecto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plan de dirección completo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60h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 aprobado por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PMBOK 8va Edición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Anteproyecto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y presentar anteproyecto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Anteproyecto aprobado por comité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Guía de anteproyecto FING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1.2.2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Diseño Metodológico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Diseñar experimentos y métricas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Documento metodológico aprobado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Papers de referencia LoRA/HDL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Marco Teórico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Fundamentos LLM, LoRA, HDL, QA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Capítulo 2 del informe 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Artículos científicos revisados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Preprocesamiento de Datos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Limpiar, tokenizar y validar datasets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136h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Datasets procesados y documentados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Datasets HDL/QA públicos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Entrenamiento LoRA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Fine-tuning con 2 configuraciones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227h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 adaptadores LoRA (.safetensors)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MacBook M1 8GB, quantización 4-bit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Evaluación Benchmark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Ejecutar VerilogEval v2 y comparar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106h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Resultados benchmark (JSON + gráficas)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VerilogEval v2, scripts evaluación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Análisis de Resultados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Analizar y comparar métricas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90h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Capítulo 4 del informe 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Datos de benchmark recopilados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Redacción del Informe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informe en formato IMRaD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Informe completo revisado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Normativa UNIS, guía IMRaD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Seguimiento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Monitorear avance y reuniones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86h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Reportes de avance mensuales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Cronograma base, minutas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1.4.2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Control de Cambios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Gestionar solicitudes de cambio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Log de cambios aprobados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 de gestión de cambios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Correcciones Finales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Aplicar correcciones del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Documento final aprobado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Retroalimentación del asesor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1.5.2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Defensa Pública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Preparar y realizar defensa oral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59h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Acta de defensa aprobatoria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Reglamento de defensa FING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958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Entrega y 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Entregar a biblioteca y cerrar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26h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Constancia de Biblioteca FING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Normas de entrega UNIS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MATRIZ DE TRAZABILIDAD DE REQUERIMIENTOS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Trazabilidad bidireccional requisitos → EDT → entregables → criterios | PMBOK 8va, Alcance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597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00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28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20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76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776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7281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516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Origen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EDT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Entregable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Criterio de Aceptación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RF-01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 configuraciones fine-tuning LoRA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1.3.2, 1.3.3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E-04, E-05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 adaptadores con pesos .safetensors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RF-02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Evaluar con VerilogEval v2 (156 prob.)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Script benchmark; JSON 156 entradas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RF-03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Cuantificar corrupción en datos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1.3.2, 1.3.5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E-04, E-06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verify_paper_numbers.py ejecutable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RF-04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Scripts verificación reproducción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Scripts sin errores en entorno limpio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RNF-01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Hardware real (M1 8GB)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Logs con ID hardware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RNF-02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Informe formato FING + IMRaD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1.3.6, 1.5.1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E-07, 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Aprobación asesor y tribunal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RNF-03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Repositorio estructura clara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README + instrucciones reproducción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RNF-04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Cronograma máximo 360h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Registro horas ≤ 360 (foco ejecución)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RP-01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Inscripción + asesor (Feb.)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1.1.1, 1.1.2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Constancia inscripción + carta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RP-02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Anteproyecto aprobado (Mar.)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Visto bueno Director + Asesor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RP-03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Avances ejecución (Abr-Ago)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1.3.1, 1.3.6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E-03, E-07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Docs entregados y revisados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51696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RP-04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Defensa + entrega final (Sep.)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1.5.2, 1.5.3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E-09, 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Acta defensa + constancia Biblioteca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82880" y="6030000"/>
            <a:ext cx="1188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66666"/>
                </a:solidFill>
                <a:latin typeface="Calibri"/>
              </a:defRPr>
            </a:pPr>
            <a:r>
              <a:t>Cobertura: 12 requerimientos trazados a entregables y criterios de aceptación. Trazabilidad bidireccional 100%.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PLAN DE GESTIÓN DE CAMBIOS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Proceso formal para solicitar, evaluar y aprobar cambios | PMBOK 8va, Alcance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Proceso de Control de Cambios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1. IDENTIFICAR: Cualquier interesado detecta necesidad de cambio en alcance, tiempo, costo o calidad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2. REGISTRAR: Completar formato de Solicitud de Cambio (RFC) con: descripción, justificación, impacto estimado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3. EVALUAR: PM analiza impacto en triple restricción (alcance/cronograma/costo) y riesgos asociados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4. REVISAR: Asesor revisa RFC en máximo 5 días hábiles, puede solicitar más información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5. DECIDIR: Aprobar (implementar), Rechazar (documentar razón), o Diferir (re-evaluar en próxima fase)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6. IMPLEMENTAR: Actualizar línea base, EDT, cronograma, y documentos afectados. Comunicar a interesados.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Autoridad de Aprobación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Cambios ≤5% desviación: PM puede aprobar directamente (informar al asesor)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Cambios 5-15% desviación: Requiere aprobación del asesor con revisión técnica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Cambios &gt;15% desviación o que afecten normativa: Escalar al Director de Carrera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Emergencias (riesgo crítico): PM implementa respuesta inmediata, documenta post-facto en 48h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566160"/>
            <a:ext cx="10972800" cy="822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Herramientas y Registros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Formato RFC en Excel/Google Sheets vinculado al cronograma | Log de cambios con trazabilidad a EDT | Revisión en reuniones quincenales | Actualización de línea base solo tras aprobación formal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SOLICITUD DE CAMBIO (RFC) — FORMATO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Formato estándar para solicitudes de cambio | PMBOK 8va, Alcance (opcional según normativa)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RFC ID: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371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RFC-NNN (auto-incremental)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Fecha Solicitud: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371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DD/MM/YYYY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Solicitante: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7373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Nombre y 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737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Prioridad: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1737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Alta / Media / Baja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103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Descripción del Cambio: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103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4688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Justificación: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4688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¿Por qué es necesario el cambio?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834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Impacto en Alcance: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2834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Paquetes EDT afectados, entregables modificados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Impacto en Cronograma: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2004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Δ horas estimadas, nueva fecha de finalización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566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Impacto en Costo: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5661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Δ costo estimado en 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931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Impacto en Riesgos: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3931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Nuevos riesgos o modificación de existentes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Alternativas Consideradas: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2976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Otras opciones evaluadas y razón de descarte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63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Decisión: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6634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Aprobado / Rechazado / Diferido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663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Fecha Decisión: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4663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DD/MM/YYYY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029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Firmas: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50292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Solicitante: ______  |  PM: ______  |  Asesor: ______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PLAN DE ESTRATEGIA DE ADQUISICIONES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Estrategia para adquirir recursos externos | PMBOK 8va, Alcance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0972800" cy="2743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Estrategia General de Adquisiciones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Contexto: Proyecto académico individual de graduación. La naturaleza del proyecto (investigación + desarrollo experimental) implica que la mayoría de los recursos son internos (esfuerzo del tesista, hardware propio, software open-source).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Adquisiciones requeridas: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Equipo: MacBook Air M1 2020 — ya adquirido (costo hundido Q 6,000). Alternativa: usar laboratorio FING si falla hardware.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Software: Python, HuggingFace, MLX, VerilogEval — todo open-source sin costo de licencia.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Datasets: Repositorios públicos (HuggingFace datasets, GitHub) — descarga gratuita.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Materiales: Impresión y empastado (3 copias × Q 150 = Q 450) — proveedor local, cotización simple.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Papelería y misceláneos: Q 350 — compra directa sin licitación.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Estrategia: Compra directa por bajo monto (&lt; Q 5,000). No se requiere proceso de licitación formal por ser proyecto académico. El PM tiene autoridad para adquirir materiales menores. Equipamiento se usa recurso propio existente.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ADQUISICIONES — DECISIONES DE INTERNALIZACIÓN O EXTERNALIZACIÓN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Análisis Make-or-Buy | PMBOK 8va, Alcance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597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5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1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18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47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Recurso/Actividad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Costo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Justificación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Entrenamiento LoRA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 (Tesista)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Conocimiento técnico del tesista; hardware propio; control total del proceso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Evaluación Benchmark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 (Tesista)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Scripts propios; ejecución local; reproducibilidad científica requerida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Redacción de informe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 (Tesista)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Requisito de grado; debe ser trabajo original del estudiante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Revisión técnica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Externo (Asesor)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Honorarios institucionales FING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Asesor designado por FING; costo cubierto por la universidad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Impresión y empastado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Externo (Proveedor)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450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Servicio especializado; bajo costo; 3 copias requeridas por normativa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Corrección de estilo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 (Tesista)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Cubierto en fase de correcciones finales (EDT 1.5.1); sin costo adicional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Software y herramientas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Externo (Open-source)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Gratuito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Python, HuggingFace, MLX: licencias libres; descarga directa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Hardware computacional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 (Propio)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6,000 (costo hundido)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MacBook M1 ya adquirido; si falla, alternativa: laboratorio FING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ADQUISICIONES — CRITERIOS DE SELECCIÓN DE FUENTES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Criterios para evaluar y seleccionar proveedores | PMBOK 8va, Alcance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21945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Criterios de Selección — Proveedores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Para servicios de impresión y empastado: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1. Calidad: muestras de trabajos previos (portadas, encuadernación)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2. Precio: cotización ≤ Q 200 por copia completa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3. Tiempo de entrega: ≤ 3 días hábiles por copia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4. Ubicación: cercanía a campus UNIS o zona 15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5. Referencias: recomendaciones de tesistas previos FING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Proveedores evaluados (ejemplo):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Copistería UNIS: Q 150/copia, 2 días, en campus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PrintCenter Z15: Q 180/copia, 1 día, a 2km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TesisExpress Online: Q 200/copia, 5 días, envío incluido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21945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Criterios de Selección — Recursos Digitales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Para datasets y modelos: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1. Licencia: open-source (MIT, Apache 2.0, CC-BY) verificable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2. Calidad: documentación, papers asociados, benchmarks conocidos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3. Comunidad: actividad en GitHub, issues, actualizaciones recientes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4. Compatibilidad: formato compatible con HuggingFace datasets/datasets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5. Tamaño: factible de procesar en M1 8GB (≤ 1GB por dataset)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Datasets seleccionados: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VerilogEval v2 (156 problemas, GitHub, MIT license)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HDL dataset de HuggingFace (código VHDL/Verilog etiquetado)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Dataset sintético generado con GPT-4 (como respaldo)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DOMINIO DE DESEMPEÑO:</a:t>
            </a:r>
            <a:br/>
            <a:r>
              <a:t>CRONOGRAMA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6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C8DCF0"/>
                </a:solidFill>
                <a:latin typeface="Calibri"/>
              </a:defRPr>
            </a:pPr>
            <a:r>
              <a:t>PMBOK 8va Edición — Planificación, desarrollo, monitoreo y control del cronograma. Incluye definición de actividades, secuenciación, estimación de duraciones y línea base.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PLAN DE GESTIÓN DEL CRONOGRAMA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Políticas, procedimientos y documentación para gestionar el cronograma | PMBOK 8va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12801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Metodología y Herramientas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Método: Bottom-up estimating desde EDT nivel 4 (110 actividades)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Herramienta: ProjectLibre (CPM + baseline + exportación Gantt)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Calendario: Guatemala 2026 — lun-sáb 8h/día (08:00-12:00, 13:00-17:00)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Unidades: Horas de trabajo efectivas. Precisión ±10% en nivel 4 EDT.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34640"/>
            <a:ext cx="5486400" cy="10972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Umbrales de Control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Verde: &lt;5% de desviación — normal, sin acción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Amarillo: 5-15% desviación — plan de recuperación en 1 semana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Rojo: &gt;15% desviación — escalamiento al Director de Carrera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371600"/>
            <a:ext cx="5029200" cy="12801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Formato de Reporte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S-curve mensual (PV, EV, AC) para seguimiento visual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EVM: SPI, SV para medir eficiencia del cronograma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Actualización: quincenal con asesor, registro de cambios en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834640"/>
            <a:ext cx="5029200" cy="10972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Revisión y Aprobación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Quincenal con asesor en reuniones de seguimiento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Registro de cambios en log de cronograma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Línea base congelada post-aprobación anteproyecto (Mar 2026)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LÍNEA BASE DEL CRONOGRAMA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Cronograma aprobado contra el cual se mide el desempeño | PMBOK 8va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596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15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85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75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700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501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50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Período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Horas (LB)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Alcance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Inicio LB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 LB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02 → Feb 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148h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Inscripción, asesor, plan de proyecto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02,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26,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26 → Abr 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Anteproyecto, diseño metodológico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26,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Abr 08, 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Abr 08 → Ago 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744h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Marco teórico, entrenamiento, evaluación, informe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Abr 08,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Ago 17,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MONITOREO Y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26 → Mar 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86h*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Seguimiento y control de cambios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26,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Mar 13, 2026*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Ago 17 → Sep 14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160h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Correcciones, defensa, entrega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Ago 17,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Sep 14,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097280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Notas sobre la Línea Base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La línea base del cronograma es la versión aprobada del cronograma que se utiliza para comparar el desempeño real.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Fecha de congelamiento: posterior a la aprobación del anteproyecto por el comité evaluador (~Mar 25, 2026).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La línea base solo se modifica mediante solicitudes de cambio aprobadas formalmente.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* M&amp;C tiene actividades distribuidas a lo largo del proyecto; el bloque principal está en Feb-Mar.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Duración total del proyecto: 225 días calendario (Feb 02 → Sep 14, 2026). Horas efectivas: 1,287h.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Se utiliza calendario Guatemala 2026 (lun-sáb 8h/día). Domingos y feriados no laborables.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CRONOGRAMA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Resumen gráfico de fases y duraciones | Feb — Sep 2026 | PMBOK 8va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2103120" cy="2560320"/>
          </a:xfrm>
          <a:prstGeom prst="roundRect">
            <a:avLst/>
          </a:prstGeom>
          <a:solidFill>
            <a:srgbClr val="428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INICIO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Feb 02 → Feb 26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156h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1371600"/>
            <a:ext cx="2103120" cy="2560320"/>
          </a:xfrm>
          <a:prstGeom prst="roundRect">
            <a:avLst/>
          </a:prstGeom>
          <a:solidFill>
            <a:srgbClr val="428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PLANIFICACIÓN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Feb 27 → Abr 08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248h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1371600"/>
            <a:ext cx="2103120" cy="2560320"/>
          </a:xfrm>
          <a:prstGeom prst="roundRect">
            <a:avLst/>
          </a:prstGeom>
          <a:solidFill>
            <a:srgbClr val="428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EJECUCIÓN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Abr 08 → Ago 17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784h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1371600"/>
            <a:ext cx="2103120" cy="256032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MONITOREO Y CONTROL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Feb 27 → Mar 13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88h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1371600"/>
            <a:ext cx="2103120" cy="2560320"/>
          </a:xfrm>
          <a:prstGeom prst="roundRect">
            <a:avLst/>
          </a:prstGeom>
          <a:solidFill>
            <a:srgbClr val="428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CIERRE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Ago 17 → Sep 14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160h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389120"/>
            <a:ext cx="10972800" cy="914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57200" y="4754880"/>
            <a:ext cx="10972800" cy="10972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Resumen de Cronograma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Inicio del proyecto: 2 de febrero de 2026 | Fin del proyecto: 14 de septiembre de 2026 | Duración total: 225 días calendario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Horas efectivas planificadas: 1,287h de trabajo (incluye períodos de espera institucionales: ~155h)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El cronograma detallado está desarrollado en ProjectLibre con 150 tareas (110 de nivel 4 + 40 de resumen/hitos).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Las fechas y duraciones provienen del archivo XML LoRA-HDL-QA_Proyecto_2026.xml, validado y cargable en ProjectLibre 1.9.8.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DATOS DEL CRONOGRAMA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Métricas clave y datos de soporte del modelo de cronograma | PMBOK 8va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Estadísticas del Cronograma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Total de actividades en el modelo: 150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Actividades de trabajo (nivel 4): 110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Actividades de resumen (niveles 1-3): 27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Hitos (duración 0): 13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Duración total: 1,287 horas efectivas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Período: 2026-02-02 al 2026-09-14 (225 días calendario)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Método de planificación: Ruta Crítica (CPM)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Calendario aplicado: Guatemala 2026 (lun-sáb, 8h/día)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Software: ProjectLibre 1.9.8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Ruta Crítica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La ruta crítica atraviesa las fases de: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INICIO → Inscripción → Asignación Asesor → Plan del Proyecto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→ PLANIFICACIÓN → Anteproyecto → Diseño Metodológico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→ EJECUCIÓN → Entrenamiento LoRA → Evaluación → Informe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→ CIERRE → Correcciones → Defensa → Entrega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Holgura total estimada: ~10% (principalmente en M&amp;C)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Los períodos de espera institucionales son parte de la ruta crítica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00400"/>
            <a:ext cx="10972800" cy="10972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Períodos de Espera (no laborables pero incluidos en el cronograma)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Resolución institucional (UID 8): 39h | Aprobación comité (UID 33): 31h | Retroalimentación 1ra (UID 100): 23h | Retroalimentación 2da (UID 102): 39h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Resolución jurado (UID 127): 23h | Total esperas institucionales: ~155h (12% del total de horas)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CALENDARIOS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Base de trabajo y excepciones | PMBOK 8va, Cronograma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Calendario Base — Guatemala 2026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Laborables: Lunes a Sábado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Horario: 08:00-12:00, 13:00-17:00 (8h/día efectivas)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Domingo: No laborable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Semana Santa: Jueves 02 — Domingo 05 Abril (no laborable)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Día del Trabajo: Viernes 01 Mayo (no laborable)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Día de la Independencia: Martes 15 Septiembre (no laborable)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Nota: Feriados omitidos del XML por bug ProjectLibre 1.9.8 con &lt;Exceptions&gt;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54864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Recurso — Pablo Flores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Disponibilidad: 100% (estudiante tiempo completo)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Máximo: 8h/día laborable estándar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Flexibilidad: hasta 10h/día en semanas críticas (pre-defensa, pre-entrega)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Total horas planificadas: 1,287h en 225 días calendario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Promedio: ~5.7h/día efectivas (incluye esperas y buffers)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371600"/>
            <a:ext cx="50292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Períodos de Espera (incluidos como tareas)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Resolución institucional: 39h (Feb 6-13)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Aprobación comité: 31h (Mar 23-27)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Retroalimentación 1ra revisión: 23h (Ago 7-12)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Retroalimentación 2da revisión: 39h (Ago 17-24)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Resolución jurado: 23h (Sep 4-9)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200400"/>
            <a:ext cx="50292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Impacto en el Cronograma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Esperas institucionales = 12% del total de horas planificadas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Buffer implícito por feriados no modelados: ~3 días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Margen de seguridad recomendado: mantener 10% de holgura en hitos críticos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Plan de contingencia: si espera &gt; 2 semanas, escalar al Director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LISTA DE ACTIVIDADES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  <a:latin typeface="Calibri"/>
              </a:defRPr>
            </a:pPr>
            <a:r>
              <a:t>Actividades nivel 4 del cronograma — 55 de 110 | PMBOK 8va, Cronograma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597" cy="5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2471"/>
                <a:gridCol w="640213"/>
                <a:gridCol w="5712670"/>
                <a:gridCol w="492471"/>
                <a:gridCol w="1969886"/>
                <a:gridCol w="1969886"/>
              </a:tblGrid>
              <a:tr h="94642">
                <a:tc>
                  <a:txBody>
                    <a:bodyPr/>
                    <a:lstStyle/>
                    <a:p>
                      <a:pPr>
                        <a:defRPr sz="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UID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Actividad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Dur.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Revisar normativo y reglamento de graduación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Delimitar el tema de investigación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2026-02-04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Preparar formularios y documentación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Presentar solicitud formal ante la facultad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2026-02-06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Período de espera — resolución institucional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39h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Recibir aprobación formal del tema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2026-02-13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Identificar y evaluar candidatos a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Contactar y reunirse con candidatos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2026-02-04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Seleccionar asesor definitivo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Formalizar carta de asignación del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2026-02-16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Primera reunión de trabajo con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Definir alcance, supuestos y restricciones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2026-02-18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Elaborar EDT (WBS) del proyecto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Elaborar cronograma y línea base de tiempo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2026-02-24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Identificar y evaluar riesgos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Elaborar plan de comunicación y seguimiento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2026-02-23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Revisión y aprobación del plan con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Revisión de literatura sobre el problema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2026-03-03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planteamiento del problema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Definir objetivos general y específicos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2026-03-10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Plantear hipótesis de investigación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Escribir justificación del 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2026-03-11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documento completo de anteproyecto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Revisión del anteproyecto con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2026-03-18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Presentar anteproyecto ante comité evaluador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Período de espera — aprobación del comité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2026-03-25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Revisar y comparar metodologías de investigación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2026-03-25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2026-03-27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Seleccionar y justificar metodología adoptada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2026-03-31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Diseñar arquitectura general del experimento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2026-03-31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Identificar y seleccionar datasets HDL / QA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2026-04-02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Planificar pipeline de entrenamiento y evaluación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Definir métricas y criterios de éxito del modelo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2026-04-03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y aprobar diseño metodológico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Rev. bibliográfica: LLMs y arquitecturas Transformer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2026-04-13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Rev. bibliográfica: LoRA y métodos PEFT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Rev. bibliográfica: HDL — VHDL / Verilog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2026-04-16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Rev. bibliográfica: QA en diseño digital y EDA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sección — Fundamentos teóricos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2026-04-27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sección — LoRA aplicado a generación HDL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sección — Estado del arte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2026-04-30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Revisión del marco teórico con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Corrección y ajuste del marco teórico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2026-05-06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Catalogar datasets HDL / QA disponibles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Descargar y verificar integridad de datasets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2026-04-13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Análisis exploratorio de datos (EDA)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Limpieza y depuración de datos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2026-04-21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Tokenización y formateo para fine-tuning LLM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Transformación y normalización de datos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2026-04-29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Validación de calidad e integridad del dataset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2026-04-30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pipeline de preprocesamiento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2026-05-01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Configurar entorno Python / HuggingFace en MacBook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Instalar y verificar librerías PEFT / LoRA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2026-05-11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Seleccionar y cargar modelo base LLM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2026-05-11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2026-05-12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Implementar cargador de datos HDL personalizado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2026-05-15</a:t>
                      </a:r>
                    </a:p>
                  </a:txBody>
                  <a:tcPr/>
                </a:tc>
              </a:tr>
              <a:tr h="94690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Configurar parámetros LoRA (r, alpha, dropout)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2026-05-15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2026-05-19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" y="6620000"/>
            <a:ext cx="1200916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i="1">
                <a:solidFill>
                  <a:srgbClr val="666666"/>
                </a:solidFill>
                <a:latin typeface="Calibri"/>
              </a:defRPr>
            </a:pPr>
            <a:r>
              <a:t>55 de 110 actividades nivel 4 | Continúa en diapositiva 30 | Fuente: LoRA-HDL-QA_Proyecto_2026.xml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LISTA DE ACTIVIDADES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  <a:latin typeface="Calibri"/>
              </a:defRPr>
            </a:pPr>
            <a:r>
              <a:t>Actividades nivel 4 del cronograma — 55 de 110 | PMBOK 8va, Cronograma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597" cy="5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2471"/>
                <a:gridCol w="640213"/>
                <a:gridCol w="5712670"/>
                <a:gridCol w="492471"/>
                <a:gridCol w="1969886"/>
                <a:gridCol w="1969886"/>
              </a:tblGrid>
              <a:tr h="94642">
                <a:tc>
                  <a:txBody>
                    <a:bodyPr/>
                    <a:lstStyle/>
                    <a:p>
                      <a:pPr>
                        <a:defRPr sz="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UID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Actividad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Dur.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Ejecutar entrenamiento piloto (sanity check)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2026-05-19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2026-05-21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Analizar métricas de pérdida y accuracy del piloto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2026-05-25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Ajustar hiperparámetros — iteración 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2026-05-25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2026-05-27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Ejecutar entrenamiento optimizado iteración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2026-06-02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Ajustar hiperparámetros — iteración 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Ejecutar entrenamiento final (modelo definitivo)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2026-06-11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Guardar, versionar y respaldar modelo entrenado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proceso de entrenamiento completo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2026-06-16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Revisar benchmarks existentes para LLM / HDL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Definir métricas: BLEU, exactitud sintáctica, PASS@k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2026-06-17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Implementar scripts de evaluación automatizada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2026-06-22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Ejecutar benchmark — modelo LoRA fine-tuned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2026-06-24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Ejecutar benchmark — modelo base (baseline)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2026-06-22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2026-06-23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Comparar y analizar: LoRA vs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2026-06-29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resultados del benchmark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2026-06-29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Compilar y consolidar todas las métricas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2026-07-02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Análisis estadístico descriptivo de resultados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Visualizar resultados (gráficas y tablas)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2026-07-08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Comparar con modelos del estado del arte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2026-07-08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Identificar fortalezas, limitaciones y trabajo futuro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2026-07-15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análisis e interpretación de resultados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Definir estructura y capítulos del informe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2026-07-17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cap. 1 — Introducción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Integrar cap. 2 — Marco teórico (ajustar)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2026-07-21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cap. 3 — Metodología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cap. 4 — Resultados y análisis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2026-07-22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cap. 5 — Conclusiones y recomendaciones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Elaborar referencias bibliográficas (APA / IEEE)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2026-07-27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Revisar formato y estilo según normativo UNIS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Primera revisión con asesor (espera retroalim.)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2026-08-03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Aplicar primera ronda de correcciones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Segunda revisión con asesor (espera retroalim.)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39h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2026-08-12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Aplicar segunda ronda de correcciones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2026-08-13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Planificar agenda y protocolo de reuniones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2026-02-27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Conducir reuniones semanales con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79h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Elaborar reportes de avance mensuales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39h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2026-03-06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Actualizar y monitorear cronograma del proyecto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Registrar solicitudes de cambio formales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2026-03-03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Evaluar y aprobar cambios con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Implementar cambios aprobados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2026-03-09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lecciones aprendidas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Recibir retroalimentación final del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2026-08-18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Aplicar correcciones finales al documento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2026-08-18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2026-08-21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Revisión de ortografía, gramática y estilo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2026-08-24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Formatear documento final según normativo UNIS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Aprobación final y firma del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2026-08-31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Preparar presentación PowerPoint para defensa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2026-08-31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Elaborar material de apoyo y demo técnico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2026-09-02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Realizar ensayos de presentación (mínimo 3)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Defensa oral ante el jurado evaluador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2026-09-04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Período de espera — resolución y nota del jurado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Aplicar correcciones indicadas por el jurado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2026-09-11</a:t>
                      </a:r>
                    </a:p>
                  </a:txBody>
                  <a:tcPr/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Imprimir, empastar y preparar copias finales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94642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Entrega formal a biblioteca y facultad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2026-09-14</a:t>
                      </a:r>
                    </a:p>
                  </a:txBody>
                  <a:tcPr/>
                </a:tc>
              </a:tr>
              <a:tr h="94690"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 administrativo del proyecto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" y="6620000"/>
            <a:ext cx="1200916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i="1">
                <a:solidFill>
                  <a:srgbClr val="666666"/>
                </a:solidFill>
                <a:latin typeface="Calibri"/>
              </a:defRPr>
            </a:pPr>
            <a:r>
              <a:t>55 de 110 actividades nivel 4 | Total horas nivel 4: 1,287h | Fuente: LoRA-HDL-QA_Proyecto_2026.xml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ATRIBUTOS DE LA ACTIVIDAD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  <a:latin typeface="Calibri"/>
              </a:defRPr>
            </a:pPr>
            <a:r>
              <a:t>Campos que describen cada actividad del cronograma | PMBOK 8va, Cronograma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76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6624"/>
                <a:gridCol w="4962144"/>
                <a:gridCol w="3608832"/>
              </a:tblGrid>
              <a:tr h="37982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Atributo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Valores de Ejemplo / Notas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UID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Identificador único en el XML de ProjectLibre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Ej: 4, 5, 68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Nombre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Descripción de la actividad (verbo + objeto)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Revisar normativo y reglamento de graduación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Nivel EDT (OutlineLevel)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1=Proyecto, 2=Fase, 3=Entregable, 4=Paquete de trabajo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1, 2, 3, 4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Código WBS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Código de la EDT al que pertenece la actividad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Ej: 1.1.1.4 (Inscripción del Tema)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Duración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Horas de trabajo efectivas en formato ISO 8601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PT8H0M0S = 8 horas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Fecha de 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Fecha y hora planificada de inicio (YYYY-MM-DDTHH:MM:SS)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2026-02-02T08:00:00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Fecha de Fin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Fecha y hora planificada de finalización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2026-02-02T17:00:00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Predecesoras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Tareas que deben completarse antes (relación Finish-to-Start)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Ej: 4FS (termina UID 4, inicia esta)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Recurso Asignado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Recurso humano o material que ejecuta la tarea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Pablo Flores (UID 1)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Tipo de Tarea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Fixed Work (trabajo fijo), Fixed Duration, Fixed Units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Fixed Work (todas las tareas)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Calendario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Calendario aplicable para la tarea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UID 11: Guatemala - Feriados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Hito (Milestone)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TRUE = hito (duración 0), FALSE = tarea de trabajo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FALSE para 110 tareas nivel 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BASE DE LAS ESTIMACIONES Y ESTIMACIONES DE DURACIÓN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  <a:latin typeface="Calibri"/>
              </a:defRPr>
            </a:pPr>
            <a:r>
              <a:t>Fundamento de cada estimación + resumen de duraciones por fase | PMBOK 8va, Cronograma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Base de las Estimaciones — Duraciones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Metodología: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Enfoque: Bottom-up desde EDT nivel 4 (cada paquete se estima individualmente)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Unidad: horas de trabajo efectivas (netas, excluye pausas y descansos)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Fuentes de estimación: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Juicio de expertos: asesor FING para tiempos académicos (ej: 23h para revisar paper)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Estimación análoga: proyectos de graduación previos en FING (rango: 150-360h)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Estimación paramétrica: redacción ~15h por sección de 5 páginas en formato IMRaD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Descomposición: tareas atómicas de 3h a 31h máximo (nivel 4 EDT)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Factores de ajuste aplicados: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Productividad: 8h/día netas | Calendario: lun-sáb, excluye domingos y feriados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Curva de aprendizaje: +20% buffer en primeras tareas de cada fase nueva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Hardware M1 8GB: batch=1 implica ~2-3x tiempo de entrenamiento vs GPU típica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Precisión objetivo: ±10% en paquetes nivel 4; ±15% en fases nivel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Estimaciones de Duración por Fase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INICIO (148h):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Inscripción del Tema: 78h (incluye 39h espera institucional)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Asignación de Asesor: 80h (búsqueda + selección + formalización)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Plan del Proyecto: 60h (alcance, EDT, cronograma, riesgos, comunicación)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PLANIFICACIÓN (235h):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Anteproyecto: 152h (incluye 31h espera aprobación comité)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Diseño Metodológico: 83h (arquitectura + datasets + pipeline + métricas)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EJECUCIÓN (744h):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Marco Teórico: 161h | Preprocesamiento Datos: 136h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Entrenamiento LoRA: 227h (piloto + 2 iteraciones de optimización)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Evaluación Benchmark: 106h | Análisis Resultados: 90h | Informe: 175h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MONITOREO Y CONTROL (86h): Seguimiento 86h + Control Cambios 68h (solapados)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CIERRE (160h): Correcciones Finales 75h + Defensa 59h + Entrega 26h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840480"/>
            <a:ext cx="10972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Ejemplos de Cálculo de Duraciones por Tipo de Actividad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Investigación / Lectura: 2-3h por paper académico → 23h = cobertura de ~10 papers profundos por tema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Redacción académica: 15h por sección de ~5 páginas (incluye borrador + revisión + edición)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Programación / Scripts: 15-23h por módulo funcional completo (cargador de datos, script de benchmark)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Entrenamiento ML: 31h = ~3 épocas en M1 8GB con batch=1 y modelo 4B quantizado a 4-bit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Revisión y corrección: 15h por ronda completa (leer documento completo + anotar + corregir + verificar)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Períodos de espera institucional: 31-39h modelados como tareas de duración fija (basado en experiencia FING: 3-5 días hábiles)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LISTA DE HITOS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Hitos principales con fechas planificadas y criterios de aceptación | PMBOK 8va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2440" y="137160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982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Hito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Fecha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Criterio de Aceptación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Proyecto de Graduación Completado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Aprobación formal por tribunal y constancia Biblioteca FING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 DEL 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Carta de inscripción firmada por Director de Carrera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INICIO: 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Tema aprobado + asesor identificado formalmente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FIN: 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 de proyecto aprobado por asesor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INICIO: PLANIFICACION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 formal del anteproyecto con asesor asignado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FIN: PLANIFICACION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Anteproyecto y diseño metodológico aprobados por comité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INICIO: EJECUCION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 formal de experimentos y marco teórico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FIN: EJECUCION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Informe final completo revisado y aprobado por asesor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INICIO: MONITOREO Y CONTROL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Primera reunión de seguimiento con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FIN: MONITOREO Y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 formal de actividades de seguimiento intensivo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INICIO: 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 de correcciones finales post-revisión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98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FIN: 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Documento final depositado en Biblioteca FING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DIAGRAMAS DE RED DEL CRONOGRAMA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Secuencia lógica de actividades y dependencias | PMBOK 8va, Cronograma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0972800" cy="914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Método de Diagramación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Método: Diagrama de Precedencia (PDM) implementado en ProjectLibre con relaciones Finish-to-Start (FS).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La mayoría de las dependencias son obligatorias (duras): no se puede entrenar sin antes preprocesar datos; no se puede defender sin antes redactar.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68880"/>
            <a:ext cx="10972800" cy="4114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Ruta Crítica del Proyecto (secuencia de dependencias FS)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INICIO DEL PROYECTO → Inscripción del Tema → Asignación de Asesor → Plan del Proyecto → FIN INICIO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 ↓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INICIO PLANIFICACIÓN → Anteproyecto → Diseño Metodológico → FIN PLANIFICACIÓN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 ↓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INICIO EJECUCIÓN → Marco Teórico ∥ Preprocesamiento de Datos → Entrenamiento LoRA → Evaluación Benchmark → Análisis de Resultados → Redacción del Informe → FIN EJECUCIÓN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 ↓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INICIO CIERRE → Correcciones Finales → Defensa Pública → Entrega y Cierre → FIN DEL PROYECTO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En paralelo durante todo el proyecto: MONITOREO Y CONTROL (Seguimiento semanal + Control de Cambios bajo demanda)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Dependencias clave: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UID 4→5→6→7→8→9 (Inscripción secuencial)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UID 25→26→27→28→29→30→31→32→33 (Anteproyecto secuencial)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UID 44∥46 (Marco teórico en paralelo), UID 63→68→71→73 (Entrenamiento iterativo)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UID 100→101→102→103 (Ciclos de revisión-corrección con asesor)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DOMINIO DE DESEMPEÑO:</a:t>
            </a:r>
            <a:br/>
            <a: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0364" y="3200400"/>
            <a:ext cx="107672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C8DCF0"/>
                </a:solidFill>
                <a:latin typeface="Calibri"/>
              </a:defRPr>
            </a:pPr>
            <a:r>
              <a:rPr dirty="0"/>
              <a:t>PMBOK 8va </a:t>
            </a:r>
            <a:r>
              <a:rPr dirty="0" err="1"/>
              <a:t>Edición</a:t>
            </a:r>
            <a:r>
              <a:rPr dirty="0"/>
              <a:t> — </a:t>
            </a:r>
            <a:r>
              <a:rPr dirty="0" err="1"/>
              <a:t>Identificación</a:t>
            </a:r>
            <a:r>
              <a:rPr dirty="0"/>
              <a:t>, </a:t>
            </a:r>
            <a:r>
              <a:rPr dirty="0" err="1"/>
              <a:t>adquisición</a:t>
            </a:r>
            <a:r>
              <a:rPr dirty="0"/>
              <a:t> y </a:t>
            </a:r>
            <a:r>
              <a:rPr dirty="0" err="1"/>
              <a:t>gestión</a:t>
            </a:r>
            <a:r>
              <a:rPr dirty="0"/>
              <a:t> de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recursos</a:t>
            </a:r>
            <a:r>
              <a:rPr dirty="0"/>
              <a:t> </a:t>
            </a:r>
            <a:r>
              <a:rPr dirty="0" err="1"/>
              <a:t>necesarios</a:t>
            </a:r>
            <a:r>
              <a:rPr dirty="0"/>
              <a:t> para </a:t>
            </a:r>
            <a:r>
              <a:rPr dirty="0" err="1"/>
              <a:t>ejecutar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proyecto</a:t>
            </a:r>
            <a:r>
              <a:rPr dirty="0"/>
              <a:t>. </a:t>
            </a:r>
            <a:r>
              <a:rPr dirty="0" err="1"/>
              <a:t>Incluye</a:t>
            </a:r>
            <a:r>
              <a:rPr dirty="0"/>
              <a:t> </a:t>
            </a:r>
            <a:r>
              <a:rPr dirty="0" err="1"/>
              <a:t>recursos</a:t>
            </a:r>
            <a:r>
              <a:rPr dirty="0"/>
              <a:t> </a:t>
            </a:r>
            <a:r>
              <a:rPr dirty="0" err="1"/>
              <a:t>humanos</a:t>
            </a:r>
            <a:r>
              <a:rPr dirty="0"/>
              <a:t>, </a:t>
            </a:r>
            <a:r>
              <a:rPr dirty="0" err="1"/>
              <a:t>equipamiento</a:t>
            </a:r>
            <a:r>
              <a:rPr dirty="0"/>
              <a:t>, </a:t>
            </a:r>
            <a:r>
              <a:rPr dirty="0" err="1"/>
              <a:t>materiales</a:t>
            </a:r>
            <a:r>
              <a:rPr dirty="0"/>
              <a:t> e </a:t>
            </a:r>
            <a:r>
              <a:rPr dirty="0" err="1"/>
              <a:t>infraestructura</a:t>
            </a:r>
            <a:r>
              <a:rPr dirty="0"/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PLAN DE GESTIÓN DE 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Define cómo se estimarán, adquirirán y gestionarán los recursos | PMBOK 8va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Identificación de Recursos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Fuentes: EDT nivel 4 (cada paquete de trabajo especifica recurso asignado)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Método: Bottom-up — sumar horas por recurso desde las 110 actividades nivel 4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Recursos humanos: Pablo Flores (PM/Tesista) — 1,830h totales planificadas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Recursos físicos: MacBook Air M1 2020 (8GB/256GB), internet 10Mbps, electricidad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Recursos materiales: papel, impresión, empastado, útiles de oficina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Gestión de Recursos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Asignación: 100% del PM al proyecto durante 225 días calendario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Calendario de recurso: lun-sáb 8h/día, con flexibilidad ±2h en semanas críticas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Adquisición: equipo ya adquirido; materiales se compran según necesidad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Monitoreo: horas registradas vs horas planificadas (parte del EVM mensual)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Optimización: si una tarea requiere menos horas, el excedente va al buffer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00400"/>
            <a:ext cx="10972800" cy="12801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Estrategia para Recursos Humanos Limitados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El proyecto es unipersonal (PM = tesista = ejecutor). No hay equipo para delegar.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Estrategia: maximizar productividad con bloques de trabajo de 2-4h enfocados (técnica Pomodoro adaptada).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El asesor actúa como recurso de supervisión (~40h totales estimadas, aportadas por FING sin costo directo).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Plan de contingencia si el PM enfrenta indisponibilidad temporal: ajustar cronograma, notificar al asesor en 48h.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CARTA DEL EQUIPO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Valores, normas y acuerdos de trabajo del equipo | PMBOK 8va, Recursos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0972800" cy="4455042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rPr dirty="0"/>
              <a:t>Carta del Equipo — Proyecto </a:t>
            </a:r>
            <a:r>
              <a:rPr dirty="0" err="1"/>
              <a:t>LoRA</a:t>
            </a:r>
            <a:r>
              <a:rPr dirty="0"/>
              <a:t>-HDL-QA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 err="1"/>
              <a:t>Contexto</a:t>
            </a:r>
            <a:r>
              <a:rPr dirty="0"/>
              <a:t>: Proyecto de </a:t>
            </a:r>
            <a:r>
              <a:rPr dirty="0" err="1"/>
              <a:t>graduación</a:t>
            </a:r>
            <a:r>
              <a:rPr dirty="0"/>
              <a:t> individual. El '</a:t>
            </a:r>
            <a:r>
              <a:rPr dirty="0" err="1"/>
              <a:t>equipo</a:t>
            </a:r>
            <a:r>
              <a:rPr dirty="0"/>
              <a:t>'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compuesto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• Pablo Flores — PM/</a:t>
            </a:r>
            <a:r>
              <a:rPr dirty="0" err="1"/>
              <a:t>Tesista</a:t>
            </a:r>
            <a:r>
              <a:rPr dirty="0"/>
              <a:t> (</a:t>
            </a:r>
            <a:r>
              <a:rPr dirty="0" err="1"/>
              <a:t>ejecutor</a:t>
            </a:r>
            <a:r>
              <a:rPr dirty="0"/>
              <a:t> principal, 100% del </a:t>
            </a:r>
            <a:r>
              <a:rPr dirty="0" err="1"/>
              <a:t>trabajo</a:t>
            </a:r>
            <a:r>
              <a:rPr dirty="0"/>
              <a:t> </a:t>
            </a:r>
            <a:r>
              <a:rPr dirty="0" err="1"/>
              <a:t>técnico</a:t>
            </a:r>
            <a:r>
              <a:rPr dirty="0"/>
              <a:t>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Asesor</a:t>
            </a:r>
            <a:r>
              <a:rPr dirty="0"/>
              <a:t> (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asignar</a:t>
            </a:r>
            <a:r>
              <a:rPr dirty="0"/>
              <a:t>) — Revisor </a:t>
            </a:r>
            <a:r>
              <a:rPr dirty="0" err="1"/>
              <a:t>técnico</a:t>
            </a:r>
            <a:r>
              <a:rPr dirty="0"/>
              <a:t> (~40h </a:t>
            </a:r>
            <a:r>
              <a:rPr dirty="0" err="1"/>
              <a:t>totales</a:t>
            </a:r>
            <a:r>
              <a:rPr dirty="0"/>
              <a:t>, sin </a:t>
            </a:r>
            <a:r>
              <a:rPr dirty="0" err="1"/>
              <a:t>costo</a:t>
            </a:r>
            <a:r>
              <a:rPr dirty="0"/>
              <a:t> </a:t>
            </a:r>
            <a:r>
              <a:rPr dirty="0" err="1"/>
              <a:t>directo</a:t>
            </a:r>
            <a:r>
              <a:rPr dirty="0"/>
              <a:t> para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proyecto</a:t>
            </a:r>
            <a:r>
              <a:rPr dirty="0"/>
              <a:t>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• Director de Carrera — </a:t>
            </a:r>
            <a:r>
              <a:rPr dirty="0" err="1"/>
              <a:t>Autoridad</a:t>
            </a:r>
            <a:r>
              <a:rPr dirty="0"/>
              <a:t> de </a:t>
            </a:r>
            <a:r>
              <a:rPr dirty="0" err="1"/>
              <a:t>aprobación</a:t>
            </a:r>
            <a:r>
              <a:rPr dirty="0"/>
              <a:t> y </a:t>
            </a:r>
            <a:r>
              <a:rPr dirty="0" err="1"/>
              <a:t>escalamiento</a:t>
            </a:r>
            <a:endParaRPr dirty="0"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endParaRPr dirty="0"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Valores del </a:t>
            </a:r>
            <a:r>
              <a:rPr dirty="0" err="1"/>
              <a:t>Trabajo</a:t>
            </a:r>
            <a:r>
              <a:rPr dirty="0"/>
              <a:t>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• Excelencia </a:t>
            </a:r>
            <a:r>
              <a:rPr dirty="0" err="1"/>
              <a:t>académica</a:t>
            </a:r>
            <a:r>
              <a:rPr dirty="0"/>
              <a:t>: rigor </a:t>
            </a:r>
            <a:r>
              <a:rPr dirty="0" err="1"/>
              <a:t>científico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experimentación</a:t>
            </a:r>
            <a:r>
              <a:rPr dirty="0"/>
              <a:t> y </a:t>
            </a:r>
            <a:r>
              <a:rPr dirty="0" err="1"/>
              <a:t>documentación</a:t>
            </a:r>
            <a:endParaRPr dirty="0"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Transparencia</a:t>
            </a:r>
            <a:r>
              <a:rPr dirty="0"/>
              <a:t>: </a:t>
            </a:r>
            <a:r>
              <a:rPr dirty="0" err="1"/>
              <a:t>reportar</a:t>
            </a:r>
            <a:r>
              <a:rPr dirty="0"/>
              <a:t> </a:t>
            </a:r>
            <a:r>
              <a:rPr dirty="0" err="1"/>
              <a:t>avances</a:t>
            </a:r>
            <a:r>
              <a:rPr dirty="0"/>
              <a:t> y </a:t>
            </a:r>
            <a:r>
              <a:rPr dirty="0" err="1"/>
              <a:t>desviaciones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tiempo</a:t>
            </a:r>
            <a:r>
              <a:rPr dirty="0"/>
              <a:t> real al </a:t>
            </a:r>
            <a:r>
              <a:rPr dirty="0" err="1"/>
              <a:t>asesor</a:t>
            </a:r>
            <a:endParaRPr dirty="0"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Responsabilidad</a:t>
            </a:r>
            <a:r>
              <a:rPr dirty="0"/>
              <a:t>: </a:t>
            </a:r>
            <a:r>
              <a:rPr dirty="0" err="1"/>
              <a:t>cumplir</a:t>
            </a:r>
            <a:r>
              <a:rPr dirty="0"/>
              <a:t> </a:t>
            </a:r>
            <a:r>
              <a:rPr dirty="0" err="1"/>
              <a:t>hitos</a:t>
            </a:r>
            <a:r>
              <a:rPr dirty="0"/>
              <a:t> y </a:t>
            </a:r>
            <a:r>
              <a:rPr dirty="0" err="1"/>
              <a:t>plazos</a:t>
            </a:r>
            <a:r>
              <a:rPr dirty="0"/>
              <a:t> </a:t>
            </a:r>
            <a:r>
              <a:rPr dirty="0" err="1"/>
              <a:t>acordados</a:t>
            </a:r>
            <a:r>
              <a:rPr dirty="0"/>
              <a:t>; </a:t>
            </a:r>
            <a:r>
              <a:rPr dirty="0" err="1"/>
              <a:t>notificar</a:t>
            </a:r>
            <a:r>
              <a:rPr dirty="0"/>
              <a:t> </a:t>
            </a:r>
            <a:r>
              <a:rPr dirty="0" err="1"/>
              <a:t>riesgos</a:t>
            </a:r>
            <a:r>
              <a:rPr dirty="0"/>
              <a:t> </a:t>
            </a:r>
            <a:r>
              <a:rPr dirty="0" err="1"/>
              <a:t>anticipadamente</a:t>
            </a:r>
            <a:endParaRPr dirty="0"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Reproducibilidad</a:t>
            </a:r>
            <a:r>
              <a:rPr dirty="0"/>
              <a:t>: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código</a:t>
            </a:r>
            <a:r>
              <a:rPr dirty="0"/>
              <a:t>, </a:t>
            </a:r>
            <a:r>
              <a:rPr dirty="0" err="1"/>
              <a:t>datos</a:t>
            </a:r>
            <a:r>
              <a:rPr dirty="0"/>
              <a:t> y </a:t>
            </a:r>
            <a:r>
              <a:rPr dirty="0" err="1"/>
              <a:t>resultados</a:t>
            </a:r>
            <a:r>
              <a:rPr dirty="0"/>
              <a:t> </a:t>
            </a:r>
            <a:r>
              <a:rPr dirty="0" err="1"/>
              <a:t>deben</a:t>
            </a:r>
            <a:r>
              <a:rPr dirty="0"/>
              <a:t> ser </a:t>
            </a:r>
            <a:r>
              <a:rPr dirty="0" err="1"/>
              <a:t>reproducibles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terceros</a:t>
            </a:r>
            <a:endParaRPr dirty="0"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endParaRPr dirty="0"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Normas de </a:t>
            </a:r>
            <a:r>
              <a:rPr dirty="0" err="1"/>
              <a:t>Trabajo</a:t>
            </a:r>
            <a:r>
              <a:rPr dirty="0"/>
              <a:t>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Reuniones</a:t>
            </a:r>
            <a:r>
              <a:rPr dirty="0"/>
              <a:t>: </a:t>
            </a:r>
            <a:r>
              <a:rPr dirty="0" err="1"/>
              <a:t>semanal</a:t>
            </a:r>
            <a:r>
              <a:rPr dirty="0"/>
              <a:t> con </a:t>
            </a:r>
            <a:r>
              <a:rPr dirty="0" err="1"/>
              <a:t>asesor</a:t>
            </a:r>
            <a:r>
              <a:rPr dirty="0"/>
              <a:t> (1h </a:t>
            </a:r>
            <a:r>
              <a:rPr dirty="0" err="1"/>
              <a:t>fija</a:t>
            </a:r>
            <a:r>
              <a:rPr dirty="0"/>
              <a:t>), </a:t>
            </a:r>
            <a:r>
              <a:rPr dirty="0" err="1"/>
              <a:t>quincenal</a:t>
            </a:r>
            <a:r>
              <a:rPr dirty="0"/>
              <a:t> de </a:t>
            </a:r>
            <a:r>
              <a:rPr dirty="0" err="1"/>
              <a:t>seguimiento</a:t>
            </a:r>
            <a:r>
              <a:rPr dirty="0"/>
              <a:t> formal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Comunicación</a:t>
            </a:r>
            <a:r>
              <a:rPr dirty="0"/>
              <a:t>: email para </a:t>
            </a:r>
            <a:r>
              <a:rPr dirty="0" err="1"/>
              <a:t>documentos</a:t>
            </a:r>
            <a:r>
              <a:rPr dirty="0"/>
              <a:t> </a:t>
            </a:r>
            <a:r>
              <a:rPr dirty="0" err="1"/>
              <a:t>formales</a:t>
            </a:r>
            <a:r>
              <a:rPr dirty="0"/>
              <a:t>, WhatsApp para </a:t>
            </a:r>
            <a:r>
              <a:rPr dirty="0" err="1"/>
              <a:t>coordinación</a:t>
            </a:r>
            <a:r>
              <a:rPr dirty="0"/>
              <a:t> </a:t>
            </a:r>
            <a:r>
              <a:rPr dirty="0" err="1"/>
              <a:t>ágil</a:t>
            </a:r>
            <a:endParaRPr dirty="0"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Documentación</a:t>
            </a:r>
            <a:r>
              <a:rPr dirty="0"/>
              <a:t>: </a:t>
            </a:r>
            <a:r>
              <a:rPr dirty="0" err="1"/>
              <a:t>minutas</a:t>
            </a:r>
            <a:r>
              <a:rPr dirty="0"/>
              <a:t> de </a:t>
            </a:r>
            <a:r>
              <a:rPr dirty="0" err="1"/>
              <a:t>reunión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24h, </a:t>
            </a:r>
            <a:r>
              <a:rPr dirty="0" err="1"/>
              <a:t>reportes</a:t>
            </a:r>
            <a:r>
              <a:rPr dirty="0"/>
              <a:t> de </a:t>
            </a:r>
            <a:r>
              <a:rPr dirty="0" err="1"/>
              <a:t>avance</a:t>
            </a:r>
            <a:r>
              <a:rPr dirty="0"/>
              <a:t> </a:t>
            </a:r>
            <a:r>
              <a:rPr dirty="0" err="1"/>
              <a:t>mensuales</a:t>
            </a:r>
            <a:r>
              <a:rPr dirty="0"/>
              <a:t> con EVM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• Código: </a:t>
            </a:r>
            <a:r>
              <a:rPr dirty="0" err="1"/>
              <a:t>versionado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GitHub, commits </a:t>
            </a:r>
            <a:r>
              <a:rPr dirty="0" err="1"/>
              <a:t>atómicos</a:t>
            </a:r>
            <a:r>
              <a:rPr dirty="0"/>
              <a:t> con </a:t>
            </a:r>
            <a:r>
              <a:rPr dirty="0" err="1"/>
              <a:t>mensajes</a:t>
            </a:r>
            <a:r>
              <a:rPr dirty="0"/>
              <a:t> </a:t>
            </a:r>
            <a:r>
              <a:rPr dirty="0" err="1"/>
              <a:t>descriptivos</a:t>
            </a:r>
            <a:endParaRPr dirty="0"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• </a:t>
            </a:r>
            <a:r>
              <a:rPr dirty="0" err="1"/>
              <a:t>Conflictos</a:t>
            </a:r>
            <a:r>
              <a:rPr dirty="0"/>
              <a:t>: </a:t>
            </a:r>
            <a:r>
              <a:rPr dirty="0" err="1"/>
              <a:t>escalar</a:t>
            </a:r>
            <a:r>
              <a:rPr dirty="0"/>
              <a:t> al Director de Carrera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PM y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asesor</a:t>
            </a:r>
            <a:r>
              <a:rPr dirty="0"/>
              <a:t> no </a:t>
            </a:r>
            <a:r>
              <a:rPr dirty="0" err="1"/>
              <a:t>llegan</a:t>
            </a:r>
            <a:r>
              <a:rPr dirty="0"/>
              <a:t> a </a:t>
            </a:r>
            <a:r>
              <a:rPr dirty="0" err="1"/>
              <a:t>acuerdo</a:t>
            </a:r>
            <a:endParaRPr dirty="0"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endParaRPr dirty="0"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Nota: Por ser </a:t>
            </a:r>
            <a:r>
              <a:rPr dirty="0" err="1"/>
              <a:t>proyecto</a:t>
            </a:r>
            <a:r>
              <a:rPr dirty="0"/>
              <a:t> unipersonal, </a:t>
            </a:r>
            <a:r>
              <a:rPr dirty="0" err="1"/>
              <a:t>esta</a:t>
            </a:r>
            <a:r>
              <a:rPr dirty="0"/>
              <a:t> carta </a:t>
            </a:r>
            <a:r>
              <a:rPr dirty="0" err="1"/>
              <a:t>establece</a:t>
            </a:r>
            <a:r>
              <a:rPr dirty="0"/>
              <a:t> </a:t>
            </a:r>
            <a:r>
              <a:rPr dirty="0" err="1"/>
              <a:t>normas</a:t>
            </a:r>
            <a:r>
              <a:rPr dirty="0"/>
              <a:t> de </a:t>
            </a:r>
            <a:r>
              <a:rPr dirty="0" err="1"/>
              <a:t>trabajo</a:t>
            </a:r>
            <a:r>
              <a:rPr dirty="0"/>
              <a:t> entre </a:t>
            </a:r>
            <a:r>
              <a:rPr dirty="0" err="1"/>
              <a:t>el</a:t>
            </a:r>
            <a:r>
              <a:rPr dirty="0"/>
              <a:t> PM y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asesor</a:t>
            </a:r>
            <a:r>
              <a:rPr dirty="0"/>
              <a:t>. No se </a:t>
            </a:r>
            <a:r>
              <a:rPr dirty="0" err="1"/>
              <a:t>requiere</a:t>
            </a:r>
            <a:r>
              <a:rPr dirty="0"/>
              <a:t> team charter </a:t>
            </a:r>
            <a:r>
              <a:rPr dirty="0" err="1"/>
              <a:t>tradicional</a:t>
            </a:r>
            <a:r>
              <a:rPr dirty="0"/>
              <a:t> (no hay </a:t>
            </a:r>
            <a:r>
              <a:rPr dirty="0" err="1"/>
              <a:t>equipo</a:t>
            </a:r>
            <a:r>
              <a:rPr dirty="0"/>
              <a:t> </a:t>
            </a:r>
            <a:r>
              <a:rPr dirty="0" err="1"/>
              <a:t>multidisciplinario</a:t>
            </a:r>
            <a:r>
              <a:rPr dirty="0"/>
              <a:t>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MATRIZ RACI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Responsabilidades por paquete de trabajo EDT | PMBOK 8va, Recursos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7825429"/>
              </p:ext>
            </p:extLst>
          </p:nvPr>
        </p:nvGraphicFramePr>
        <p:xfrm>
          <a:off x="457200" y="1345140"/>
          <a:ext cx="11277597" cy="5114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29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86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86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86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086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083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Paquete de Trabajo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Pablo Flores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Asesor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Director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FING/UNIS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Inscripción del Tema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Asignación de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 del Proyecto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Anteproyecto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Diseño Metodológico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Marco Teórico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Preprocesamiento de Datos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Entrenamiento LoRA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Evaluación Benchmark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Análisis de Resultados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Redacción Informe Final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Seguimiento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Control de Cambios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Correcciones Finales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Defensa Pública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0084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Entrega y 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657000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66666"/>
                </a:solidFill>
                <a:latin typeface="Calibri"/>
              </a:defRPr>
            </a:pPr>
            <a:r>
              <a:t>R = Responsible (ejecuta)  |  A = Accountable (aprueba/responde)  |  C = Consulted (aporta criterio)  |  I = Informed (recibe información)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REQUISITOS DE 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Humanos, equipamiento y materiales necesarios | PMBOK 8va, Recursos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415733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Recursos Humanos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Pablo Flores (PM/Tesista)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• 1,287 horas planificadas @ Q 80/hr = Q 102,960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• Disponibilidad 100% (tiempo completo)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• Rol: ejecución total del proyecto + gestión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Asesor (por asignar por FING)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• ~40 horas estimadas (revisión técnica y reuniones)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• Honorarios cubiertos por FING/UNIS (sin costo directo)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• Rol: orientación técnica, revisión de calidad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Director de Carrera / Comité / Jurado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• &lt;10 horas totales (evaluación en hitos)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• Sin costo directo para el proyecto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415733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rPr dirty="0" err="1"/>
              <a:t>Equipamiento</a:t>
            </a:r>
            <a:r>
              <a:rPr dirty="0"/>
              <a:t> e </a:t>
            </a:r>
            <a:r>
              <a:rPr dirty="0" err="1"/>
              <a:t>Infraestructura</a:t>
            </a:r>
            <a:endParaRPr dirty="0"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MacBook Air M1 2020 (8GB/256GB)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  • Costo </a:t>
            </a:r>
            <a:r>
              <a:rPr dirty="0" err="1"/>
              <a:t>adquisición</a:t>
            </a:r>
            <a:r>
              <a:rPr dirty="0"/>
              <a:t>: Q 6,000 (</a:t>
            </a:r>
            <a:r>
              <a:rPr dirty="0" err="1"/>
              <a:t>costo</a:t>
            </a:r>
            <a:r>
              <a:rPr dirty="0"/>
              <a:t> </a:t>
            </a:r>
            <a:r>
              <a:rPr dirty="0" err="1"/>
              <a:t>hundido</a:t>
            </a:r>
            <a:r>
              <a:rPr dirty="0"/>
              <a:t>, </a:t>
            </a:r>
            <a:r>
              <a:rPr dirty="0" err="1"/>
              <a:t>ya</a:t>
            </a:r>
            <a:r>
              <a:rPr dirty="0"/>
              <a:t> </a:t>
            </a:r>
            <a:r>
              <a:rPr dirty="0" err="1"/>
              <a:t>adquirido</a:t>
            </a:r>
            <a:r>
              <a:rPr dirty="0"/>
              <a:t>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  • ~1,000h de </a:t>
            </a:r>
            <a:r>
              <a:rPr dirty="0" err="1"/>
              <a:t>uso</a:t>
            </a:r>
            <a:r>
              <a:rPr dirty="0"/>
              <a:t> </a:t>
            </a:r>
            <a:r>
              <a:rPr dirty="0" err="1"/>
              <a:t>estimadas</a:t>
            </a:r>
            <a:r>
              <a:rPr dirty="0"/>
              <a:t> para </a:t>
            </a:r>
            <a:r>
              <a:rPr dirty="0" err="1"/>
              <a:t>entrenamiento</a:t>
            </a:r>
            <a:r>
              <a:rPr dirty="0"/>
              <a:t> y </a:t>
            </a:r>
            <a:r>
              <a:rPr dirty="0" err="1"/>
              <a:t>desarrollo</a:t>
            </a:r>
            <a:endParaRPr dirty="0"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endParaRPr dirty="0"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Software (</a:t>
            </a:r>
            <a:r>
              <a:rPr dirty="0" err="1"/>
              <a:t>todo</a:t>
            </a:r>
            <a:r>
              <a:rPr dirty="0"/>
              <a:t> open-source, sin </a:t>
            </a:r>
            <a:r>
              <a:rPr dirty="0" err="1"/>
              <a:t>costo</a:t>
            </a:r>
            <a:r>
              <a:rPr dirty="0"/>
              <a:t>):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  • Python, </a:t>
            </a:r>
            <a:r>
              <a:rPr dirty="0" err="1"/>
              <a:t>HuggingFace</a:t>
            </a:r>
            <a:r>
              <a:rPr dirty="0"/>
              <a:t> Transformers, PEFT, MLX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  • </a:t>
            </a:r>
            <a:r>
              <a:rPr dirty="0" err="1"/>
              <a:t>ProjectLibre</a:t>
            </a:r>
            <a:r>
              <a:rPr dirty="0"/>
              <a:t> 1.9.8 (</a:t>
            </a:r>
            <a:r>
              <a:rPr dirty="0" err="1"/>
              <a:t>gestión</a:t>
            </a:r>
            <a:r>
              <a:rPr dirty="0"/>
              <a:t> de </a:t>
            </a:r>
            <a:r>
              <a:rPr dirty="0" err="1"/>
              <a:t>proyecto</a:t>
            </a:r>
            <a:r>
              <a:rPr dirty="0"/>
              <a:t>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  • Git/GitHub (control de </a:t>
            </a:r>
            <a:r>
              <a:rPr dirty="0" err="1"/>
              <a:t>versiones</a:t>
            </a:r>
            <a:r>
              <a:rPr dirty="0"/>
              <a:t>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endParaRPr dirty="0"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 err="1"/>
              <a:t>Infraestructura</a:t>
            </a:r>
            <a:r>
              <a:rPr dirty="0"/>
              <a:t>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  • Internet 10Mbps (~Q 250/</a:t>
            </a:r>
            <a:r>
              <a:rPr dirty="0" err="1"/>
              <a:t>mes</a:t>
            </a:r>
            <a:r>
              <a:rPr dirty="0"/>
              <a:t>, </a:t>
            </a:r>
            <a:r>
              <a:rPr dirty="0" err="1"/>
              <a:t>costo</a:t>
            </a:r>
            <a:r>
              <a:rPr dirty="0"/>
              <a:t> </a:t>
            </a:r>
            <a:r>
              <a:rPr dirty="0" err="1"/>
              <a:t>absorbido</a:t>
            </a:r>
            <a:r>
              <a:rPr dirty="0"/>
              <a:t>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  • </a:t>
            </a:r>
            <a:r>
              <a:rPr dirty="0" err="1"/>
              <a:t>Electricidad</a:t>
            </a:r>
            <a:r>
              <a:rPr dirty="0"/>
              <a:t> (~Q 300 total, </a:t>
            </a:r>
            <a:r>
              <a:rPr dirty="0" err="1"/>
              <a:t>costo</a:t>
            </a:r>
            <a:r>
              <a:rPr dirty="0"/>
              <a:t> </a:t>
            </a:r>
            <a:r>
              <a:rPr dirty="0" err="1"/>
              <a:t>absorbido</a:t>
            </a:r>
            <a:r>
              <a:rPr dirty="0"/>
              <a:t>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  • Google Drive 100GB (EDU, </a:t>
            </a:r>
            <a:r>
              <a:rPr dirty="0" err="1"/>
              <a:t>gratuito</a:t>
            </a:r>
            <a:r>
              <a:rPr dirty="0"/>
              <a:t>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endParaRPr dirty="0"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 err="1"/>
              <a:t>Materiales</a:t>
            </a:r>
            <a:r>
              <a:rPr dirty="0"/>
              <a:t>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  • </a:t>
            </a:r>
            <a:r>
              <a:rPr dirty="0" err="1"/>
              <a:t>Impresión</a:t>
            </a:r>
            <a:r>
              <a:rPr dirty="0"/>
              <a:t> 3 </a:t>
            </a:r>
            <a:r>
              <a:rPr dirty="0" err="1"/>
              <a:t>copias</a:t>
            </a:r>
            <a:r>
              <a:rPr dirty="0"/>
              <a:t> × Q 150 = Q 450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  • Material defensa (posters): Q 200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  • </a:t>
            </a:r>
            <a:r>
              <a:rPr dirty="0" err="1"/>
              <a:t>Papelería</a:t>
            </a:r>
            <a:r>
              <a:rPr dirty="0"/>
              <a:t> y </a:t>
            </a:r>
            <a:r>
              <a:rPr dirty="0" err="1"/>
              <a:t>misceláneos</a:t>
            </a:r>
            <a:r>
              <a:rPr dirty="0"/>
              <a:t>: Q 150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BASE DE LAS ESTIMACIONES — 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Fundamento de las estimaciones de recursos | PMBOK 8va, Recursos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Recurso Humano — PM/Tesista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Tarifa: Q 80/hora — basada en tarifa de investigador junior en Guatemala (referencia: SENACYT)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Horas: 1,287h — suma bottom-up de las 110 actividades nivel 4 del cronograma XML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Disponibilidad: 100% — el tesista no tiene otras obligaciones laborales durante el período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Productividad: 8h/día netas — basado en experiencia previa en proyectos académicos similares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Fuente de la tarifa: promedio de estipendio de investigación + costo de vida en Guatemala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Nota: el costo de mano de obra es principalmente costo de oportunidad, no erogación en efectivo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Equipamiento y Materiales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MacBook M1: Q 6,000 — precio de mercado Guatemala (2025), depreciado a 2 años de uso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Impresión: Q 150/copia — cotización de Copistería UNIS (zona 15, 2025)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Internet: Q 250/mes — tarifa Tigo residencial 10Mbps, costo absorbido (no incremental)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Electricidad: 30W × 1,000h × Q 1/kWh ≈ Q 300 — cálculo basado en consumo del M1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Materiales: Q 350 — estimación empírica de proyectos de graduación previos en FING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566160"/>
            <a:ext cx="10972800" cy="914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Reservas y Contingencias en Recursos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Contingencia de recurso humano: +10% de horas en tareas técnicas críticas (entrenamiento LoRA, evaluación benchmark) = ~70h de buffer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Contingencia de equipamiento: si MacBook falla, utilizar laboratorio de cómputo FING (costo: Q 0, pero requiere coordinación de horario)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Las estimaciones siguen el principio de 'estimación más probable' con un buffer separado, no inflado en cada tarea individual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ESTRUCTURA DE DESGLOSE DE RECURSOS (RBS)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Descomposición jerárquica de recursos del proyecto | PMBOK 8va, Recursos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657600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1. Recursos Humanos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1.1 PM / Tesista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Pablo Flores (100%)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1.2 Asesoría Técnica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Asesor FING (~40h)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1.3 Autoridades Académicas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Director de Carrera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Comité Evaluador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Jurado de Defensa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371600"/>
            <a:ext cx="3657600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2. Equipamiento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2.1 Hardware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MacBook Air M1 8GB/256GB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2.2 Periféricos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Monitor externo (opcional)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Teclado y mouse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2.3 Respaldo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Disco externo 1TB (backup)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371600"/>
            <a:ext cx="3657600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3. Software y Servicios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3.1 Desarrollo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Python, HuggingFace, MLX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3.2 Gestión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ProjectLibre, Excel, Git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3.3 Infraestructura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Internet 10Mbps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Google Drive 100GB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40480"/>
            <a:ext cx="548640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4. Materiales y Consumibles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4.1 Impresión y Empastado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3 copias informe final × Q 150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4.2 Material de Defensa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Posters, handouts, bolígrafos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4.3 Papelería General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Cuadernos, post-its, impresiones parciales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840480"/>
            <a:ext cx="502920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5. Servicios Externos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5.1 Imprenta / Copistería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Copistería UNIS o PrintCenter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5.2 Soporte Técnico FING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Laboratorio de cómputo (contingencia)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5.3 Revisión de Estilo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Interno (tesista)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CALENDARIOS DE 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Disponibilidad de cada recurso a lo largo del proyecto | PMBOK 8va, Recursos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2061731"/>
              </p:ext>
            </p:extLst>
          </p:nvPr>
        </p:nvGraphicFramePr>
        <p:xfrm>
          <a:off x="457200" y="1371600"/>
          <a:ext cx="1127759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32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40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57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15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565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5651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Recurso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Disponibilidad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Período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Calendario Base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Flexibilidad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Notas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Pablo Flores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02 — Sep 14,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Lun-Sáb 8h/día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10h/día en semanas pre-defensa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Tiempo completo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MacBook M1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Compartido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02 — Sep 14,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24/7 disponible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Noches para entrenamiento largo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~1,000h efectivas estimadas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~15%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16 — Sep 14,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1h/semanal + hitos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Según disponibilidad FING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~40h totales estimadas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Director de Carrera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&lt; 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Hitos específicos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Según necesidad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&lt; 10h totales estimadas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Internet 10Mbps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Siempre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— Sep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24/7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rPr dirty="0"/>
                        <a:t>Costo </a:t>
                      </a:r>
                      <a:r>
                        <a:rPr dirty="0" err="1"/>
                        <a:t>absorbido</a:t>
                      </a:r>
                      <a:endParaRPr dirty="0"/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0972800" cy="10972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Notas sobre Calendarios de Recursos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El calendario del PM es el más restrictivo — determina la ruta crítica del proyecto.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MacBook M1 se usa también para actividades personales; el proyecto requiere ~1,000h de las ~3,600h disponibles en el período.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Períodos de inactividad del PM (enfermedad, emergencias) se mitigan con buffer del 10% incluido en el cronograma.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Si el MacBook requiere reparación &gt; 3 días, se activa contingencia de usar laboratorio FING.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DOMINIO DE DESEMPEÑO:</a:t>
            </a:r>
            <a:br/>
            <a:r>
              <a:t>COSTOS / FINANZAS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56660" y="3200400"/>
            <a:ext cx="98209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C8DCF0"/>
                </a:solidFill>
                <a:latin typeface="Calibri"/>
              </a:defRPr>
            </a:pPr>
            <a:r>
              <a:rPr dirty="0"/>
              <a:t>PMBOK 8va </a:t>
            </a:r>
            <a:r>
              <a:rPr dirty="0" err="1"/>
              <a:t>Edición</a:t>
            </a:r>
            <a:r>
              <a:rPr dirty="0"/>
              <a:t> — </a:t>
            </a:r>
            <a:r>
              <a:rPr dirty="0" err="1"/>
              <a:t>Planificación</a:t>
            </a:r>
            <a:r>
              <a:rPr dirty="0"/>
              <a:t>, </a:t>
            </a:r>
            <a:r>
              <a:rPr dirty="0" err="1"/>
              <a:t>estimación</a:t>
            </a:r>
            <a:r>
              <a:rPr dirty="0"/>
              <a:t>, </a:t>
            </a:r>
            <a:r>
              <a:rPr dirty="0" err="1"/>
              <a:t>presupuestación</a:t>
            </a:r>
            <a:r>
              <a:rPr dirty="0"/>
              <a:t>, </a:t>
            </a:r>
            <a:r>
              <a:rPr dirty="0" err="1"/>
              <a:t>financiamiento</a:t>
            </a:r>
            <a:r>
              <a:rPr dirty="0"/>
              <a:t> y control de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costos</a:t>
            </a:r>
            <a:r>
              <a:rPr dirty="0"/>
              <a:t> del </a:t>
            </a:r>
            <a:r>
              <a:rPr dirty="0" err="1"/>
              <a:t>proyecto</a:t>
            </a:r>
            <a:r>
              <a:rPr dirty="0"/>
              <a:t>. </a:t>
            </a:r>
            <a:r>
              <a:rPr dirty="0" err="1"/>
              <a:t>Incluye</a:t>
            </a:r>
            <a:r>
              <a:rPr dirty="0"/>
              <a:t> EVM y </a:t>
            </a:r>
            <a:r>
              <a:rPr dirty="0" err="1"/>
              <a:t>análisis</a:t>
            </a:r>
            <a:r>
              <a:rPr dirty="0"/>
              <a:t> de valor </a:t>
            </a:r>
            <a:r>
              <a:rPr dirty="0" err="1"/>
              <a:t>ganado</a:t>
            </a:r>
            <a:r>
              <a:rPr dirty="0"/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PLAN DE GESTIÓN FINANCIERA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Políticas, procedimientos y documentación para gestionar costos | PMBOK 8va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Políticas de Estimación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Método: Bottom-up desde EDT nivel 4 (horas × Q 80/hr)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Moneda: Quetzales (GTQ). Tipo de cambio fijo: Q 7.80/USD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Precisión: ±10% en paquetes nivel 4; ±15% en costo total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Reestimación: mensual durante fase de ejecución (o ante cambios aprobados)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Costo de mano de obra: costo de oportunidad, no erogación en efectivo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Control de Costos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Monitoreo: EVM mensual (PV, EV, AC, CPI, SPI)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Umbrales: Verde &lt;5% | Amarillo 5-15% | Rojo &gt;15%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Herramienta: Excel vinculado a datos del XML de ProjectLibre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Responsable: PM (Pablo Flores), con supervisión del asesor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Reporte: mensual, incluido en informe de avance para asesor y Director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17520"/>
            <a:ext cx="5486400" cy="12801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Reservas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Contingencia: Q 20,846.00 — calculado como suma de Costo Esperado (CE = P × I) de los 25 riesgos identificados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Gestión: Q 700.00 — para acciones de mitigación no anticipadas y gastos administrativos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Uso de contingencia: solo para riesgos materializados; aprobación del asesor requerida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Uso de gestión: autorizado por el PM para acciones proactivas de mitigación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017520"/>
            <a:ext cx="5029200" cy="12801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Indicadores EVM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PV (Planned Value) = Costo planificado del trabajo programado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EV (Earned Value) = Costo planificado del trabajo completado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AC (Actual Cost) = Costo real incurrido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CPI = EV/AC (eficiencia de costo: &gt;1 = bajo presupuesto)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SPI = EV/PV (eficiencia de cronograma: &gt;1 = adelantado)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EAC = BAC/CPI (estimación al finalizar)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TCPI = (BAC−EV)/(BAC−AC) (índice requerido para cumplir BAC)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ESTIMACIONES DE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Desglose por fase basado en datos reales del XML | PMBOK 8va, Costos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598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53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13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50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7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583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Concepto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Horas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Costo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% del Total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148h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11,840.00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8.3%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18,800.00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13.2%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744h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59,520.00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41.9%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MONITOREO Y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86h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6,880.00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160h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12,800.00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9.0%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Subtotal Mano de Obra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1,373h*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109,840.00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77.3%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MacBook M1 (costo hundido)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6,000.00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Materiales (impresión, posters)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800.00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0.6%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Subtotal Directos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116,640.00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82.1%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Reserva de Contingencia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20,846.00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14.7%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Reserva de Gestión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700.00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TOTAL COSTO DEL PROYECTO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138,186.00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97.3%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958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Total con MacBook (costo hundido)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144,186.00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101.5%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1277598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83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4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33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916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Período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Horas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Costo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Acumulado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Febrero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211h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16,880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16,880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Marzo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367h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29,360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46,240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Abril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374h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29,920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76,160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Mayo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13,760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89,920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Junio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190h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15,200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105,120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Julio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226h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18,080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123,200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Agosto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160h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12,800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136,000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Septiembre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130h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10,400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146,400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BASE DE LAS ESTIMACIONES —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Fundamento y metodología de cada estimación de costo | PMBOK 8va, Costos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Mano de Obra — Q 80/hora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Tarifa basada en: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Estipendio promedio de investigador junior en Guatemala (SENACYT 2025): Q 12,800/mes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Asumiendo 160h/mes productivas: Q 80/hora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Incluye costo de vida (alimentación, transporte, servicios) en Ciudad de Guatemala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Es costo de oportunidad (el tesista no recibe salario por el proyecto)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Horas por fase: suma directa de duraciones del XML de ProjectLibre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Validación cruzada: ~1,373h totales vs 1,287h del XML (+86h de buffer implícito en tareas de resumen)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Equipamiento y Materiales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MacBook M1: Q 6,000 — precio de mercado en Guatemala (nov 2025, MacBook Air M1 2020 usado)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Depreciación: 2 años de uso personal previo, valor residual ~Q 3,000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Impresión: Q 150/copia × 3 = Q 450 — cotización Copistería UNIS (ene 2026)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Posters defensa: Q 200 — impresión a color tamaño A1 (2 posters)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Papelería: Q 150 — cuadernos, post-its, bolígrafos, impresiones parciales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566160"/>
            <a:ext cx="1097280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Reservas de Contingencia — Cálculo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Método: Valor Monetario Esperado (EMV) = Σ (Probabilidad × Impacto Máximo) para cada uno de los 25 riesgos identificados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EMV total = Q 20,846.00 (ver Registro de Riesgos en Excel LoRA_Risk_Register_Analysis.xlsx)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Reserva de gestión: 0.5% del costo directo ≈ Q 700 — para gastos no anticipados ni modelados como riesgos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Las reservas NO están incluidas en la línea base de costos (BAC = Q 116,640). Se añaden para el presupuesto total.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Cualquier uso de la reserva de contingencia requiere documentación del riesgo materializado y aprobación del asesor.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LÍNEA BASE DE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Presupuesto aprobado contra el cual se mide el desempeño de costos | PMBOK 8va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0972800" cy="914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Definición de Línea Base de Costos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BAC (Budget at Completion) = Q 116,640.00 — incluye mano de obra directa (Q 109,840) + equipamiento y materiales (Q 6,800). No incluye reservas de contingencia ni gestión. La línea base se congela tras la aprobación del anteproyecto (Mar 2026).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468880"/>
          <a:ext cx="11277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74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1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1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374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Período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PV Mensual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PV Acumulado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% BAC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16,880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16,880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14.5%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Mar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29,360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46,240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39.6%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Abr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29,920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76,160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65.3%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May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13,760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89,920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77.1%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Jun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15,200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105,120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90.1%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Jul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18,080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123,200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105.6%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Ago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12,800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136,000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116.6%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Sep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10,400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146,400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125.5%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0" y="2468880"/>
            <a:ext cx="4114800" cy="36576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Indicadores de Línea Base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BAC = Q 116,640.00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Presupuesto total (incluye reservas):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Q 116,640 + Q 20,846 + Q 700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= Q 138,186.00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Curva S: perfil de gasto front-loaded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con pico en Mar-Abr 2026 (planif. + inicio ejec.)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Desembolso: el costo de mano de obra es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costo de oportunidad. Solo equipamiento y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materiales requieren desembolso en efectivo: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Q 6,800 (ya erogado el MacBook).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REQUISITOS DE FINANCIAMIENTO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Flujo de fondos necesario por período | PMBOK 8va, Costos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596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06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2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785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763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7637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763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Período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Horas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Mano de Obra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Erogaciones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Total Período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Acumulado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Febrero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211h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16,880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6,000 (MacBook)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22,880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22,880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Marzo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367h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29,360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29,360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52,240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Abril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374h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29,920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29,920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82,160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Mayo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13,760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13,760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95,920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Junio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190h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15,200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15,200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111,120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Julio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226h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18,080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18,080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129,200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Agosto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160h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12,800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12,800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142,000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Septiembre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130h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10,400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800 (materiales)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11,200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153,200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Contingencia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20,846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174,046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Gestión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700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174,746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6032880"/>
            <a:ext cx="10972800" cy="731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Notas sobre Financiamiento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Fuente de fondos: recursos propios del tesista. No hay financiamiento externo (beca, patrocinio, o subvención).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La mano de obra es costo de oportunidad (no erogación). Las erogaciones reales son solo Q 6,800 (MacBook + materiales).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El flujo de fondos es front-loaded: 65% del presupuesto se concentra en Feb-Abr 2026 (fases de inicio, planificación y arranque de ejecución).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ESTRATEGIA DE FINANCIAMIENTO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Cómo se obtendrán y administrarán los fondos del proyecto | PMBOK 8va, Costos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3732028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Estrategia de Financiamiento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Fuente primaria: Recursos propios del tesista (Pablo Flores)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El proyecto no requiere financiamiento externo ya que: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El hardware principal (MacBook M1) ya fue adquirido previamente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El software es 100% open-source y gratuito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La mano de obra es aportada por el tesista como parte de su formación académica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Los costos de materiales son menores a Q 1,000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Estructura de costos: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Costos hundidos (ya incurridos): MacBook M1 Q 6,000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Costos futuros de materiales: Q 800 (impresión, empastado, posters)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Costos recurrentes absorbidos: internet Q 250/mes, electricidad ~Q 300 total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Costo de oportunidad (mano de obra): Q 109,840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Total erogación en efectivo requerida: Q 800 (materiales para fase de cierre)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No se requiere plan de financiamiento con entidades bancarias, inversionistas, o patrocinadores.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4040372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Administración de Fondos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Responsable: PM (Pablo Flores)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Mecanismo: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Cuenta bancaria personal existente (no se requiere cuenta dedicada)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Pago directo a proveedores (copistería) contra entrega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Control: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Registro de gastos en Excel vinculado al EVM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Facturas/recibos escaneados y archivados en Google Drive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Flujo de fondos: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Feb 2026: Q 0 (MacBook ya pagado previamente)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Sep 2026: Q 800 (impresión + posters)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Reservas: no requieren depósito previo (solo se usan si se materializan riesgos)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Cierre financiero: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Conciliación de gastos reales vs presupuesto en Sep 2026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Documentación de lecciones aprendidas en gestión financiera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Informe final de costos para el expediente del proyecto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DOMINIO DE DESEMPEÑO:</a:t>
            </a:r>
            <a:br/>
            <a:r>
              <a:t>RIESGOS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8948" y="3200400"/>
            <a:ext cx="101186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C8DCF0"/>
                </a:solidFill>
                <a:latin typeface="Calibri"/>
              </a:defRPr>
            </a:pPr>
            <a:r>
              <a:rPr dirty="0"/>
              <a:t>PMBOK 8va </a:t>
            </a:r>
            <a:r>
              <a:rPr dirty="0" err="1"/>
              <a:t>Edición</a:t>
            </a:r>
            <a:r>
              <a:rPr dirty="0"/>
              <a:t> — </a:t>
            </a:r>
            <a:r>
              <a:rPr dirty="0" err="1"/>
              <a:t>Identificación</a:t>
            </a:r>
            <a:r>
              <a:rPr dirty="0"/>
              <a:t>, </a:t>
            </a:r>
            <a:r>
              <a:rPr dirty="0" err="1"/>
              <a:t>análisis</a:t>
            </a:r>
            <a:r>
              <a:rPr dirty="0"/>
              <a:t> </a:t>
            </a:r>
            <a:r>
              <a:rPr dirty="0" err="1"/>
              <a:t>cualitativo</a:t>
            </a:r>
            <a:r>
              <a:rPr dirty="0"/>
              <a:t> y </a:t>
            </a:r>
            <a:r>
              <a:rPr dirty="0" err="1"/>
              <a:t>cuantitativo</a:t>
            </a:r>
            <a:r>
              <a:rPr dirty="0"/>
              <a:t>, </a:t>
            </a:r>
            <a:r>
              <a:rPr dirty="0" err="1"/>
              <a:t>planificación</a:t>
            </a:r>
            <a:r>
              <a:rPr dirty="0"/>
              <a:t> de </a:t>
            </a:r>
            <a:r>
              <a:rPr dirty="0" err="1"/>
              <a:t>respuestas</a:t>
            </a:r>
            <a:r>
              <a:rPr dirty="0"/>
              <a:t>, </a:t>
            </a:r>
            <a:r>
              <a:rPr dirty="0" err="1"/>
              <a:t>implementación</a:t>
            </a:r>
            <a:r>
              <a:rPr dirty="0"/>
              <a:t> y </a:t>
            </a:r>
            <a:r>
              <a:rPr dirty="0" err="1"/>
              <a:t>monitoreo</a:t>
            </a:r>
            <a:r>
              <a:rPr dirty="0"/>
              <a:t> de </a:t>
            </a:r>
            <a:r>
              <a:rPr dirty="0" err="1"/>
              <a:t>riesgos</a:t>
            </a:r>
            <a:r>
              <a:rPr dirty="0"/>
              <a:t> del </a:t>
            </a:r>
            <a:r>
              <a:rPr dirty="0" err="1"/>
              <a:t>proyecto</a:t>
            </a:r>
            <a:r>
              <a:rPr dirty="0"/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PLAN DE GESTIÓN DE RIESGOS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Define cómo se gestionarán los riesgos del proyecto | PMBOK 8va, Riesgos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Metodología de Gestión de Riesgos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Enfoque: Cualitativo-cuantitativo iterativo (PMBOK 8va)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Frecuencia de identificación: quincenal (en reuniones con asesor)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Análisis: Probabilidad × Impacto monetario = Costo Esperado (CE)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Umbral de respuesta: CE &gt; Q 1,500 requiere plan de respuesta documentado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Herramientas: Excel (LoRA_Risk_Register_Analysis.xlsx), matriz Prob-Impacto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Categorías de riesgo: Técnico, Organizacional, Recursos Humanos, Calidad, Operativo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Estrategias de Respuesta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EVITAR: Cambiar enfoque/metodología si el riesgo es inaceptable (ej: cambiar modelo base si Qwen no carga)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MITIGAR: Reducir probabilidad (checkpointing, backups, revisiones anticipadas) y/o impacto (plan B)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TRANSFERIR: No aplica en proyecto académico individual (no hay seguros ni terceros que absorban riesgo)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ACEPTAR: Riesgos con CE &lt; Q 500 — monitorear sin plan de respuesta activo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ESCALAR: Al Director de Carrera si el riesgo impacta normativa FING o plazos institucionales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17520"/>
            <a:ext cx="5486400" cy="12801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Roles en Gestión de Riesgos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Identificación: PM + Asesor (en reuniones quincenales)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Análisis cualitativo: PM (matriz Prob-Impacto)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Análisis cuantitativo (EMV): PM (Excel), validado por asesor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Planificación de respuestas: PM propone, asesor aprueba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Implementación: PM ejecuta las respuestas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Monitoreo: Revisión quincenal del registro de riesgos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017520"/>
            <a:ext cx="5029200" cy="12801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Indicadores Clave de Riesgo (KRI)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KRI-1: Espera respuesta asesor &gt; 10 días → escalar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KRI-2: Loss NaN en entrenamiento → detener y revisar datos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KRI-3: Temperatura MacBook &gt; 85°C → pausar y refrigerar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KRI-4: Desviación cronograma &gt; 15% → plan de recuperación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KRI-5: Datasets con &gt; 5% de datos corruptos → reprocesar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REGISTRO DE RIESGOS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25 riesgos identificados | Contingencia total: Q 20,846.00 | PMBOK 8va, Riesgos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596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3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8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31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69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398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77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051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14325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Descripción del Riesgo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Cat.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Prob.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Impacto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CE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Respuesta Planificada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R-10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Modelo base Qwen3-4B no carga en 8GB RAM (OOM)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Técnico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4,000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1,600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Quantización 4-bit GGUF; probar modelos más pequeños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Arquitectura experimental no viable con hardware M1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Técnico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QLoRA 4-bit con MLX; gradient checkpointing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R-13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Entrenamiento final interrumpido por falla hardware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Técnico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6,000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1,500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Checkpointing cada 100 steps; respaldo en nube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Resultados del modelo final no superan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Técnico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Ajustar rank LoRA (r=16→64); data augmentation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R-12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Tiempo de entrenamiento excede estimado (throttling)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Técnico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45%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3,000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1,350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Entrenar horarios nocturnos; ventilador externo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Observaciones extensas del asesor requieren reescritura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Organizacional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Redacción iterativa temprana; anticipar correcciones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Demora en resolución institucional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Organizacional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3,120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1,248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Escalar con Director; recordatorios cada 5 días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Rechazo del anteproyecto por comité evaluador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Organizacional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Reducir alcance; revisión previa con Director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encontrar datasets HDL/QA de calidad suficiente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Técnico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3,000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900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Generar dataset sintético con GPT-4; web scraping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Datos de entrenamiento con corrupción no detectada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Calidad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3,000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Pipeline de validación automatizada; revisión manual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Retraso en asignación de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Recursos Humanos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35%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2,520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882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Contactar múltiples candidatos simultáneamente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Entrenamiento piloto diverge o produce 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Técnico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2,500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Reducir learning rate; aumentar warmup steps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Modelos SOTA publicados usan GPU/A100 no reproducible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Técnico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800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limitaciones; normalizar por recursos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VerilogEval v2 no ejecuta en entorno ARM/M1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Técnico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2,500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Compilar dependencias nativas ARM; usar Rosetta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R-18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Metodología requiere cambios mayores tras revisión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Organizacional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3,000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750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Reuniones quincenales; enviar borradores por secciones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37160" y="6480000"/>
            <a:ext cx="11902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66666"/>
                </a:solidFill>
                <a:latin typeface="Calibri"/>
              </a:defRPr>
            </a:pPr>
            <a:r>
              <a:t>Muestra: 15 riesgos de 25. Registro completo en Excel LoRA_Risk_Register_Analysis.xlsx. CE Total = Q 20,846.00.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REPORTE DE RIESGOS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Resumen ejecutivo de la situación de riesgos | PMBOK 8va, Riesgos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2880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Resumen General de Riesgos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Total riesgos identificados: 25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Riesgos con plan de respuesta activo (CE &gt; Q 1,500): 12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Riesgos en monitoreo pasivo (CE &lt; Q 500): 5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Riesgos escalables al Director: 3 (R-01, R-02, R-04)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Costo Esperado Total (EMV): Q 20,846.00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Reserva de contingencia recomendada: Q 20,846.00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Reserva de gestión: Q 700.00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Perfil de riesgo del proyecto: MODERADO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La mayoría de riesgos son técnicos (15/25 = 60%)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Los riesgos organizacionales tienen alto impacto pero baja probabilidad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No hay riesgos catastróficos (impacto &gt; Q 10,000) identificados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2880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Distribución por Categoría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Técnico: 15 riesgos | CE: Q 13,994 (67.1%)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→ Principales: R-10 (OOM), R-05 (hardware), R-13 (falla HW)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Organizacional: 7 riesgos | CE: Q 4,950 (23.7%)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→ Principales: R-20 (reescritura), R-01 (demora inst.)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Calidad: 1 riesgo | CE: Q 900 (4.3%)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→ R-08: Corrupción de datos de entrenamiento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Recursos Humanos: 1 riesgo | CE: Q 882 (4.2%)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→ R-02: Retraso en asignación de asesor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Operativo: 1 riesgo | CE: Q 120 (0.6%)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→ R-25: Error en impresión/empastado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0972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rPr dirty="0"/>
              <a:t>Top 5 </a:t>
            </a:r>
            <a:r>
              <a:rPr dirty="0" err="1"/>
              <a:t>Riesgos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Costo </a:t>
            </a:r>
            <a:r>
              <a:rPr dirty="0" err="1"/>
              <a:t>Esperado</a:t>
            </a:r>
            <a:endParaRPr dirty="0"/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1. R-10: Modelo OOM </a:t>
            </a:r>
            <a:r>
              <a:rPr dirty="0" err="1"/>
              <a:t>en</a:t>
            </a:r>
            <a:r>
              <a:rPr dirty="0"/>
              <a:t> 8GB RAM (CE: Q 1,600) → </a:t>
            </a:r>
            <a:r>
              <a:rPr dirty="0" err="1"/>
              <a:t>Mitigar</a:t>
            </a:r>
            <a:r>
              <a:rPr dirty="0"/>
              <a:t>: </a:t>
            </a:r>
            <a:r>
              <a:rPr dirty="0" err="1"/>
              <a:t>quantización</a:t>
            </a:r>
            <a:r>
              <a:rPr dirty="0"/>
              <a:t> 4-bit GGUF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2. R-05: </a:t>
            </a:r>
            <a:r>
              <a:rPr dirty="0" err="1"/>
              <a:t>Arquitectura</a:t>
            </a:r>
            <a:r>
              <a:rPr dirty="0"/>
              <a:t> no viable </a:t>
            </a:r>
            <a:r>
              <a:rPr dirty="0" err="1"/>
              <a:t>en</a:t>
            </a:r>
            <a:r>
              <a:rPr dirty="0"/>
              <a:t> M1 (CE: Q 1,500) → </a:t>
            </a:r>
            <a:r>
              <a:rPr dirty="0" err="1"/>
              <a:t>Mitigar</a:t>
            </a:r>
            <a:r>
              <a:rPr dirty="0"/>
              <a:t>: </a:t>
            </a:r>
            <a:r>
              <a:rPr dirty="0" err="1"/>
              <a:t>QLoRA</a:t>
            </a:r>
            <a:r>
              <a:rPr dirty="0"/>
              <a:t> 4-bit con MLX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3. R-13: Falla hardware </a:t>
            </a:r>
            <a:r>
              <a:rPr dirty="0" err="1"/>
              <a:t>durante</a:t>
            </a:r>
            <a:r>
              <a:rPr dirty="0"/>
              <a:t> </a:t>
            </a:r>
            <a:r>
              <a:rPr dirty="0" err="1"/>
              <a:t>entrenamiento</a:t>
            </a:r>
            <a:r>
              <a:rPr dirty="0"/>
              <a:t> (CE: Q 1,500) → </a:t>
            </a:r>
            <a:r>
              <a:rPr dirty="0" err="1"/>
              <a:t>Mitigar</a:t>
            </a:r>
            <a:r>
              <a:rPr dirty="0"/>
              <a:t>: checkpointing + backup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4. R-14: Modelo no </a:t>
            </a:r>
            <a:r>
              <a:rPr dirty="0" err="1"/>
              <a:t>supera</a:t>
            </a:r>
            <a:r>
              <a:rPr dirty="0"/>
              <a:t> baseline (CE: Q 1,500) → </a:t>
            </a:r>
            <a:r>
              <a:rPr dirty="0" err="1"/>
              <a:t>Mitigar</a:t>
            </a:r>
            <a:r>
              <a:rPr dirty="0"/>
              <a:t>: </a:t>
            </a:r>
            <a:r>
              <a:rPr dirty="0" err="1"/>
              <a:t>ajuste</a:t>
            </a:r>
            <a:r>
              <a:rPr dirty="0"/>
              <a:t> </a:t>
            </a:r>
            <a:r>
              <a:rPr dirty="0" err="1"/>
              <a:t>hiperparámetros</a:t>
            </a:r>
            <a:r>
              <a:rPr dirty="0"/>
              <a:t>, data augmentation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rPr dirty="0"/>
              <a:t>5. R-12: Thermal throttling M1 (CE: Q 1,350) → </a:t>
            </a:r>
            <a:r>
              <a:rPr dirty="0" err="1"/>
              <a:t>Mitigar</a:t>
            </a:r>
            <a:r>
              <a:rPr dirty="0"/>
              <a:t>: </a:t>
            </a:r>
            <a:r>
              <a:rPr dirty="0" err="1"/>
              <a:t>entrenamiento</a:t>
            </a:r>
            <a:r>
              <a:rPr dirty="0"/>
              <a:t> </a:t>
            </a:r>
            <a:r>
              <a:rPr dirty="0" err="1"/>
              <a:t>nocturno</a:t>
            </a:r>
            <a:r>
              <a:rPr dirty="0"/>
              <a:t> + </a:t>
            </a:r>
            <a:r>
              <a:rPr dirty="0" err="1"/>
              <a:t>ventilación</a:t>
            </a:r>
            <a:r>
              <a:rPr dirty="0"/>
              <a:t> externa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54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REGISTRO DE LECCIONES APRENDIDAS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Conocimiento para mejorar desempeño actual y futuro | PMBOK 8va, Riesgos y General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598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90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57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6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539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2291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22514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Lección Aprendida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Causa Raíz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Recomendación para Futuro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LL-001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Validar calendario antes de planificar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Crash ProjectLibre por &lt;Exceptions&gt; sin &lt;RecurrenceType&gt;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Probar XML en ProjectLibre antes de entregar; verificar compatibilidad de herramientas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LL-002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Anticipar asignación de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Demora en asignación afectó revisiones tempranas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Contactar candidatos desde la inscripción del tema; tener opciones de respaldo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LL-003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Validar hardware antes de diseñar arquitectura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8GB RAM obligó quantización agresiva (4-bit)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Hacer PoC de memoria antes de diseñar pipeline completo; probar con modelo pequeño primero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LL-004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Versionar datos y checkpoints desde el 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Corrupción de datos requirió reprocesar 31h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Usar DVC/Git LFS; checkpointing automático cada 100 steps; backup en nube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LL-005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minutas de todas las reuniones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Observaciones verbales del asesor se olvidaron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Enviar minuta en 24h post-reunión; confirmar entendimiento con el asesor por email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251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LL-006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Reservar margen para correcciones del jurado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Espera por nota y correcciones puede extenderse más allá de lo planificado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Solicitar defensa con 2 semanas de anticipación; tener semana buffer post-defensa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5200000"/>
            <a:ext cx="10972800" cy="914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68580" bIns="6858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Proceso de Lecciones Aprendidas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Recolección: Al finalizar cada fase del proyecto (5 momentos: Inicio, Planificación, Ejecución, M&amp;C, Cierre)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Análisis: Técnica de los 5 Porqués (5 Whys) para identificar causa raíz de cada desviación o problema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Documentación: Formato estandarizado en el Registro de Lecciones Aprendidas (parte de este Plan de Dirección)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Difusión: Incluir en repositorio GitHub del proyecto; compartir con futuros tesistas de FING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6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PLAN DE DIRECCIÓN DEL PROYECTO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8DCF0"/>
                </a:solidFill>
                <a:latin typeface="Calibri"/>
              </a:defRPr>
            </a:pPr>
            <a:r>
              <a:t>LoRA-HDL-QA — Proyecto de Graduación FING/UNIS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49040"/>
            <a:ext cx="1036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DCF0"/>
                </a:solidFill>
                <a:latin typeface="Calibri"/>
              </a:defRPr>
            </a:pPr>
            <a:r>
              <a:t>Total: 55 diapositivas | PMBOK 8va Edición | 7 Dominios de Desempeño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9768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Pablo Rodolfo Alexander Flores Mollinedo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54880"/>
            <a:ext cx="1036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DCF0"/>
                </a:solidFill>
                <a:latin typeface="Calibri"/>
              </a:defRPr>
            </a:pPr>
            <a:r>
              <a:t>Universidad del Istmo de Guatemala — FING | Febrero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</TotalTime>
  <Words>11528</Words>
  <Application>Microsoft Macintosh PowerPoint</Application>
  <PresentationFormat>Widescreen</PresentationFormat>
  <Paragraphs>2194</Paragraphs>
  <Slides>55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RODOLFO ALEXANDER FLORES MOLLINEDO</cp:lastModifiedBy>
  <cp:revision>4</cp:revision>
  <dcterms:created xsi:type="dcterms:W3CDTF">2013-01-27T09:14:16Z</dcterms:created>
  <dcterms:modified xsi:type="dcterms:W3CDTF">2026-05-01T01:58:08Z</dcterms:modified>
  <cp:category/>
</cp:coreProperties>
</file>