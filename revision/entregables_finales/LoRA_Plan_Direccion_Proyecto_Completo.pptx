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5"/>
    <p:sldId id="275" r:id="rId4"/>
    <p:sldId id="276" r:id="rId3"/>
    <p:sldId id="277" r:id="rId2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20.xml"/><Relationship Id="rId5" Type="http://schemas.openxmlformats.org/officeDocument/2006/relationships/slide" Target="slides/slide19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57200"/>
            <a:ext cx="1036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4285F4"/>
                </a:solidFill>
                <a:latin typeface="Calibri"/>
              </a:defRPr>
            </a:pPr>
            <a:r>
              <a:t>UNIVERSIDAD DEL ISTMO DE GUATEMALA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91440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DCF0"/>
                </a:solidFill>
                <a:latin typeface="Calibri"/>
              </a:defRPr>
            </a:pPr>
            <a:r>
              <a:t>Facultad de Ingeniería (FING)  |  Ingeniería en Sistemas y CC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PLAN DE DIRECCIÓN DEL PROYECTO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92608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CF0"/>
                </a:solidFill>
                <a:latin typeface="Calibri"/>
              </a:defRPr>
            </a:pPr>
            <a:r>
              <a:t>PMBOK 8va Edición — todos los documentos de iniciación y planificación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1036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Proyecto: LoRA-HDL-QA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DCF0"/>
                </a:solidFill>
                <a:latin typeface="Calibri"/>
              </a:defRPr>
            </a:pPr>
            <a:r>
              <a:t>PM: Pablo Rodolfo Alexander Flores Mollinedo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754880"/>
            <a:ext cx="1036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DCF0"/>
                </a:solidFill>
                <a:latin typeface="Calibri"/>
              </a:defRPr>
            </a:pPr>
            <a:r>
              <a:t>Febrero — Septiembre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GOBERNANZA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Un modelo de gestión alineado con los objetivos institucionales. Define estructuras de autoridad, toma de decisiones, y mecanismos de control del proyecto.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ACTA DE CONSTITUCIÓN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Documento formal que autoriza el proyecto | PMBOK 8va, Gobernanza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Información General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Proyecto: LoRA-HDL-QA — Degradación Catastrófica en Fine-Tuning LoRA para HDL/QA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PM: Pablo R. A. Flores Mollinedo | Director: Ing. Estuardo Rodríguez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Asesor: Por asignar | Período: Feb — Oct 2026 (1,287 h planificadas)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Tipo: Proyecto de graduación FING/UNIS — trabajo individual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Caso de Negocio y Objetivos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Trabajo de graduación para cierre de pensum en Ingeniería en Sistemas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Investigar impacto de estrategias de preprocesamiento en fine-tuning LoRA para generación HDL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Contribuir al campo de ML aplicado a diseño de hardware con evidencia experimental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Objetivo: paper de investigación + repositorio reproducible + defensa oral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Entregables de Alto Nivel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Anteproyecto aprobado por comité evaluador FING (Mar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Paper de investigación comparativo (2 configuraciones LoRA evaluadas en VerilogEval v2)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Repositorio GitHub público con scripts, pesos .safetensors, y resultados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Informe final formato FING/IMRaD + defensa oral ante jurado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92608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Hitos Clave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Inicio: Feb 02 | Inscripción + asesor: Feb 02-16 | Plan proyecto: Feb 17-26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Anteproyecto: Feb 26 — Mar 25 | Diseño metodológico: Mar 25 — Abr 08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Ejecución (entrenamiento + evaluación): Abr 08 — Ago 17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Cierre (correcciones + defensa): Ago 17 — Sep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Presupuesto Estimado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Mano de obra: 1,287h × Q 80/hr = Q 102,960 directos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Equipo MacBook M1: Q 6,000 | Materiales: Q 800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contingencia: Q 20,846 | Reserva de gestión: Q 700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TOTAL: Q 131,306 (incluye reservas)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448056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Interesados Clave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Director de Carrera: aprueba tema, supervisa defensa, resuelve conflictos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Asesor: orientación técnica, revisión de entregables, aprobación final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Comité evaluador: evalúa anteproyecto y defensa oral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Pablo Flores (PM/Tesista): ejecución total del proyecto, gestión y 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3000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666666"/>
                </a:solidFill>
                <a:latin typeface="Calibri"/>
              </a:defRPr>
            </a:pPr>
            <a:r>
              <a:t>Autoridad del PM: gestionar cronograma, presupuesto, y alcance. Escalar decisiones que afecten normativa UNIS al Director.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REGISTRO DE SUPUESTOS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Supuestos documentados durante la iniciación | PMBOK 8va, Gobernanza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5303520"/>
                <a:gridCol w="914400"/>
                <a:gridCol w="2286000"/>
              </a:tblGrid>
              <a:tr h="44888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Supuesto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Certidumbre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Responsable de Validación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Disponibilidad de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 contará con un asesor asignado antes del 16 de febrero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 de Carrera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adecuado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Air M1 8GB es suficiente para fine-tuning LoRA con quantización 4-bit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Datasets públicos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Existen datasets HDL/QA públicos de calidad suficiente para fine-tuning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Normativa estable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 reglamento de graduación FING no cambiará durante 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 de Carrera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Disponibilidad del 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 tesista mantendrá disponibilidad 100% durante el período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Acceso a software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Python, HuggingFace, MLX, y librerías asociadas estarán disponibles sin costo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Plazos institucionales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Los tiempos de respuesta institucional no excederán 10 días hábiles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FING/UNIS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Modelo base accesible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Qwen3-4B será accesible en HuggingFace y cargable en 8GB 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/>
                </a:tc>
              </a:tr>
              <a:tr h="44888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VerilogEval funcional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 benchmark VerilogEval v2 será ejecutable en entorno ARM/M1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PM/Tesista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4889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Sin cambios mayores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habrá cambios en el alcance del proyecto una vez aprobado el 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+ Asesor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INTERESADOS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Identificación, análisis, involucramiento y comunicación efectiva con todas las partes interesadas del proyecto.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REGISTRO DE INTERESADOS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Identificar, clasificar y documentar a todos los interesados | PMBOK 8va, Interesados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377440"/>
                <a:gridCol w="1280160"/>
                <a:gridCol w="914400"/>
                <a:gridCol w="914400"/>
                <a:gridCol w="2743200"/>
              </a:tblGrid>
              <a:tr h="379827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Nombre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 en el Proyecto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Clasificación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Poder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Interés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Estrategia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Pablo Flores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/ Tesista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de cerca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Orientador 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de cerca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 de Carrera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Autoridad académica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satisfecho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Comité Evaluador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satisfecho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Jurado de Defensa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final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satisfecho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Coordinador de Tesis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Procesos administrativos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de cerca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Biblioteca FING/UNIS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Recepción y archivo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Estudiantes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Audiencia académica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Comunidad ML/HW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Investigadores en 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HuggingFace /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Plataformas de publicación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informado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UNIS — Rectoría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Aval institucional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Familia 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Apoyo logístico y moral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Bajo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Mantener informado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DEL INVOLUCRAMIENTO DE LOS INTERESADOS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Estrategias por grupo para promover participación productiva | PMBOK 8va, Interesados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Pablo Flores (PM)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Líder, ejecutor, controlador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100% diario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Reportes de avance, reuniones semanales, actualización cronograma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860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Asesor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Revisor técnico, mentor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Reunión semanal 1h + revisión hitos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Minutas de reunión, borradores para revisión, reportes de avance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Director de Carrera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Aprobador, escalamiento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Hitos: inicio, anteproyecto, defensa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Solicitudes formales, notificaciones de hitos, reportes de estado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41148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Comité Evaluador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Evaluador de anteproyecto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Marzo 2026 (único)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Documento de anteproyecto impreso y digital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292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Jurado de Defensa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Evaluador final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Septiembre 2026 (único)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Informe final, presentación defensa, demo técnico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943600"/>
            <a:ext cx="112776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Coordinador de Tesis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Gestor de trámites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Frecuencia: Según necesidad administrativa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Enfoque: Formularios, solicitudes, constancias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 LAS COMUNICACIONES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Políticas para gestionar comunicaciones | PMBOK 8va, Interesados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28800"/>
                <a:gridCol w="1371600"/>
                <a:gridCol w="1828800"/>
                <a:gridCol w="2560320"/>
                <a:gridCol w="1645920"/>
              </a:tblGrid>
              <a:tr h="5486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Comunicación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 → Para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Frecuencia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Medio / Canal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Receptor Final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Reunión semanal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Semanal (1h)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Presencial / Zoom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Minuta en 24h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Reporte de avance 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 + Director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+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EVM: SPI, SV, CPI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Director, Asesor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Notificación de hitos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 + Director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 completar hitos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formal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o documento del hito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Director,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Solicitud de cambio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Según necesidad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Formato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en 5 días hábiles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Notificación de riesgos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 detectarse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/ WhatsApp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Registro de riesgos actualizado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de documento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Asesor / Comité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 completar versiones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PDF + impreso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Acuse de recibo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Director, Comité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oral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Jurado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 2026 (único)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Presencial UNIS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Presentación + demo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Jurado, Director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Publicación en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 → Comunidad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Post-defensa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Repositorio público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+ instrucciones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Comunidad ML/HW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MATRIZ DE COMUNICACIONES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Detalle de flujos de información entre interesados | PMBOK 8va, Interesados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645920"/>
                <a:gridCol w="2560320"/>
                <a:gridCol w="2743200"/>
                <a:gridCol w="1828800"/>
              </a:tblGrid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Tipo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Medio/Canal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Frecuencia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Formato/Entregable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Audiencia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Responsable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Reunión semanal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Presencial/Zoom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Semanal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Minuta de reunión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Avance 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+ PDF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Mensual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de avance (EVM)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Asesor, Director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Alerta de riesgo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WhatsApp/Email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Inmediato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Notificación de riesgo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Cualquiera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Solicitud de cambio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Formato + 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Según necesidad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RFC (Request for Change)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Convocatoria defensa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 formal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Una vez (Sep 2026)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Carta de convocatoria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Director, Jurado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Publicación 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GitHub / HuggingFace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Post-defensa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+ paper + pesos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Comunidad global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Consulta normativa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Email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Según necesidad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Solicitud formal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PM, Coordinador Tesis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ALCANCE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Definición, validación y control del alcance del proyecto y del producto. Incluye requisitos, EDT, y trazabilidad.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DEL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Define cómo se planificará, gestionará y controlará el alcance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Proceso de Definición del Alcance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1. Recopilar requisitos: entrevistas con asesor, análisis de normativa FING, revisión de literatura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2. Elaborar Enunciado del Alcance: descripción, entregables, criterios de aceptación, exclusiones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3. Crear EDT/WBS: descomposición jerárquica hasta nivel 4 (paquetes de trabajo de 3-31h)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4. Validar alcance con asesor y Director de Carrera antes de congelar línea base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Control del Alcance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Línea base congelada tras aprobación del anteproyecto (Mar 2026)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Cualquier cambio requiere Solicitud de Cambio formal → evaluación asesor → aprobación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Métricas: % de paquetes EDT completados vs planificados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Verificación: entregables validados contra criterios de aceptación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Exclusiones del Alcance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desarrollo de hardware (FPGA/ASIC) ni pruebas en silicio real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entrenamiento en clusters GPU multi-nodo (limitado a hardware M1 8GB local)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implementación de un IDE o herramienta de software interactiva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cubre fine-tuning de modelos mayores a 4B parámetros (restricción de RAM)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No incluye publicación en revistas indexadas (solo repositorio público y defensa oral FING)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 REQUISITOS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Define cómo se recopilarán, analizarán y gestionarán los requisitos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Recopilación de Requisitos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Fuentes: normativa FING, guía de tesis UNIS, reuniones con asesor, papers de referencia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Técnicas: entrevistas estructuradas con asesor, análisis documental, benchmark de proyectos similares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Clasificación: RF (Funcionales), RNF (No Funcionales), RP (Procedimentales)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Priorización: MoSCoW — Must have (M), Should have (S), Could have (C), Won't have (W)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4630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Trazabilidad y Validación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Matriz de trazabilidad: cada requisito vinculado a EDT, entregable y criterio de aceptación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Validación: revisión con asesor en hitos de planificación y cierre de fase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Verificación: scripts de prueba automatizados para requisitos técnicos (RNF-01, RF-01)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Control de cambios: modificaciones a requisitos siguen proceso formal de gestión de cambios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10896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Métricas y KPIs de Requisitos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Cobertura de trazabilidad: 100% de requisitos con EDT, entregable y criterio de aceptación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Tasa de aprobación: % de requisitos validados por asesor vs total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Estabilidad: número de cambios a requisitos post-aprobación del anteproyecto (meta: &lt;3)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• Cumplimiento: % de criterios de aceptación satisfechos al cierre de cada fase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DOCUMENTACIÓN DE 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Registro y clasificación de requerimientos | PMBOK 8va, Alcance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828800"/>
                <a:gridCol w="640080"/>
                <a:gridCol w="914400"/>
                <a:gridCol w="1645920"/>
                <a:gridCol w="3474720"/>
              </a:tblGrid>
              <a:tr h="386861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Propósito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Prioridad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Origen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Criterio de Aceptación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configuraciones fine-tuning LoRA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Comparar chunking vs filtrado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archivos .safetensors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Evaluar con VerilogEval v2 (156 prob.)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Benchmark estandarizado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 + JSON 156 entradas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Cuantificar corrupción en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Reproducir hallazgo del paper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verify_paper_numbers.py ejecutable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verificación reproducción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Reproducibilidad científica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sin errores en entorno limpio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real (M1 8GB)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Condición experimental real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Logs con ID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formato FING + IMRaD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Requisito de grado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E-07, 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asesor + tribunal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Repositorio estructura clara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Divulgación científica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instrucciones reproducción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Cronograma máximo 360h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Restricción institucional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Registro horas ≤ 360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+ asesor (Feb.)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+ carta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aprobado (Mar.)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Visto bueno Director + Asesor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Avances ejecución (Abr-Ago)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E-03, E-07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Documentos entregados y revisados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686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+ entrega final (Sep.)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Procedimiento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E-09, 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defensa + constancia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ENUNCIADO DEL ALCANCE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Descripción detallada del alcance, entregables, criterios de aceptación y exclusiones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200" b="1">
                <a:solidFill>
                  <a:srgbClr val="1A2744"/>
                </a:solidFill>
                <a:latin typeface="Calibri"/>
              </a:defRPr>
            </a:pPr>
            <a:r>
              <a:t>Descripción del Alcance del Producto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Investigación científica documentada sobre el impacto del preprocesamiento de datos de entrenamiento en la degradación catastrófica de fine-tuning LoRA para generación de HDL.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Dos configuraciones experimentales: (a) filtrado de datasets por calidad, (b) chunking estratégico del corpus de entrenamiento.</a:t>
            </a:r>
          </a:p>
          <a:p>
            <a:pPr>
              <a:spcAft>
                <a:spcPts val="100"/>
              </a:spcAft>
              <a:defRPr sz="1000">
                <a:solidFill>
                  <a:srgbClr val="333333"/>
                </a:solidFill>
                <a:latin typeface="Calibri"/>
              </a:defRPr>
            </a:pPr>
            <a:r>
              <a:t>Evaluación comparativa usando VerilogEval v2 (156 problemas) con métricas BLEU, exactitud sintáctica, y PASS@k.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34640"/>
            <a:ext cx="548640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Entregables del Proyecto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E-01: Inscripción formal del tema (Feb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E-02: Anteproyecto aprobado (Mar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E-03: Avances de ejecución (Abr-Ago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E-04: Scripts y repositorio (Ago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E-05: Modelos LoRA fine-tuned (.safetensors)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E-06: Resultados de benchmark (JSON + gráficas)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E-07: Informe final formato FING/IMRaD (Ago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E-08: Cronograma y registro de horas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E-09: Defensa oral (Sep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E-10: Entrega final a Biblioteca FING (Sep 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834640"/>
            <a:ext cx="50292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Criterios de Aceptación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Anteproyecto: aprobado por comité evaluador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Informe final: aprobado por asesor y tribunal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Repositorio: README + instrucciones de reproducción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Scripts: ejecutables sin errores en entorno limpio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931920"/>
            <a:ext cx="50292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Restricciones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Hardware: MacBook Air M1 8GB RAM (no GPU dedicada)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Tiempo: máximo 360 horas de esfuerzo efectivo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Presupuesto: Q 6,800 máximo en no-humanos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Alcance: 2 configuraciones LoRA comparativas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29200"/>
            <a:ext cx="109728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Exclusiones Explícitas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 incluye desarrollo de hardware (FPGA/ASIC) | No incluye implementación de herramienta de software | No cubre modelos &gt;4B parámetros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 incluye publicación en revistas indexadas | No incluye entrenamiento multi-GPU | No cubre más de 2 configuraciones experimentales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EDT / WBS — ESTRUCTURA DE DESGLOSE DEL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Descomposición jerárquica del alcance total en 16 paquetes de trabajo | PMBOK 8va, Alcance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23444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A2744"/>
                </a:solidFill>
                <a:latin typeface="Calibri"/>
              </a:defRPr>
            </a:pPr>
            <a:r>
              <a:t>Diagrama EDT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554480"/>
            <a:ext cx="2743200" cy="457200"/>
          </a:xfrm>
          <a:prstGeom prst="round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Proyecto de Graduación</a:t>
            </a:r>
          </a:p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LoRA-HDL-QA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286000"/>
            <a:ext cx="2011680" cy="45720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INICIO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68880" y="2286000"/>
            <a:ext cx="2011680" cy="45720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PLANIFICACIÓN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2286000"/>
            <a:ext cx="2011680" cy="45720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EJECUCIÓN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286000"/>
            <a:ext cx="2011680" cy="45720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MONITOREO</a:t>
            </a:r>
          </a:p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Y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2286000"/>
            <a:ext cx="2011680" cy="45720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CIERRE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280160" y="2011680"/>
            <a:ext cx="4663440" cy="27432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474720" y="2011680"/>
            <a:ext cx="2468880" cy="27432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669280" y="2011680"/>
            <a:ext cx="274320" cy="27432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943600" y="2011680"/>
            <a:ext cx="1920240" cy="27432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943600" y="2011680"/>
            <a:ext cx="4114800" cy="27432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54320" y="2926080"/>
            <a:ext cx="835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Inscripción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del Tema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0160" y="2926080"/>
            <a:ext cx="835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Asignación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de Asesor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06000" y="2926080"/>
            <a:ext cx="835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Plan del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Proyecto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71800" y="2926080"/>
            <a:ext cx="835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Anteproyecto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0480" y="2926080"/>
            <a:ext cx="835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Diseño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Metodológico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7760" y="2926080"/>
            <a:ext cx="810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Marco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Teórico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17600" y="2926080"/>
            <a:ext cx="810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Preproc.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de Datos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97440" y="2926080"/>
            <a:ext cx="810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Entrenam.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LoRA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37760" y="3570480"/>
            <a:ext cx="810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Evaluación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Benchmark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17600" y="3570480"/>
            <a:ext cx="810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Análisis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Resultados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97440" y="3570480"/>
            <a:ext cx="810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Redacción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Informe Final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38000" y="2926080"/>
            <a:ext cx="835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Seguimiento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54000" y="2926080"/>
            <a:ext cx="835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Control de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Cambios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50000" y="2926080"/>
            <a:ext cx="850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Correcciones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Finales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20000" y="2926080"/>
            <a:ext cx="850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Defensa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Pública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890000" y="2926080"/>
            <a:ext cx="850000" cy="5029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11430" bIns="11430"/>
          <a:lstStyle/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Entrega</a:t>
            </a:r>
          </a:p>
          <a:p>
            <a:pPr algn="ctr">
              <a:defRPr sz="700" b="1">
                <a:solidFill>
                  <a:srgbClr val="1A2744"/>
                </a:solidFill>
                <a:latin typeface="Calibri"/>
              </a:defRPr>
            </a:pPr>
            <a:r>
              <a:t>y Cierre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771820" y="2743200"/>
            <a:ext cx="50834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280160" y="2743200"/>
            <a:ext cx="41750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280160" y="2743200"/>
            <a:ext cx="134334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3389300" y="2743200"/>
            <a:ext cx="8542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3474720" y="2743200"/>
            <a:ext cx="78326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5355260" y="2743200"/>
            <a:ext cx="31402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5669280" y="2743200"/>
            <a:ext cx="56582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669280" y="2743200"/>
            <a:ext cx="144566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7355500" y="2743200"/>
            <a:ext cx="50834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863840" y="2743200"/>
            <a:ext cx="40766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>
            <a:off x="9567500" y="2743200"/>
            <a:ext cx="49090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058400" y="2743200"/>
            <a:ext cx="37910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058400" y="2743200"/>
            <a:ext cx="1249100" cy="1828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342760" y="2743200"/>
            <a:ext cx="326520" cy="8272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5669280" y="2743200"/>
            <a:ext cx="553320" cy="8272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669280" y="2743200"/>
            <a:ext cx="1433160" cy="827280"/>
          </a:xfrm>
          <a:prstGeom prst="line">
            <a:avLst/>
          </a:prstGeom>
          <a:ln w="12700">
            <a:solidFill>
              <a:srgbClr val="99999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280160" y="27432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1.1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74720" y="27432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1.2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0" y="27432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1.3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0" y="27432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1.4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432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1.5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DICCIONARIO DE LA EDT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Detalle de cada paquete de trabajo | PMBOK 8va, Alcance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103120"/>
                <a:gridCol w="2743200"/>
                <a:gridCol w="640080"/>
                <a:gridCol w="2743200"/>
                <a:gridCol w="2743200"/>
              </a:tblGrid>
              <a:tr h="29583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EDT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Paquete de Trabajo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Supuestos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del Tema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Formalizar el tema de tesis ante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de inscripción firmada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Reglamento FING vigente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formalizar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Carta de 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Disponibilidad docente FING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plan de dirección completo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aprobado por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PMBOK 8va Edición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y presentar 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aprobado por comité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Guía de anteproyecto FING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Diseño Metodológico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Diseñar experimentos y métricas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 metodológico aprobado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Papers de referencia LoRA/HDL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Marco Teórico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Fundamentos LLM, LoRA, HDL, 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Capítulo 2 del informe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Artículos científicos revisados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Preprocesamiento de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Limpiar, tokenizar y validar datasets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136h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Datasets procesados y documentados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Datasets HDL/QA públicos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LoRA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Fine-tuning con 2 configuraciones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adaptadores LoRA (.safetensors)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M1 8GB, quantización 4-bit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Benchmark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VerilogEval v2 y comparar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106h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Resultados benchmark (JSON + gráficas)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VerilogEval v2, scripts evaluación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de Resultados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Analizar y comparar métricas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Capítulo 4 del informe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Datos de benchmark recopilados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Redacción del Informe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informe en formato IMRaD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completo revisado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Normativa UNIS, guía IMRaD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Seguimiento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Monitorear avance y reuniones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Reportes de avance mensuales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Cronograma base, minutas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Control de Cambios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Gestionar solicitudes de cambio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 de cambios aprobados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 gestión de cambios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Correcciones Finales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correcciones del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 final aprobado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Retroalimentación del asesor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Pública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Preparar y realizar defensa oral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de defensa aprobatoria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Reglamento de defensa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y 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Entregar a biblioteca y cerrar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de Biblioteca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Normas de entrega UNIS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MATRIZ DE TRAZABILIDAD DE REQUERIMIENTOS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Trazabilidad bidireccional requisitos → EDT → entregables → criterios | PMBOK 8va, Alcance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286000"/>
                <a:gridCol w="365760"/>
                <a:gridCol w="914400"/>
                <a:gridCol w="1645920"/>
                <a:gridCol w="1645920"/>
                <a:gridCol w="3657600"/>
              </a:tblGrid>
              <a:tr h="35169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Origen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EDT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Entregable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Criterio de Aceptación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configuraciones fine-tuning LoRA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1.3.2, 1.3.3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 adaptadores con pesos .safetensors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Evaluar con VerilogEval v2 (156 prob.)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 benchmark; JSON 156 entradas</a:t>
                      </a:r>
                    </a:p>
                  </a:txBody>
                  <a:tcPr/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Cuantificar corrupción en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1.3.2, 1.3.5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E-04, E-06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verify_paper_numbers.py ejecutable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RF-04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verificación reproducción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sin errores en entorno limpio</a:t>
                      </a:r>
                    </a:p>
                  </a:txBody>
                  <a:tcPr/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real (M1 8GB)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Logs con ID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formato FING + IMRaD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1.3.6, 1.5.1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E-07, 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asesor y tribunal</a:t>
                      </a:r>
                    </a:p>
                  </a:txBody>
                  <a:tcPr/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Repositorio estructura clara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README + instrucciones reproducción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RNF-04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Cronograma máximo 360h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Registro horas ≤ 360 (foco ejecución)</a:t>
                      </a:r>
                    </a:p>
                  </a:txBody>
                  <a:tcPr/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+ asesor (Feb.)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1.1.1, 1.1.2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Constancia inscripción + carta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aprobado (Mar.)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Visto bueno Director + Asesor</a:t>
                      </a:r>
                    </a:p>
                  </a:txBody>
                  <a:tcPr/>
                </a:tc>
              </a:tr>
              <a:tr h="35169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Avances ejecución (Abr-Ago)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1.3.1, 1.3.6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E-03, E-07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Docs entregados y revisados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1696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RP-04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+ entrega final (Sep.)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NE-01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1.5.2, 1.5.3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E-09, 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Acta defensa + constancia Biblioteca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82880" y="6030000"/>
            <a:ext cx="1188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666666"/>
                </a:solidFill>
                <a:latin typeface="Calibri"/>
              </a:defRPr>
            </a:pPr>
            <a:r>
              <a:t>Cobertura: 12 requerimientos trazados a entregables y criterios de aceptación. Trazabilidad bidireccional 100%.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 CAMBIOS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Proceso formal para solicitar, evaluar y aprobar cambios | PMBOK 8va, 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Proceso de Control de Cambios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 IDENTIFICAR: Cualquier interesado detecta necesidad de cambio en alcance, tiempo, costo o calidad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 REGISTRAR: Completar formato de Solicitud de Cambio (RFC) con: descripción, justificación, impacto estimado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 EVALUAR: PM analiza impacto en triple restricción (alcance/cronograma/costo) y riesgos asociados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 REVISAR: Asesor revisa RFC en máximo 5 días hábiles, puede solicitar más información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 DECIDIR: Aprobar (implementar), Rechazar (documentar razón), o Diferir (re-evaluar en próxima fase)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6. IMPLEMENTAR: Actualizar línea base, EDT, cronograma, y documentos afectados. Comunicar a interesados.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Autoridad de Aprobación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Cambios ≤5% desviación: PM puede aprobar directamente (informar al asesor)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Cambios 5-15% desviación: Requiere aprobación del asesor con revisión técnica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Cambios &gt;15% desviación o que afecten normativa: Escalar al Director de Carrera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Emergencias (riesgo crítico): PM implementa respuesta inmediata, documenta post-facto en 48h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566160"/>
            <a:ext cx="10972800" cy="8229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Herramientas y Registros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Formato RFC en Excel/Google Sheets vinculado al cronograma | Log de cambios con trazabilidad a EDT | Revisión en reuniones quincenales | Actualización de línea base solo tras aprobación formal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SOLICITUD DE CAMBIO (RFC) — FORMATO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Formato estándar para solicitudes de cambio | PMBOK 8va, Alcance (opcional según normativa)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RFC ID: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371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RFC-NNN (auto-incremental)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Fecha Solicitud: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3716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DD/MM/YYYY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Solicitante: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7373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Nombre y 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7373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Prioridad: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1737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Alta / Media / Baja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1031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Descripción del Cambio: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103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Justificación: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4688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¿Por qué es necesario el cambio?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8346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Alcance: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28346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Paquetes EDT afectados, entregables modificados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2004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Cronograma: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2004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Δ horas estimadas, nueva fecha de finalización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5661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Costo: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5661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Δ costo estimado en 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931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Impacto en Riesgos: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3931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Nuevos riesgos o modificación de existentes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9768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Alternativas Consideradas: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2976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Otras opciones evaluadas y razón de descarte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Decisión: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6634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Aprobado / Rechazado / Diferido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6634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Fecha Decisión: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46634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DD/MM/YYYY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0292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A2744"/>
                </a:solidFill>
                <a:latin typeface="Calibri"/>
              </a:defRPr>
            </a:pPr>
            <a:r>
              <a:t>Firmas: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50292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333333"/>
                </a:solidFill>
                <a:latin typeface="Calibri"/>
              </a:defRPr>
            </a:pPr>
            <a:r>
              <a:t>Solicitante: ______  |  PM: ______  |  Asesor: ______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ESTRATEGIA DE ADQUISICIONES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Estrategia para adquirir recursos externos | PMBOK 8va, 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Estrategia General de Adquisiciones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Contexto: Proyecto académico individual de graduación. La naturaleza del proyecto (investigación + desarrollo experimental) implica que la mayoría de los recursos son internos (esfuerzo del tesista, hardware propio, software open-source).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Adquisiciones requeridas: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Equipo: MacBook Air M1 2020 — ya adquirido (costo hundido Q 6,000). Alternativa: usar laboratorio FING si falla hardware.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Software: Python, HuggingFace, MLX, VerilogEval — todo open-source sin costo de licencia.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Datasets: Repositorios públicos (HuggingFace datasets, GitHub) — descarga gratuita.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Materiales: Impresión y empastado (3 copias × Q 150 = Q 450) — proveedor local, cotización simple.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Papelería y misceláneos: Q 350 — compra directa sin licitación.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Estrategia: Compra directa por bajo monto (&lt; Q 5,000). No se requiere proceso de licitación formal por ser proyecto académico. El PM tiene autoridad para adquirir materiales menores. Equipamiento se usa recurso propio existente.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ADQUISICIONES — DECISIONES DE INTERNALIZACIÓN O EXTERNALIZACIÓN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Análisis Make-or-Buy | PMBOK 8va, Alcance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103120"/>
                <a:gridCol w="2103120"/>
                <a:gridCol w="457200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Recurso/Actividad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Decisión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Justificación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LoRA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Conocimiento técnico del tesista; hardware propio; control total del proceso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Benchmark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Scripts propios; ejecución local; reproducibilidad científica requerida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Redacción de informe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Requisito de grado; debe ser trabajo original del estudiante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técnica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 (Asesor)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Honorarios institucionales FING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Asesor designado por FING; costo cubierto por la universidad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Impresión y empastado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 (Proveedor)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450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Servicio especializado; bajo costo; 3 copias requeridas por normativa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Corrección de estilo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(Tesista)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Cubierto en fase de correcciones finales (EDT 1.5.1); sin costo adicional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Software y herramientas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Externo (Open-source)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Gratuito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Python, HuggingFace, MLX: licencias libres; descarga directa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Hardware computacional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Interno (Propio)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6,000 (costo hundido)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M1 ya adquirido; si falla, alternativa: laboratorio FING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ADQUISICIONES — CRITERIOS DE SELECCIÓN DE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Criterios para evaluar y seleccionar proveedores | PMBOK 8va, Alcance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1945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Criterios de Selección — Proveedores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Para servicios de impresión y empastado: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 Calidad: muestras de trabajos previos (portadas, encuadernación)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 Precio: cotización ≤ Q 200 por copia completa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 Tiempo de entrega: ≤ 3 días hábiles por copia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 Ubicación: cercanía a campus UNIS o zona 15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 Referencias: recomendaciones de tesistas previos FING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Proveedores evaluados (ejemplo):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Copistería UNIS: Q 150/copia, 2 días, en campus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PrintCenter Z15: Q 180/copia, 1 día, a 2km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TesisExpress Online: Q 200/copia, 5 días, envío incluido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1945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Criterios de Selección — Recursos Digitales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Para datasets y modelos: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 Licencia: open-source (MIT, Apache 2.0, CC-BY) verificable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 Calidad: documentación, papers asociados, benchmarks conocidos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 Comunidad: actividad en GitHub, issues, actualizaciones recientes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 Compatibilidad: formato compatible con HuggingFace datasets/datasets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 Tamaño: factible de procesar en M1 8GB (≤ 1GB por dataset)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Datasets seleccionados: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VerilogEval v2 (156 problemas, GitHub, MIT license)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HDL dataset de HuggingFace (código VHDL/Verilog etiquetado)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Dataset sintético generado con GPT-4 (como respaldo)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CRONOGRAMA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Planificación, desarrollo, monitoreo y control del cronograma. Incluye definición de actividades, secuenciación, estimación de duraciones y línea base.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PLAN DE GESTIÓN DEL 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Políticas, procedimientos y documentación para gestionar el cronograma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Metodología y Herramientas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Bottom-up estimating desde EDT nivel 4 (110 actividades)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Herramienta: ProjectLibre (CPM + baseline + exportación Gantt)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Calendario: Guatemala 2026 — lun-sáb 8h/día (08:00-12:00, 13:00-17:00)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Unidades: Horas de trabajo efectivas. Precisión ±10% en nivel 4 EDT.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834640"/>
            <a:ext cx="5486400" cy="10972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Umbrales de Control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Verde: &lt;5% de desviación — normal, sin acción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Amarillo: 5-15% desviación — plan de recuperación en 1 semana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Rojo: &gt;15% desviación — escalamiento al Director de Carrera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71600"/>
            <a:ext cx="50292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Formato de Reporte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S-curve mensual (PV, EV, AC) para seguimiento visual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EVM: SPI, SV para medir eficiencia del cronograma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Actualización: quincenal con asesor, registro de cambios en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834640"/>
            <a:ext cx="5029200" cy="10972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Revisión y Aprobación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Quincenal con asesor en reuniones de seguimiento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Registro de cambios en log de cronograma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Línea base congelada post-aprobación anteproyecto (Mar 2026)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LÍNEA BASE DEL 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Cronograma aprobado contra el cual se mide el desempeño | PMBOK 8va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914400"/>
                <a:gridCol w="3657600"/>
                <a:gridCol w="1828800"/>
                <a:gridCol w="182880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 (LB)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Alcance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 LB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 LB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02 → Feb 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Inscripción, asesor, plan de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02,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 → Abr 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Anteproyecto, diseño metodológico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08, 2026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08 → Ago 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Marco teórico, entrenamiento, evaluación, informe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08,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17,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MONITOREO 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 → Mar 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86h*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Seguimiento y control de cambios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26,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 13, 2026*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17 → Sep 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Correcciones, defensa, entrega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17,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 14,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09728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Notas sobre la Línea Base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La línea base del cronograma es la versión aprobada del cronograma que se utiliza para comparar el desempeño real.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Fecha de congelamiento: posterior a la aprobación del anteproyecto por el comité evaluador (~Mar 25, 2026).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La línea base solo se modifica mediante solicitudes de cambio aprobadas formalmente.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* M&amp;C tiene actividades distribuidas a lo largo del proyecto; el bloque principal está en Feb-Mar.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Duración total del proyecto: 225 días calendario (Feb 02 → Sep 14, 2026). Horas efectivas: 1,287h.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Se utiliza calendario Guatemala 2026 (lun-sáb 8h/día). Domingos y feriados no laborables.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CRONOGRAMA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Resumen gráfico de fases y duraciones | Feb — Sep 2026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INICIO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Feb 02 → Feb 26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156h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PLANIFICACIÓN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Feb 27 → Abr 08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248h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EJECUCIÓN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Abr 08 → Ago 17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784h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371600"/>
            <a:ext cx="2103120" cy="2560320"/>
          </a:xfrm>
          <a:prstGeom prst="roundRect">
            <a:avLst/>
          </a:prstGeom>
          <a:solidFill>
            <a:srgbClr val="C8D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MONITOREO Y CONTROL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Feb 27 → Mar 13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88h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371600"/>
            <a:ext cx="2103120" cy="2560320"/>
          </a:xfrm>
          <a:prstGeom prst="roundRect">
            <a:avLst/>
          </a:prstGeom>
          <a:solidFill>
            <a:srgbClr val="4285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CIERRE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Ago 17 → Sep 14</a:t>
            </a:r>
          </a:p>
          <a:p>
            <a:pPr algn="ctr">
              <a:defRPr sz="1100">
                <a:solidFill>
                  <a:srgbClr val="FFFFFF"/>
                </a:solidFill>
                <a:latin typeface="Calibri"/>
              </a:defRPr>
            </a:pPr>
            <a:r>
              <a:t>160h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389120"/>
            <a:ext cx="10972800" cy="914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DATOS DEL CRONOGRAMA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Métricas clave y datos de soporte del modelo de cronograma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Estadísticas del Cronograma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 de actividades en el modelo: 150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Actividades de trabajo (nivel 4): 110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Actividades de resumen (niveles 1-3): 27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Hitos (duración 0): 13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Duración total: 1,287 horas efectivas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Período: 2026-02-02 al 2026-09-14 (225 días calendario)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 de planificación: Ruta Crítica (CPM)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Calendario aplicado: Guatemala 2026 (lun-sáb, 8h/día)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Software: ProjectLibre 1.9.8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Ruta Crítica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 ruta crítica atraviesa las fases de: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INICIO → Inscripción → Asignación Asesor → Plan del Proyecto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→ PLANIFICACIÓN → Anteproyecto → Diseño Metodológico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→ EJECUCIÓN → Entrenamiento LoRA → Evaluación → Informe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→ CIERRE → Correcciones → Defensa → Entrega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Holgura total estimada: ~10% (principalmente en M&amp;C)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Los períodos de espera institucionales son parte de la ruta crítica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0972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Períodos de Espera (no laborables pero incluidos en el cronograma)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Resolución institucional (UID 8): 39h | Aprobación comité (UID 33): 31h | Retroalimentación 1ra (UID 100): 23h | Retroalimentación 2da (UID 102): 39h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Resolución jurado (UID 127): 23h | Total esperas institucionales: ~155h (12% del total de horas)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CALENDARIOS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Calendario guatemalteco completo 2026 con feriados oficiales | PMBOK 8va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Calendario Base — Guatemala 2026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Días laborables: Lunes a Sábado — Horario: 08:00-12:00 y 13:00-17:00 (8h/día efectivas)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Domingo: No laborable (descanso obligatorio por ley)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FERIADOS OFICIALES 2026 (no laborables):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1 Ene — Año Nuevo | • 2-4 Abr — Semana Santa (Jueves, Viernes, Sábado Santo)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1 May — Día del Trabajo | • 30 Jun — Día del Ejército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15 Sep — Día de la Independencia | • 20 Oct — Día de la Revolución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1 Nov — Día de Todos los Santos | • 24 Dic — Nochebuena (½ día)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25 Dic — Navidad | • 31 Dic — Fin de Año (½ día)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Feriados que afectan al proyecto (Feb—Sep 2026):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Semana Santa (2-4 Abr), Día del Trabajo (1 May), Día del Ejército (30 Jun), Independencia (15 Sep)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Recurso — Pablo Flores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Disponibilidad: 100% (tiempo completo) | Máximo: 8h/día laborable | Flexibilidad: hasta 10h/día en semanas críticas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Período activo: Feb 02 — Sep 14, 2026 (225 días) | Total horas planificadas: 1,287h efectivas | Promedio: ~5.7h/día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Nota técnica (ProjectLibre 1.9.8): Bug con &lt;Exceptions&gt; sin &lt;RecurrenceType&gt; causa crash.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Feriados documentados aquí pero NO en el XML por compatibilidad. Ajustar fechas manualmente en seguimiento.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80000"/>
            <a:ext cx="10972800" cy="2560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Períodos de Espera Institucionales (modelados como tareas en el cronograma)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Resolución institucional: 39h (Feb 6 → Feb 13) | • Aprobación comité: 31h (Mar 19 → Mar 25)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Retroalimentación 1ra revisión: 23h (Jul 29 → Ago 3) | • Retroalimentación 2da revisión: 39h (Ago 6 → Ago 12)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Resolución jurado: 23h (Sep 4 → Sep 9)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Total esperas: ~155h (12% del total). Estas esperas son tiempo calendario, no trabajo activo del tesista.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Impacto: Las esperas institucionales están en la ruta crítica. Cualquier extensión afecta la fecha de finalización.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Plan de contingencia: Si la espera supera 2 semanas sobre lo planificado, escalar al Director de Carrera.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(1/5)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22 de 110 actividades nivel 4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94360"/>
                <a:gridCol w="5029200"/>
                <a:gridCol w="502920"/>
                <a:gridCol w="1828800"/>
                <a:gridCol w="1828800"/>
              </a:tblGrid>
              <a:tr h="2304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normativo y reglamento de graduación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Delimitar el tema de investigación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2026-02-04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Preparar formularios y documentación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Presentar solicitud formal ante la facultad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Período de espera — resolución institucional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Recibir aprobación formal del tema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evaluar candidatos a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Contactar y reunirse con candidatos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2026-02-04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asesor definitivo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Formalizar carta de asignación del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Primera reunión de trabajo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alcance, supuestos y restricciones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2026-02-18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EDT (WBS)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cronograma y línea base de tiempo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2026-02-24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evaluar riesgos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plan de comunicación y seguimiento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y aprobación del plan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 literatura sobre el problema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planteamiento del problema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objetivos general y específicos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Plantear hipótesis de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5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Escribir justificación del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20000"/>
            <a:ext cx="11277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22 de 110 actividades nivel 4 | Fuente: LoRA-HDL-QA_Proyecto_2026.xml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(2/5)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22 de 110 actividades nivel 4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94360"/>
                <a:gridCol w="5029200"/>
                <a:gridCol w="502920"/>
                <a:gridCol w="1828800"/>
                <a:gridCol w="1828800"/>
              </a:tblGrid>
              <a:tr h="2304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documento completo de anteproyecto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del anteproyecto con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2026-03-18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Presentar anteproyecto ante comité evaluador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Período de espera — aprobación del comité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2026-03-25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y comparar metodologías de investigación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y justificar metodología adoptada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2026-03-31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Diseñar arquitectura general del experimento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2026-03-31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y seleccionar datasets HDL / QA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2026-04-02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Planificar pipeline de entrenamiento y evaluación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métricas y criterios de éxito del modelo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y aprobar diseño metodológico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LLMs y arquitecturas Transformer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LoRA y métodos PEFT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HDL — VHDL / Verilog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Rev. bibliográfica: QA en diseño digital y EDA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Fundamentos teóricos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2026-04-27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LoRA aplicado a generación HDL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sección — Estado del 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2026-04-30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del marco teórico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Corrección y ajuste del marco teórico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Catalogar datasets HDL / QA disponibles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5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Descargar y verificar integridad de datasets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20000"/>
            <a:ext cx="11277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22 de 110 actividades nivel 4 | Fuente: LoRA-HDL-QA_Proyecto_2026.xml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(3/5)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22 de 110 actividades nivel 4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94360"/>
                <a:gridCol w="5029200"/>
                <a:gridCol w="502920"/>
                <a:gridCol w="1828800"/>
                <a:gridCol w="1828800"/>
              </a:tblGrid>
              <a:tr h="2304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exploratorio de datos (EDA)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Limpieza y depuración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Tokenización y formateo para fine-tuning LLM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Transformación y normalización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2026-04-29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Validación de calidad e integridad del dataset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2026-04-30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pipeline de preprocesamiento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Configurar entorno Python / HuggingFace en MacBook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Instalar y verificar librerías PEFT / LoRA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Seleccionar y cargar modelo base LLM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cargador de datos HDL personalizado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2026-05-15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Configurar parámetros LoRA (r, alpha, dropout)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piloto (sanity check)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Analizar métricas de pérdida y accuracy del piloto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Ajustar hiperparámetros — iteración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2026-05-27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optimizado iteración 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2026-05-28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Ajustar hiperparámetros — iteración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2026-06-05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entrenamiento final (modelo definitivo)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Guardar, versionar y respaldar modelo entrenado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2026-06-12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proceso de entrenamiento completo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benchmarks existentes para LLM / HDL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métricas: BLEU, exactitud sintáctica, PASS@k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5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scripts de evaluación automatizada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20000"/>
            <a:ext cx="11277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22 de 110 actividades nivel 4 | Fuente: LoRA-HDL-QA_Proyecto_2026.xml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(4/5)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22 de 110 actividades nivel 4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94360"/>
                <a:gridCol w="5029200"/>
                <a:gridCol w="502920"/>
                <a:gridCol w="1828800"/>
                <a:gridCol w="1828800"/>
              </a:tblGrid>
              <a:tr h="2304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benchmark — modelo LoRA fine-tuned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Ejecutar benchmark — modelo base (baseline)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Comparar y analizar: LoRA vs baseline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resultados del benchmark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2026-06-29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Compilar y consolidar todas las métricas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estadístico descriptivo de resultados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Visualizar resultados (gráficas y tablas)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Comparar con modelos del estado del arte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Identificar fortalezas, limitaciones y trabajo futuro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análisis e interpretación de resultados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Definir estructura y capítulos del informe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1 — Introducción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Integrar cap. 2 — Marco teórico (ajustar)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3 — Metodología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2026-07-22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4 — Resultados y análisis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Redactar cap. 5 — Conclusiones y recomendaciones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2026-07-24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referencias bibliográficas (APA / IEEE)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formato y estilo según normativo UNIS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2026-07-29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Primera revisión con asesor (espera retroalim.)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2026-07-29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primera ronda de correcciones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Segunda revisión con asesor (espera retroalim.)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5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segunda ronda de correcciones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20000"/>
            <a:ext cx="11277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22 de 110 actividades nivel 4 | Fuente: LoRA-HDL-QA_Proyecto_2026.xml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ACTIVIDADES (5/5)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22 de 110 actividades nivel 4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80160"/>
          <a:ext cx="11277600" cy="5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594360"/>
                <a:gridCol w="5029200"/>
                <a:gridCol w="502920"/>
                <a:gridCol w="1828800"/>
                <a:gridCol w="1828800"/>
              </a:tblGrid>
              <a:tr h="23043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Actividad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Dur.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Planificar agenda y protocolo de reuniones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Conducir reuniones semanales con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79h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reportes de avance mensuales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Actualizar y monitorear cronograma del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Registrar solicitudes de cambio formales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Evaluar y aprobar cambios con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2026-03-05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Implementar cambios aprobados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2026-03-09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lecciones aprendidas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Recibir retroalimentación final del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correcciones finales al documento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Revisión de ortografía, gramática y estilo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Formatear documento final según normativo UNIS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2026-08-26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final y firma del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2026-08-31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Preparar presentación PowerPoint para defensa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2026-09-02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Elaborar material de apoyo y demo 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Realizar ensayos de presentación (mínimo 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2026-09-03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oral ante el jurado evaluador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Período de espera — resolución y nota del jurado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2026-09-09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Aplicar correcciones indicadas por el jurado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2026-09-09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Imprimir, empastar y preparar copias finales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2026-09-11</a:t>
                      </a:r>
                    </a:p>
                  </a:txBody>
                  <a:tcPr/>
                </a:tc>
              </a:tr>
              <a:tr h="230434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formal a biblioteca y facultad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30452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 administrativo del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620000"/>
            <a:ext cx="11277600" cy="1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700" i="1">
                <a:solidFill>
                  <a:srgbClr val="666666"/>
                </a:solidFill>
                <a:latin typeface="Calibri"/>
              </a:defRPr>
            </a:pPr>
            <a:r>
              <a:t>22 de 110 actividades nivel 4 | Fuente: LoRA-HDL-QA_Proyecto_2026.xml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ATRIBUTOS DE LA ACTIVIDAD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Campos que describen cada actividad del cronograma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37760"/>
                <a:gridCol w="3657600"/>
              </a:tblGrid>
              <a:tr h="3798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Atributo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Valores de Ejemplo / Notas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UID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Identificador único en el XML de ProjectLibre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Ej: 4, 5, 68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Nombre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Descripción de la actividad (verbo + objeto)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Revisar normativo y reglamento de graduación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Nivel EDT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1=Proyecto, 2=Fase, 3=Entregable, 4=Paquete trabajo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1, 2, 3, 4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Código WBS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Código de la EDT al que pertenece la actividad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1.1.1.4 (Inscripción del Tema)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Duración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Horas de trabajo efectivas (formato ISO 8601)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PT8H0M0S = 8 horas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y hora de inicio planificada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2026-02-02T08:00:00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Fin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Fecha y hora de finalización planificada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2026-02-02T17:00:00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Predecesoras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Tareas que deben completarse antes (FS)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4FS (termina UID 4, inicia esta)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Recurso Asignado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Recurso que ejecuta la tarea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Pablo Flores (UID 1)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Tipo de Tarea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Fixed Work / Fixed Duration / Fixed Units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Fixed Work (todas las tareas)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Calendario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Calendario aplicable a la tarea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UID 11: Guatemala - Feriados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Hito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TRUE si duración = 0, FALSE si 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FALSE (110 tareas de trabajo)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BASE DE LAS ESTIMACIONES Y ESTIMACIONES DE DURACIÓN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Fundamento de cada estimación + resumen por fase | PMBOK 8va, Cronograma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3774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Base de las Estimaciones — Duraciones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Metodología: Bottom-up desde EDT nivel 4. Unidad: horas efectivas (netas, sin pausas).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Fuentes: Juicio de expertos (asesor FING), análoga (tesis previas 150-360h),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paramétrica (~15h por sección de 5pp), descomposición (paquetes de 3-31h).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Ajustes aplicados: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Productividad: 8h/día netas | Calendario: lun-sáb, excluye domingos y feriados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Curva de aprendizaje: +20% buffer en primeras tareas de cada fase nueva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Hardware M1 8GB: batch=1 → 2-3x tiempo vs GPU, quantización 4-bit obligatoria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Precisión: ±10% en paquetes nivel 4; ±15% en fases nivel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37744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Estimaciones de Duración por Fase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(148h): Inscripción Tema 78h + Asignación Asesor 80h + Plan Proyecto 60h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PLANIFICACIÓN (235h): Anteproyecto 152h + Diseño Metodológico 83h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EJECUCIÓN (744h): Marco Teórico 161h + Preprocesamiento 136h +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Entrenamiento LoRA 227h + Evaluación Benchmark 106h +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Análisis Resultados 90h + Redacción Informe 175h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M&amp;C (86h): Seguimiento + Control Cambios (actividades solapadas)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CIERRE (160h): Correcciones Finales 75h + Defensa Pública 59h + Entrega 26h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93192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Ejemplos de Cálculo de Duraciones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Investigación/Lectura: 2-3h/paper → 23h = ~10 papers | Redacción: 15h/sección 5pp | Programación: 15-23h/módulo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Entrenamiento ML: 31h = ~3 épocas M1 8GB batch=1 modelo 4B | Revisión: 15h/ronda completa (leer+corregir+verificar)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Períodos de espera: 31-39h (3-5 días hábiles FING) modelados como tareas de duración fija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LISTA DE HITOS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Hitos principales con fechas planificadas y criterios de aceptación | PMBOK 8va, Cronograma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3657600"/>
                <a:gridCol w="1828800"/>
                <a:gridCol w="5029200"/>
              </a:tblGrid>
              <a:tr h="3798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Fecha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Criterio de Aceptación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Proyecto de Graduación Completado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Aprobación formal por tribunal y constancia Biblioteca FING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DEL 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Carta de inscripción firmada por Director de Carrera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2026-02-02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Tema aprobado + asesor identificado formalmente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 proyecto aprobado por el asesor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PLANIFICACION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formal del anteproyecto con asesor asignado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PLANIFICACION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 y diseño metodológico aprobados por comité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EJECUCION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2026-04-08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formal de experimentos y marco teórico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EJECUCION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Informe final completo revisado y aprobado por asesor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2026-02-26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Primera reunión de seguimiento con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M&amp;C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2026-03-13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 formal de actividades de seguimiento intensivo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INICIO: 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2026-08-17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 de correcciones finales post-revisión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798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FIN: 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2026-09-14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Documento final depositado en Biblioteca FING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Identificación, adquisición y gestión de los recursos necesarios para ejecutar el proyecto. Incluye recursos humanos, equipamiento, materiales e infraestructura.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PLAN DE GESTIÓN DE 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Define cómo se estimarán, adquirirán y gestionarán los recursos | PMBOK 8va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Identificación y Estimación de Recursos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Fuente primaria: EDT nivel 4 — cada una de las 110 actividades tiene recurso asignado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Bottom-up — suma de horas por recurso desde actividades nivel 4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Recurso Humano: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Pablo Flores (PM/Tesista) — 1,287h planificadas @ Q 80/hr = Q 102,960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Asesor FING — ~40h estimadas para revisión técnica (sin costo directo para el proyecto)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Recursos Físicos: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MacBook Air M1 2020 (8GB/256GB) — Q 6,000 (costo hundido, ya adquirido)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Internet 10Mbps (~Q 250/mes) y electricidad (~Q 300 total) — costos absorbidos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Materiales: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Impresión 3 copias × Q 150 = Q 450 | Posters defensa: Q 200 | Papelería: Q 150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Total materiales: Q 800 — compra directa por bajo monto, sin licitación requerida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Estrategia de Gestión de Recursos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Asignación: PM dedicado 100% al proyecto (225 días, 1,287h efectivas)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Calendario: lun-sáb 8h/día, flexibilidad ±2h en semanas críticas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Adquisiciones: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MacBook ya adquirido — no requiere proceso de compra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Materiales: compra directa por bajo monto (&lt; Q 1,000), sin licitación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Monitoreo y Control: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Registro de horas reales vs planificadas como parte del EVM mensual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Reporte mensual de utilización de recursos al asesor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Contingencias: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Si MacBook falla → usar laboratorio de cómputo FING (costo: Q 0)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Si PM enfrenta indisponibilidad &gt; 48h → ajustar cronograma, notificar asesor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39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CARTA DEL EQUIPO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Valores, normas y acuerdos de trabajo | PMBOK 8va, Recursos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0972800" cy="5029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Carta del Equipo — Proyecto LoRA-HDL-QA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Contexto: Proyecto de graduación individual. El 'equipo' está compuesto por: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Pablo Flores — PM/Tesista (ejecutor principal, 100% del trabajo técnico y de gestión)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Asesor (por asignar) — Revisor técnico (~40h totales, sin costo directo para el proyecto)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Director de Carrera — Autoridad de aprobación y escalamiento de decisiones críticas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Valores del Trabajo: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Excelencia académica: rigor científico en experimentación y documentación de resultados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Transparencia: reportar avances y desviaciones en tiempo real al asesor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Responsabilidad: cumplir hitos y plazos acordados; notificar riesgos con anticipación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Reproducibilidad: todo código, datos y resultados deben ser reproducibles por terceros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Normas de Trabajo: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Reuniones: semanal con asesor (1h fija), quincenal de seguimiento formal con minuta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Comunicación: email para documentos formales, WhatsApp para coordinación ágil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Documentación: minutas de reunión en máximo 24h, reportes de avance mensuales con EVM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Código: versionado en GitHub, commits atómicos con mensajes descriptivos en español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Conflictos: escalar al Director de Carrera si PM y asesor no llegan a acuerdo en 5 días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Nota: Por ser proyecto unipersonal, esta carta establece normas de trabajo entre el PM y el asesor.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 se requiere team charter tradicional (no hay equipo multidisciplinario que gestionar).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MATRIZ RACI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Responsabilidades por paquete de trabajo EDT | PMBOK 8va, Recursos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371600"/>
          <a:ext cx="9692640" cy="5114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1554480"/>
                <a:gridCol w="1554480"/>
                <a:gridCol w="1554480"/>
                <a:gridCol w="1554480"/>
              </a:tblGrid>
              <a:tr h="300832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Paquete de Trabajo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Pablo Flores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Asesor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Director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FING/UNIS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Inscripción del Tema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Anteproyecto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Diseño Metodológico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Marco Teórico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Preprocesamiento de Datos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LoRA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Evaluación Benchmark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Análisis de Resultados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Redacción Informe Final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Seguimiento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Control de Cambios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Correcciones Finales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  <a:tr h="300832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Defensa Pública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00848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Entrega y 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657000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i="1">
                <a:solidFill>
                  <a:srgbClr val="666666"/>
                </a:solidFill>
                <a:latin typeface="Calibri"/>
              </a:defRPr>
            </a:pPr>
            <a:r>
              <a:t>R = Responsible (ejecuta) | A = Accountable (aprueba) | C = Consulted (aporta) | I = Informed (recibe información)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ESTRUCTURA DE DESGLOSE DE RECURSOS (RBS)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Descomposición jerárquica de recursos del proyecto | PMBOK 8va, Recursos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1. Recurso Humano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1.1 Pablo Flores — PM / Tesista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Rol: Ejecución total del proyecto (gestión + investigación + desarrollo)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Tarifa: Q 80.00 / hora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Base de tarifa: Investigador junior Guatemala (ref. SENACYT)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Dedicación: 100% (1,287h planificadas)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Período: Feb 02 — Sep 14, 2026 (225 días)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Costo total mano de obra: Q 102,960.00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1.2 Asesor (designado por FING)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~40h totales estimadas (sin costo directo)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Honorarios cubiertos por la universidad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2. Equipamiento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2.1 MacBook Air M1 2020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Especificaciones: Chip M1, 8GB RAM, 256GB SSD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Precio de adquisición: Q 6,000.00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Estado: Propiedad del tesista (costo hundido)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Horas estimadas de uso: ~1,000h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Uso: Entrenamiento LoRA, desarrollo, redacción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2.2 Periféricos y accesorios (propios, sin costo)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Monitor externo, teclado, mouse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Disco externo 1TB para backups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2.3 Software (100% open-source, sin costo)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Python, HuggingFace Transformers, PEFT, MLX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    • ProjectLibre 1.9.8, Git/GitHub, Google Drive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297680"/>
            <a:ext cx="10972800" cy="1371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Resumen de Costos de Recursos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Mano de obra (Pablo Flores): 1,287h × Q 80/hr = Q 102,960.00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Equipamiento (MacBook Air M1 2020): Q 6,000.00 (ya adquirido, costo hundido)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Materiales (impresión, empastado, posters): Q 800.00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TOTAL RECURSOS DIRECTOS: Q 109,760.00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Nota: La mano de obra es costo de oportunidad. Solo equipamiento y materiales requieren desembolso en efectivo (Q 6,800.00).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CALENDARIOS DE 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Disponibilidad de cada recurso a lo largo del proyecto | PMBOK 8va, Recursos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Calendario del Recurso Principal — Pablo Flores (PM/Tesista)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Período: Feb 02 — Sep 14, 2026 (225 días calendario)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Días laborables: Lunes a Sábado (6 días/semana)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Horario estándar: 08:00-12:00 y 13:00-17:00 (8h/día efectivas)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Horas máximas por semana: 48h (6 días × 8h)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Excepciones (no laborable para el recurso):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Todos los domingos del período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Semana Santa: Jueves 2 — Sábado 4 de Abril, 2026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Día del Trabajo: Viernes 1 de Mayo, 2026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Día del Ejército: Martes 30 de Junio, 2026 (½ día opcional)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Día de la Independencia: Martes 15 de Septiembre, 2026 (post-proyecto)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Disponibilidad real: ~190 días laborables efectivos × 8h = ~1,520h disponibles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Horas planificadas: 1,287h → utilización del ~85% del tiempo disponible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0"/>
            <a:ext cx="548640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Calendario del Equipamiento — MacBook Air M1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Disponibilidad: 24/7, compartido con uso personal del tesista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Ventanas óptimas para entrenamiento ML: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Horario nocturno (18:00-06:00): menor temperatura ambiente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Fines de semana: bloques de 8-12h continuos disponibles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Horas totales estimadas de uso para el proyecto: ~1,000h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Nota: no requiere calendario exclusivo; se comparte con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actividades personales fuera del horario de proyecto.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3200400"/>
            <a:ext cx="502920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Calendario del Asesor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Disponibilidad: Sujeta a carga académica FING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Reuniones: 1h/semana (día y hora fijos por acordar)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Revisiones de hitos: bajo demanda, con 5 días de anticipación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Período de mayor carga: inicio de semestre (Ene, Jul)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Nota: El asesor no tiene dedicación exclusiva.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Se debe planificar con 1-2 semanas de anticipación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para revisiones de documentos extensos.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COSTOS / FINANZAS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Planificación, estimación, presupuestación, financiamiento y control de los costos del proyecto. Incluye EVM y análisis de valor ganado.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REQUISITOS DE RECURSOS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Humanos, equipamiento y materiales necesarios | PMBOK 8va, Recursos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6576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Recurso Humano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Pablo Flores (PM / Tesista)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Horas planificadas: 1,287h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Tarifa: Q 80.00 / hora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Costo total: Q 102,960.00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Disponibilidad: 100% tiempo completo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Período: Feb 02 — Sep 14, 2026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Horario: Lun-Sáb 8h/día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Flexibilidad: 10h/día en semanas críticas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Rol: Investigación, desarrollo,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entrenamiento ML, redacción,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gestión del proyecto, defensa oral.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71600"/>
            <a:ext cx="36576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Equipamiento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MacBook Air M1 2020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Chip: Apple M1 (8-core CPU, 7-core GPU)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RAM: 8GB LPDDR4X unificada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Almacenamiento: 256GB SSD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Precio: Q 6,000.00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Estado: Propiedad del tesista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Uso estimado: ~1,000h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Limitación principal: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8GB RAM → quantización 4-bit,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batch=1, modelos ≤ 4B parámetros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0" y="1371600"/>
            <a:ext cx="36576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Software y Materiales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Software (todo gratuito):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Python 3.11+, HuggingFace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PEFT / LoRA / MLX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ProjectLibre 1.9.8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Git / GitHub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Google Drive 100GB (EDU)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Materiales: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Impresión 3 copias: Q 450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Posters defensa: Q 200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Papelería: Q 150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Total materiales: Q 800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Infraestructura (absorbida):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Internet 10Mbps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• Electricidad ~Q 300 total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ESTIMACIONES DE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Desglose por fase basado en datos reales del XML | PMBOK 8va, Costos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371600"/>
                <a:gridCol w="1828800"/>
                <a:gridCol w="914400"/>
              </a:tblGrid>
              <a:tr h="29583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Concepto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del Total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148h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11,840.00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8.3%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235h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18,800.00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13.2%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59,520.00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41.9%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MONITOREO Y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6,880.00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4.8%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9.0%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Subtotal Mano de Obra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1,373h*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109,840.00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77.3%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MacBook M1 (costo hundido)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6,000.00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4.2%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Materiales (impresión, posters)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800.00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Subtotal Directos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116,640.00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82.1%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Reserva de Contingencia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20,846.00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14.7%</a:t>
                      </a: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Reserva de Gestión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700.00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</a:tr>
              <a:tr h="295835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 COSTO DEL PROYECTO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138,186.00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97.3%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2958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Total con MacBook (costo hundido)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144,186.00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101.5%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371600"/>
          <a:ext cx="11277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640080"/>
                <a:gridCol w="731520"/>
                <a:gridCol w="914400"/>
              </a:tblGrid>
              <a:tr h="508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Acumulado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Febrero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Marzo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46,240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Abril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29,920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76,160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Mayo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89,920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Junio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105,120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Julio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123,200</a:t>
                      </a:r>
                    </a:p>
                  </a:txBody>
                  <a:tcPr/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Agosto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136,000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Septiembre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146,400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BASE DE LAS ESTIMACIONES —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Fundamento y metodología de cada estimación de costo | PMBOK 8va, Costos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Mano de Obra — Q 80/hora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Tarifa basada en: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Estipendio promedio de investigador junior en Guatemala (SENACYT 2025): Q 12,800/mes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Asumiendo 160h/mes productivas: Q 80/hora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Incluye costo de vida (alimentación, transporte, servicios) en Ciudad de Guatemala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Es costo de oportunidad (el tesista no recibe salario por el proyecto)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Horas por fase: suma directa de duraciones del XML de ProjectLibre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Validación cruzada: ~1,373h totales vs 1,287h del XML (+86h de buffer implícito en tareas de resumen)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Equipamiento y Materiales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MacBook M1: Q 6,000 — precio de mercado en Guatemala (nov 2025, MacBook Air M1 2020 usado)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Depreciación: 2 años de uso personal previo, valor residual ~Q 3,000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Impresión: Q 150/copia × 3 = Q 450 — cotización Copistería UNIS (ene 2026)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Posters defensa: Q 200 — impresión a color tamaño A1 (2 posters)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Papelería: Q 150 — cuadernos, post-its, bolígrafos, impresiones parciales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566160"/>
            <a:ext cx="1097280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Reservas de Contingencia — Cálculo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Valor Monetario Esperado (EMV) = Σ (Probabilidad × Impacto Máximo) para cada uno de los 25 riesgos identificados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EMV total = Q 20,846.00 (ver Registro de Riesgos en Excel LoRA_Risk_Register_Analysis.xlsx)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gestión: 0.5% del costo directo ≈ Q 700 — para gastos no anticipados ni modelados como riesgos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Las reservas NO están incluidas en la línea base de costos (BAC = Q 116,640). Se añaden para el presupuesto total.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Cualquier uso de la reserva de contingencia requiere documentación del riesgo materializado y aprobación del asesor.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LÍNEA BASE DE COSTOS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Presupuesto aprobado contra el cual se mide el desempeño de costos | PMBOK 8va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0972800" cy="914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Definición de Línea Base de Costos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BAC (Budget at Completion) = Q 116,640.00 — incluye mano de obra directa (Q 109,840) + equipamiento y materiales (Q 6,800). No incluye reservas de contingencia ni gestión. La línea base se congela tras la aprobación del anteproyecto (Mar 2026).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468880"/>
          <a:ext cx="11277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2011680"/>
                <a:gridCol w="1645920"/>
              </a:tblGrid>
              <a:tr h="406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PV Mensual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PV Acumulado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% BAC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14.5%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46,240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39.6%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29,920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76,160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65.3%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May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89,920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77.1%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Jun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105,120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90.1%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Jul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123,200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105.6%</a:t>
                      </a:r>
                    </a:p>
                  </a:txBody>
                  <a:tcPr/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136,000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116.6%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146,400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125.5%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2468880"/>
            <a:ext cx="4114800" cy="36576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Indicadores de Línea Base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BAC = Q 116,640.00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Presupuesto total (incluye reservas):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Q 116,640 + Q 20,846 + Q 700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= Q 138,186.00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Curva S: perfil de gasto front-loaded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con pico en Mar-Abr 2026 (planif. + inicio ejec.)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Desembolso: el costo de mano de obra es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costo de oportunidad. Solo equipamiento y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materiales requieren desembolso en efectivo: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Q 6,800 (ya erogado el MacBook).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REQUISITOS DE FINANCIAMIENTO DEL PROYECTO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Flujo de fondos necesario por período | PMBOK 8va, Costos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77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1828800"/>
                <a:gridCol w="2011680"/>
                <a:gridCol w="2011680"/>
                <a:gridCol w="2011680"/>
              </a:tblGrid>
              <a:tr h="381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Período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Horas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Mano de Obra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Erogaciones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Total Período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Acumulado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Febrero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211h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16,880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6,000 (MacBook)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22,880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22,880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Marzo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367h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29,360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52,240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Abril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374h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29,920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29,920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82,160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Mayo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13,760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95,920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Junio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15,200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111,120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Julio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226h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18,080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129,200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Agosto 2026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160h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12,800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142,000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Septiembre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130h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10,400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800 (materiales)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11,200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153,200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Contingencia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20,846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174,046</a:t>
                      </a:r>
                    </a:p>
                  </a:txBody>
                  <a:tcPr/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Gestión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174,746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6032880"/>
            <a:ext cx="10972800" cy="731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Notas sobre Financiamiento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Fuente de fondos: recursos propios del tesista. No hay financiamiento externo (beca, patrocinio, o subvención).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 mano de obra es costo de oportunidad (no erogación). Las erogaciones reales son solo Q 6,800 (MacBook + materiales).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El flujo de fondos es front-loaded: 65% del presupuesto se concentra en Feb-Abr 2026 (fases de inicio, planificación y arranque de ejecución).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ESTRATEGIA DE FINANCIAMIENTO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Cómo se obtendrán y administrarán los fondos del proyecto | PMBOK 8va, Costos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Estrategia de Financiamiento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Fuente primaria: Recursos propios del tesista (Pablo Flores)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El proyecto no requiere financiamiento externo ya que: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El hardware principal (MacBook M1) ya fue adquirido previamente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El software es 100% open-source y gratuito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La mano de obra es aportada por el tesista como parte de su formación académica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Los costos de materiales son menores a Q 1,000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Estructura de costos: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Costos hundidos (ya incurridos): MacBook M1 Q 6,000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Costos futuros de materiales: Q 800 (impresión, empastado, posters)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Costos recurrentes absorbidos: internet Q 250/mes, electricidad ~Q 300 total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Costo de oportunidad (mano de obra): Q 109,840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 erogación en efectivo requerida: Q 800 (materiales para fase de cierre)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No se requiere plan de financiamiento con entidades bancarias, inversionistas, o patrocinadores.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2743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Administración de Fondos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Responsable: PM (Pablo Flores)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Mecanismo: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Cuenta bancaria personal existente (no se requiere cuenta dedicada)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Pago directo a proveedores (copistería) contra entrega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Control: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Registro de gastos en Excel vinculado al EVM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Facturas/recibos escaneados y archivados en Google Drive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Flujo de fondos: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Feb 2026: Q 0 (MacBook ya pagado previamente)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Sep 2026: Q 800 (impresión + posters)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Reservas: no requieren depósito previo (solo se usan si se materializan riesgos)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Cierre financiero: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Conciliación de gastos reales vs presupuesto en Sep 2026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Documentación de lecciones aprendidas en gestión financiera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Informe final de costos para el expediente del proyecto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274320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DOMINIO DE DESEMPEÑO:</a:t>
            </a:r>
            <a:br/>
            <a:r>
              <a:t>RIESGOS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C8DCF0"/>
                </a:solidFill>
                <a:latin typeface="Calibri"/>
              </a:defRPr>
            </a:pPr>
            <a:r>
              <a:t>Identificación, análisis cualitativo y cuantitativo, planificación de respuestas, implementación y monitoreo de riesgos del proyecto.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PLAN DE GESTIÓN FINANCIERA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Políticas y procedimientos para gestionar los costos | PMBOK 8va, Costos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Políticas de Estimación y Control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Bottom-up desde EDT nivel 4 (horas × Q 80/hr)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Moneda: Quetzales (GTQ). Tipo de cambio: Q 7.80/USD (referencia)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Precisión: ±10% en paquetes nivel 4; ±15% en costo total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Reestimación: mensual durante fase de ejecución (o ante cambios aprobados)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Control de Costos: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Monitoreo: EVM mensual (PV, EV, AC, CPI, SPI)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Umbrales: Verde &lt;5% | Amarillo 5-15% | Rojo &gt;15% → escalar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Herramienta: Excel vinculado a datos del XML de ProjectLibre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Responsable: PM (Pablo Flores), con supervisión del asesor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Reservas e Indicadores EVM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Contingencia: Q 20,846.00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Origen: Suma EMV de 25 riesgos identificados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Uso: Solo para riesgos materializados; requiere aprobación del asesor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Gestión: Q 700.00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Uso: Acciones de mitigación proactivas; autorizado por el PM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Indicadores EVM: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PV = Costo planificado del trabajo programado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EV = Costo planificado del trabajo completado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AC = Costo real incurrido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CPI = EV/AC (&gt;1 = bajo presupuesto)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SPI = EV/PV (&gt;1 = adelantado en cronograma)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EAC = BAC/CPI (estimación al finalizar)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REGISTRO DE RIESGOS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25 riesgos identificados | Contingencia total: Q 20,846.00 | PMBOK 8va, Riesgos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822960"/>
                <a:gridCol w="548640"/>
                <a:gridCol w="914400"/>
                <a:gridCol w="640080"/>
                <a:gridCol w="3657600"/>
              </a:tblGrid>
              <a:tr h="314325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Descripción del Riesgo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Prob.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Impacto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CE (Q)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Respuesta Planificada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Modelo base no carga en 8GB RAM (OOM)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4,000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1,600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Quantización 4-bit GGUF; probar modelos más pequeños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Arquitectura experimental no viable con hardware 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QLoRA 4-bit con MLX; gradient checkpointing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final interrumpido por falla hardware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6,000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1,500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Checkpointing cada 100 steps; respaldo en nube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Resultados del modelo final no superan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Ajustar rank LoRA (r=16→64); data augmentation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Tiempo de entrenamiento excede estimado (throttling)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1,350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Entrenar horarios nocturnos; ventilador externo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Observaciones extensas del asesor requieren reescritura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Organizacional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Redacción iterativa temprana; anticipar correcciones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Demora en resolución institucional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Organizacional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3,120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1,248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Escalar con Director; recordatorios cada 5 días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Rechazo del anteproyecto por comité evaluador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Organizacional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5,000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1,000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Reducir alcance; revisión previa con Director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 encontrar datasets HDL/QA de calidad suficiente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900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Generar dataset sintético con GPT-4; web scraping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Datos de entrenamiento con corrupción no detectada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Calidad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Pipeline de validación automatizada; revisión manual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Retraso en asignación de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Recursos Humanos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2,520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882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Contactar múltiples candidatos simultáneamente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Entrenamiento piloto diverge o produce 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Reducir learning rate; aumentar warmup steps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Modelos SOTA publicados usan GPU/A100 no reproducible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800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limitaciones; normalizar por recursos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VerilogEval v2 no ejecuta en entorno ARM/M1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Técnico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2,500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Compilar dependencias nativas ARM; usar Rosetta 2</a:t>
                      </a:r>
                    </a:p>
                  </a:txBody>
                  <a:tcPr/>
                </a:tc>
              </a:tr>
              <a:tr h="314325"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Metodología requiere cambios mayores tras revisión asesor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Organizacional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25%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3,000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Q 750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Reuniones quincenales; enviar borradores por secciones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REPORTE DE RIESGOS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868680"/>
            <a:ext cx="11612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66666"/>
                </a:solidFill>
                <a:latin typeface="Calibri"/>
              </a:defRPr>
            </a:pPr>
            <a:r>
              <a:t>Resumen ejecutivo de la situación de riesgos | PMBOK 8va, Riesgos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4864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Resumen General de Riesgos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Total riesgos identificados: 25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Riesgos con plan de respuesta activo (CE &gt; Q 1,500): 12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Riesgos en monitoreo pasivo (CE &lt; Q 500): 5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Riesgos escalables al Director: 3 (R-01, R-02, R-04)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Costo Esperado Total (EMV): Q 20,846.00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contingencia recomendada: Q 20,846.00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Reserva de gestión: Q 700.00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Perfil de riesgo del proyecto: MODERADO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La mayoría de riesgos son técnicos (15/25 = 60%)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Los riesgos organizacionales tienen alto impacto pero baja probabilidad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• No hay riesgos catastróficos (impacto &gt; Q 10,000) identificados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371600"/>
            <a:ext cx="50292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Distribución por Categoría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Técnico: 15 riesgos | CE: Q 13,994 (67.1%)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Principales: R-10 (OOM), R-05 (hardware), R-13 (falla HW)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Organizacional: 7 riesgos | CE: Q 4,950 (23.7%)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Principales: R-20 (reescritura), R-01 (demora inst.)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Calidad: 1 riesgo | CE: Q 900 (4.3%)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R-08: Corrupción de datos de entrenamiento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Recursos Humanos: 1 riesgo | CE: Q 882 (4.2%)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R-02: Retraso en asignación de asesor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Operativo: 1 riesgo | CE: Q 120 (0.6%)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→ R-25: Error en impresión/empastado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00400"/>
            <a:ext cx="10972800" cy="16459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8580" bIns="68580"/>
          <a:lstStyle/>
          <a:p>
            <a:pPr algn="ctr">
              <a:spcAft>
                <a:spcPts val="4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Top 5 Riesgos por Costo Esperado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1. R-10: Modelo OOM en 8GB RAM (CE: Q 1,600) → Mitigar: quantización 4-bit GGUF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2. R-05: Arquitectura no viable en M1 (CE: Q 1,500) → Mitigar: QLoRA 4-bit con MLX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3. R-13: Falla hardware durante entrenamiento (CE: Q 1,500) → Mitigar: checkpointing + backup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4. R-14: Modelo no supera baseline (CE: Q 1,500) → Mitigar: ajuste hiperparámetros, data augmentation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5. R-12: Thermal throttling M1 (CE: Q 1,350) → Mitigar: entrenamiento nocturno + ventilación externa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REGISTRO DE LECCIONES APRENDIDAS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Conocimiento para mejorar desempeño actual y futuro | PMBOK 8va, Riesgos y General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7760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743200"/>
                <a:gridCol w="3291840"/>
                <a:gridCol w="4206240"/>
              </a:tblGrid>
              <a:tr h="705394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Lección Aprendida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Causa Raíz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Recomendación para Futuro</a:t>
                      </a:r>
                    </a:p>
                  </a:txBody>
                  <a:tcPr>
                    <a:solidFill>
                      <a:srgbClr val="4285C8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Inicio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Validar calendario antes de planificar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Crash ProjectLibre por &lt;Exceptions&gt; sin &lt;RecurrenceType&gt;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Probar XML en ProjectLibre antes de entregar; verificar compatibilidad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Planificación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Anticipar asignación de asesor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Demora en asignación afectó revisiones tempranas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Contactar candidatos desde la inscripción; tener opciones de respaldo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Validar hardware antes de diseñar arquitectura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8GB RAM obligó quantización agresiva (4-bit)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Hacer PoC de memoria antes de diseñar pipeline; probar modelo pequeño primero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Ejecución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Versionar datos y checkpoints desde inicio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Corrupción de datos requirió reprocesar 31h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Usar DVC/Git LFS; checkpointing automático cada 100 steps</a:t>
                      </a:r>
                    </a:p>
                  </a:txBody>
                  <a:tcPr/>
                </a:tc>
              </a:tr>
              <a:tr h="70539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M&amp;C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Documentar minutas de todas las reuniones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Observaciones verbales del asesor se olvidaron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Enviar minuta en 24h post-reunión; confirmar entendimiento por email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70539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Cierre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Reservar margen para correcciones del jurado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Espera por nota y correcciones puede extenderse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Solicitar defensa con 2 semanas de anticipación; tener semana buffer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sp>
        <p:nvSpPr>
          <p:cNvPr id="1" name="Rectangle 0"/>
          <p:cNvSpPr/>
          <p:nvPr/>
        </p:nvSpPr>
        <p:spPr>
          <a:xfrm>
            <a:off x="0" y="0"/>
            <a:ext cx="12192000" cy="82296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228600" y="18288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Calibri"/>
              </a:defRPr>
            </a:pPr>
            <a:r>
              <a:t>55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28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  <a:latin typeface="Calibri"/>
              </a:defRPr>
            </a:pPr>
            <a:r>
              <a:t>DIAGRAMAS DE RED DEL CRONOGRAMA DEL PROYECTO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66666"/>
                </a:solidFill>
                <a:latin typeface="Calibri"/>
              </a:defRPr>
            </a:pPr>
            <a:r>
              <a:t>Secuencia lógica de actividades y dependencias | PMBOK 8va, Cronograma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0972800" cy="12801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100" b="1">
                <a:solidFill>
                  <a:srgbClr val="1A2744"/>
                </a:solidFill>
                <a:latin typeface="Calibri"/>
              </a:defRPr>
            </a:pPr>
            <a:r>
              <a:t>Método de Diagramación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Método: Diagrama de Precedencia (PDM) con relaciones Finish-to-Start (FS) implementado en ProjectLibre 1.9.8.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La mayoría de las dependencias son obligatorias (duras): no se puede entrenar sin preprocesar datos; no se puede defender sin redactar el informe.</a:t>
            </a:r>
          </a:p>
          <a:p>
            <a:pPr>
              <a:spcAft>
                <a:spcPts val="100"/>
              </a:spcAft>
              <a:defRPr sz="900">
                <a:solidFill>
                  <a:srgbClr val="333333"/>
                </a:solidFill>
                <a:latin typeface="Calibri"/>
              </a:defRPr>
            </a:pPr>
            <a:r>
              <a:t>Los períodos de espera institucionales son parte de la ruta crítica porque son dependencias obligatorias externas.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10972800" cy="38352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8580" rIns="68580"/>
          <a:lstStyle/>
          <a:p>
            <a:pPr algn="ctr">
              <a:spcAft>
                <a:spcPts val="300"/>
              </a:spcAft>
              <a:defRPr sz="1000" b="1">
                <a:solidFill>
                  <a:srgbClr val="1A2744"/>
                </a:solidFill>
                <a:latin typeface="Calibri"/>
              </a:defRPr>
            </a:pPr>
            <a:r>
              <a:t>Ruta Crítica del Proyecto (secuencia de dependencias FS desde el archivo XML)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DEL PROYECTO → Inscripción del Tema → Asignación de Asesor → Plan del Proyecto → FIN INICIO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 ↓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PLANIFICACIÓN → Anteproyecto → Diseño Metodológico → FIN PLANIFICACIÓN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 ↓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EJECUCIÓN → [Marco Teórico ∥ Preprocesamiento Datos] → Entrenamiento LoRA → Evaluación → Análisis → Informe → FIN EJECUCIÓN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   ↓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INICIO CIERRE → Correcciones Finales → Defensa Pública → Entrega y Cierre → FIN DEL PROYECTO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En paralelo durante todo el proyecto: MONITOREO Y CONTROL (seguimiento semanal + control de cambios bajo demanda)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Dependencias clave del XML: UID 4→5→6→7→8→9 (Inscripción secuencial) | UID 25→26→...→33 (Anteproyecto)</a:t>
            </a:r>
          </a:p>
          <a:p>
            <a:pPr>
              <a:spcAft>
                <a:spcPts val="100"/>
              </a:spcAft>
              <a:defRPr sz="800">
                <a:solidFill>
                  <a:srgbClr val="333333"/>
                </a:solidFill>
                <a:latin typeface="Calibri"/>
              </a:defRPr>
            </a:pPr>
            <a:r>
              <a:t>UID 44∥46∥47 (Marco teórico paralelo) | UID 63→68→71→73 (Entrenamiento iterativo) | UID 100→101→102→103 (Revisiones)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4158</Words>
  <Application>Microsoft Macintosh PowerPoint</Application>
  <PresentationFormat>Widescreen</PresentationFormat>
  <Paragraphs>843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RODOLFO ALEXANDER FLORES MOLLINEDO</cp:lastModifiedBy>
  <cp:revision>2</cp:revision>
  <dcterms:created xsi:type="dcterms:W3CDTF">2013-01-27T09:14:16Z</dcterms:created>
  <dcterms:modified xsi:type="dcterms:W3CDTF">2026-04-28T06:05:20Z</dcterms:modified>
  <cp:category/>
</cp:coreProperties>
</file>